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17"/>
  </p:notesMasterIdLst>
  <p:sldIdLst>
    <p:sldId id="657" r:id="rId2"/>
    <p:sldId id="658" r:id="rId3"/>
    <p:sldId id="648" r:id="rId4"/>
    <p:sldId id="656" r:id="rId5"/>
    <p:sldId id="672" r:id="rId6"/>
    <p:sldId id="701" r:id="rId7"/>
    <p:sldId id="612" r:id="rId8"/>
    <p:sldId id="643" r:id="rId9"/>
    <p:sldId id="655" r:id="rId10"/>
    <p:sldId id="669" r:id="rId11"/>
    <p:sldId id="671" r:id="rId12"/>
    <p:sldId id="645" r:id="rId13"/>
    <p:sldId id="646" r:id="rId14"/>
    <p:sldId id="654" r:id="rId15"/>
    <p:sldId id="502"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C9088191-D566-4F10-AC4C-0DDE1DB4E236}">
          <p14:sldIdLst>
            <p14:sldId id="657"/>
            <p14:sldId id="658"/>
            <p14:sldId id="648"/>
            <p14:sldId id="656"/>
            <p14:sldId id="672"/>
            <p14:sldId id="701"/>
            <p14:sldId id="612"/>
            <p14:sldId id="643"/>
            <p14:sldId id="655"/>
            <p14:sldId id="669"/>
            <p14:sldId id="671"/>
            <p14:sldId id="645"/>
            <p14:sldId id="646"/>
            <p14:sldId id="654"/>
            <p14:sldId id="502"/>
          </p14:sldIdLst>
        </p14:section>
        <p14:section name="デバイス" id="{91585912-BCA7-411C-9E2A-1E22F76C6BD8}">
          <p14:sldIdLst/>
        </p14:section>
        <p14:section name="データセット" id="{9613C147-ACC3-489E-B8C5-F66E009B4E5F}">
          <p14:sldIdLst/>
        </p14:section>
        <p14:section name="トレンド除去" id="{3BBACBB2-54D0-45BA-A259-0E91C4EBB89A}">
          <p14:sldIdLst/>
        </p14:section>
        <p14:section name="先行研究ほか" id="{0F78E435-0DF8-4529-89E5-8D7E53240FFF}">
          <p14:sldIdLst/>
        </p14:section>
        <p14:section name="状態判別" id="{DF18BA8C-FD86-4CE7-820C-0BB6A93D4C97}">
          <p14:sldIdLst/>
        </p14:section>
        <p14:section name="時間推定" id="{47415B61-F500-4AE6-AE47-2F7D6DE596B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2425A85-AE72-0FA1-DC61-CD88261B4B4B}" name="cdca3889" initials="c" userId="S::cdca3889@office365.chiba-u.jp::1930e80a-05a8-4d6d-bd59-68dacf9038ab" providerId="AD"/>
  <p188:author id="{DE40D999-A035-3766-F41A-E74B5E4A0F73}" name="ccna2639" initials="c" userId="S::ccna2639@office365.chiba-u.jp::a2d50456-684b-4a4c-a973-ae1bc7375d1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BD6D"/>
    <a:srgbClr val="9CE0F3"/>
    <a:srgbClr val="F0F0F0"/>
    <a:srgbClr val="FFFFFF"/>
    <a:srgbClr val="E8E8E8"/>
    <a:srgbClr val="595959"/>
    <a:srgbClr val="4B9AE3"/>
    <a:srgbClr val="FF8D00"/>
    <a:srgbClr val="7F7F7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57" autoAdjust="0"/>
    <p:restoredTop sz="95823" autoAdjust="0"/>
  </p:normalViewPr>
  <p:slideViewPr>
    <p:cSldViewPr snapToGrid="0">
      <p:cViewPr varScale="1">
        <p:scale>
          <a:sx n="102" d="100"/>
          <a:sy n="102" d="100"/>
        </p:scale>
        <p:origin x="1188" y="10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1FD95D-F2F7-4654-8CBE-7F3FC9AC0F24}" type="datetimeFigureOut">
              <a:rPr kumimoji="1" lang="ja-JP" altLang="en-US" smtClean="0"/>
              <a:t>2026/2/15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B09CE-6F23-4F6F-9504-3791569F2F46}" type="slidenum">
              <a:rPr kumimoji="1" lang="ja-JP" altLang="en-US" smtClean="0"/>
              <a:t>‹#›</a:t>
            </a:fld>
            <a:endParaRPr kumimoji="1" lang="ja-JP" altLang="en-US"/>
          </a:p>
        </p:txBody>
      </p:sp>
    </p:spTree>
    <p:extLst>
      <p:ext uri="{BB962C8B-B14F-4D97-AF65-F5344CB8AC3E}">
        <p14:creationId xmlns:p14="http://schemas.microsoft.com/office/powerpoint/2010/main" val="1622087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6185E-1BFA-3EA6-CFEF-423C579192C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D8C5D6-132C-F7CC-49D1-EB8807959AE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097DC9-4F1E-D870-18B2-F8CEFBBC83A2}"/>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49D723E3-6F79-8323-B877-DA7A0003B83E}"/>
              </a:ext>
            </a:extLst>
          </p:cNvPr>
          <p:cNvSpPr>
            <a:spLocks noGrp="1"/>
          </p:cNvSpPr>
          <p:nvPr>
            <p:ph type="sldNum" sz="quarter" idx="5"/>
          </p:nvPr>
        </p:nvSpPr>
        <p:spPr/>
        <p:txBody>
          <a:bodyPr/>
          <a:lstStyle/>
          <a:p>
            <a:fld id="{50D4B2BF-A43A-004E-9598-675DCA25BF4C}" type="slidenum">
              <a:rPr kumimoji="1" lang="ja-JP" altLang="en-US" smtClean="0"/>
              <a:t>0</a:t>
            </a:fld>
            <a:endParaRPr kumimoji="1" lang="ja-JP" altLang="en-US"/>
          </a:p>
        </p:txBody>
      </p:sp>
    </p:spTree>
    <p:extLst>
      <p:ext uri="{BB962C8B-B14F-4D97-AF65-F5344CB8AC3E}">
        <p14:creationId xmlns:p14="http://schemas.microsoft.com/office/powerpoint/2010/main" val="1841505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90461-B2AE-89DB-D4B9-A5EC21092E5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237D5-F625-3090-26CD-C46FB8844FC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94E582A-A107-2C7A-455B-201A49CAEF47}"/>
              </a:ext>
            </a:extLst>
          </p:cNvPr>
          <p:cNvSpPr>
            <a:spLocks noGrp="1"/>
          </p:cNvSpPr>
          <p:nvPr>
            <p:ph type="body" idx="1"/>
          </p:nvPr>
        </p:nvSpPr>
        <p:spPr/>
        <p:txBody>
          <a:bodyPr/>
          <a:lstStyle/>
          <a:p>
            <a:r>
              <a:rPr lang="ja-JP" altLang="en-US" sz="1800" dirty="0"/>
              <a:t>現在の聴診訓練では，模擬患者に対する医療面接と，マネキン型シミュレータに対する聴診手技訓練が併用されています。</a:t>
            </a:r>
            <a:endParaRPr lang="en-US" altLang="ja-JP" sz="1800" dirty="0"/>
          </a:p>
          <a:p>
            <a:r>
              <a:rPr lang="ja-JP" altLang="en-US" sz="1800" dirty="0"/>
              <a:t>しかし，この方法ではコミュニケーション訓練や評価が非効率であるなど多くの課題があります。</a:t>
            </a:r>
          </a:p>
          <a:p>
            <a:r>
              <a:rPr lang="ja-JP" altLang="en-US" sz="1800" dirty="0"/>
              <a:t>そこで中口研究室では，拡張現実型聴診訓練システム </a:t>
            </a:r>
            <a:r>
              <a:rPr lang="en-US" altLang="ja-JP" sz="1800" b="1" dirty="0"/>
              <a:t>EARS</a:t>
            </a:r>
            <a:r>
              <a:rPr lang="ja-JP" altLang="en-US" sz="1800" dirty="0"/>
              <a:t> を開発しました。（</a:t>
            </a:r>
            <a:r>
              <a:rPr lang="en-US" altLang="ja-JP" sz="1800" dirty="0"/>
              <a:t>start</a:t>
            </a:r>
            <a:r>
              <a:rPr lang="ja-JP" altLang="en-US" sz="1800" dirty="0"/>
              <a:t>）</a:t>
            </a:r>
            <a:endParaRPr lang="en-US" altLang="ja-JP" sz="1800" dirty="0"/>
          </a:p>
          <a:p>
            <a:r>
              <a:rPr lang="en-US" altLang="ja-JP" sz="1800" dirty="0"/>
              <a:t>EARS</a:t>
            </a:r>
            <a:r>
              <a:rPr lang="ja-JP" altLang="en-US" sz="1800" dirty="0"/>
              <a:t>は，模擬患者に対して，呼吸音と心音を仮想的に再現する，聴診訓練用シミュレータです。</a:t>
            </a:r>
            <a:br>
              <a:rPr lang="ja-JP" altLang="en-US" sz="1800" dirty="0"/>
            </a:br>
            <a:r>
              <a:rPr lang="ja-JP" altLang="en-US" sz="1800" dirty="0"/>
              <a:t>このシステムによって，健常者に対しても異常生体音を再生して訓練を行うことができます。</a:t>
            </a:r>
            <a:endParaRPr lang="en-US" altLang="ja-JP" sz="1800" dirty="0"/>
          </a:p>
          <a:p>
            <a:endParaRPr lang="en-US" altLang="ja-JP" sz="1800" dirty="0"/>
          </a:p>
          <a:p>
            <a:endParaRPr lang="en-US" altLang="ja-JP" sz="1800" dirty="0"/>
          </a:p>
          <a:p>
            <a:r>
              <a:rPr lang="en-US" altLang="ja-JP" sz="1800" dirty="0"/>
              <a:t>0:45</a:t>
            </a:r>
          </a:p>
        </p:txBody>
      </p:sp>
      <p:sp>
        <p:nvSpPr>
          <p:cNvPr id="4" name="スライド番号プレースホルダー 3">
            <a:extLst>
              <a:ext uri="{FF2B5EF4-FFF2-40B4-BE49-F238E27FC236}">
                <a16:creationId xmlns:a16="http://schemas.microsoft.com/office/drawing/2014/main" id="{1488A9AE-7EF1-A923-3F7B-8C035A5268AB}"/>
              </a:ext>
            </a:extLst>
          </p:cNvPr>
          <p:cNvSpPr>
            <a:spLocks noGrp="1"/>
          </p:cNvSpPr>
          <p:nvPr>
            <p:ph type="sldNum" sz="quarter" idx="5"/>
          </p:nvPr>
        </p:nvSpPr>
        <p:spPr/>
        <p:txBody>
          <a:bodyPr/>
          <a:lstStyle/>
          <a:p>
            <a:fld id="{4AF5F9EB-9B1C-47BC-A9C1-47B5298E617F}" type="slidenum">
              <a:rPr kumimoji="1" lang="ja-JP" altLang="en-US" smtClean="0"/>
              <a:t>1</a:t>
            </a:fld>
            <a:endParaRPr kumimoji="1" lang="ja-JP" altLang="en-US"/>
          </a:p>
        </p:txBody>
      </p:sp>
    </p:spTree>
    <p:extLst>
      <p:ext uri="{BB962C8B-B14F-4D97-AF65-F5344CB8AC3E}">
        <p14:creationId xmlns:p14="http://schemas.microsoft.com/office/powerpoint/2010/main" val="41215864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A4E2D-A485-B33A-2C35-BBD474EEEF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7E1B66C-EEB7-DC05-F02E-E7E7C2AF7E4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138B3AE-DF77-29A1-DCB6-2729F62FD3DB}"/>
              </a:ext>
            </a:extLst>
          </p:cNvPr>
          <p:cNvSpPr>
            <a:spLocks noGrp="1"/>
          </p:cNvSpPr>
          <p:nvPr>
            <p:ph type="body" idx="1"/>
          </p:nvPr>
        </p:nvSpPr>
        <p:spPr/>
        <p:txBody>
          <a:bodyPr/>
          <a:lstStyle/>
          <a:p>
            <a:r>
              <a:rPr lang="ja-JP" altLang="en-US" b="0" dirty="0"/>
              <a:t>聴診において，医師は，異常呼吸音のききやすくするために，患者に呼吸タイミングの指示を行う場合があります。</a:t>
            </a:r>
            <a:endParaRPr lang="en-US" altLang="ja-JP" b="0" dirty="0"/>
          </a:p>
          <a:p>
            <a:endParaRPr lang="en-US" altLang="ja-JP" b="0" dirty="0"/>
          </a:p>
          <a:p>
            <a:r>
              <a:rPr lang="ja-JP" altLang="en-US" b="0" dirty="0"/>
              <a:t>（</a:t>
            </a:r>
            <a:r>
              <a:rPr lang="en-US" altLang="ja-JP" b="0" dirty="0"/>
              <a:t>start</a:t>
            </a:r>
            <a:r>
              <a:rPr lang="ja-JP" altLang="en-US" b="0" dirty="0"/>
              <a:t>）</a:t>
            </a:r>
            <a:endParaRPr lang="en-US" altLang="ja-JP" b="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dirty="0"/>
              <a:t>しかし，従来の </a:t>
            </a:r>
            <a:r>
              <a:rPr lang="en-US" altLang="ja-JP" b="0" dirty="0"/>
              <a:t>EARS</a:t>
            </a:r>
            <a:r>
              <a:rPr lang="ja-JP" altLang="en-US" b="0" dirty="0"/>
              <a:t> では，聴診器デバイスと模擬患者の呼吸タイミングを同期させるため，模擬患者がデバイスの提示リズムに合わせて呼吸をしていました。</a:t>
            </a:r>
            <a:br>
              <a:rPr lang="ja-JP" altLang="en-US" b="0" dirty="0"/>
            </a:br>
            <a:endParaRPr lang="en-US" altLang="ja-JP" b="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dirty="0"/>
              <a:t>そのため，</a:t>
            </a:r>
            <a:r>
              <a:rPr lang="en-US" altLang="ja-JP" b="0" dirty="0"/>
              <a:t>EARS</a:t>
            </a:r>
            <a:r>
              <a:rPr lang="ja-JP" altLang="en-US" b="0" dirty="0"/>
              <a:t>において，学習者が模擬患者の呼吸タイミングを指示して行う聴診訓練は実現できていませんでした。</a:t>
            </a:r>
            <a:endParaRPr lang="en-US" altLang="ja-JP" b="0"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dirty="0">
                <a:solidFill>
                  <a:prstClr val="black"/>
                </a:solidFill>
                <a:latin typeface="Segoe UI" panose="020B0502040204020203" pitchFamily="34" charset="0"/>
                <a:ea typeface="Meiryo UI" panose="020B0604030504040204" pitchFamily="50" charset="-128"/>
              </a:rPr>
              <a:t>そこで，研究目的を，</a:t>
            </a:r>
            <a:r>
              <a:rPr lang="ja-JP" altLang="en-US" sz="1200" b="0" dirty="0">
                <a:solidFill>
                  <a:srgbClr val="000000"/>
                </a:solidFill>
                <a:latin typeface="Segoe UI" panose="020B0502040204020203" pitchFamily="34" charset="0"/>
                <a:ea typeface="Meiryo UI" panose="020B0604030504040204" pitchFamily="50" charset="-128"/>
                <a:cs typeface="Arial" panose="020B0604020202020204" pitchFamily="34" charset="0"/>
              </a:rPr>
              <a:t>模擬患者の自発呼吸に同期した呼吸音再生システムの構築としました．</a:t>
            </a:r>
            <a:endParaRPr kumimoji="1" lang="ja-JP" altLang="en-US" sz="1200" b="0" i="0" strike="noStrike" spc="0" baseline="0" dirty="0">
              <a:ln>
                <a:noFill/>
              </a:ln>
              <a:solidFill>
                <a:srgbClr val="000000"/>
              </a:solidFill>
              <a:effectLst/>
              <a:latin typeface="Segoe UI" panose="020B0502040204020203" pitchFamily="34" charset="0"/>
              <a:ea typeface="Meiryo UI" panose="020B0604030504040204" pitchFamily="50"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b="0" dirty="0">
              <a:solidFill>
                <a:prstClr val="black"/>
              </a:solidFill>
              <a:latin typeface="Segoe UI" panose="020B0502040204020203" pitchFamily="34" charset="0"/>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b="0" dirty="0">
                <a:solidFill>
                  <a:prstClr val="black"/>
                </a:solidFill>
                <a:latin typeface="Segoe UI" panose="020B0502040204020203" pitchFamily="34" charset="0"/>
                <a:ea typeface="Meiryo UI" panose="020B0604030504040204" pitchFamily="50" charset="-128"/>
              </a:rPr>
              <a:t>1:20</a:t>
            </a:r>
            <a:endParaRPr lang="ja-JP" altLang="en-US" sz="1200" b="0" dirty="0">
              <a:solidFill>
                <a:prstClr val="black"/>
              </a:solidFill>
              <a:latin typeface="Segoe UI" panose="020B0502040204020203" pitchFamily="34" charset="0"/>
              <a:ea typeface="Meiryo UI" panose="020B0604030504040204" pitchFamily="50" charset="-128"/>
            </a:endParaRPr>
          </a:p>
          <a:p>
            <a:endParaRPr lang="ja-JP" altLang="en-US" b="0" dirty="0"/>
          </a:p>
        </p:txBody>
      </p:sp>
      <p:sp>
        <p:nvSpPr>
          <p:cNvPr id="4" name="スライド番号プレースホルダー 3">
            <a:extLst>
              <a:ext uri="{FF2B5EF4-FFF2-40B4-BE49-F238E27FC236}">
                <a16:creationId xmlns:a16="http://schemas.microsoft.com/office/drawing/2014/main" id="{87B07BE8-FD2A-DD5E-C338-CF8994A8FAE1}"/>
              </a:ext>
            </a:extLst>
          </p:cNvPr>
          <p:cNvSpPr>
            <a:spLocks noGrp="1"/>
          </p:cNvSpPr>
          <p:nvPr>
            <p:ph type="sldNum" sz="quarter" idx="5"/>
          </p:nvPr>
        </p:nvSpPr>
        <p:spPr/>
        <p:txBody>
          <a:bodyPr/>
          <a:lstStyle/>
          <a:p>
            <a:fld id="{EDE9F3A0-E6A5-44FF-A880-3FD7FF0FE7DC}" type="slidenum">
              <a:rPr kumimoji="1" lang="ja-JP" altLang="en-US" smtClean="0"/>
              <a:t>2</a:t>
            </a:fld>
            <a:endParaRPr kumimoji="1" lang="ja-JP" altLang="en-US"/>
          </a:p>
        </p:txBody>
      </p:sp>
    </p:spTree>
    <p:extLst>
      <p:ext uri="{BB962C8B-B14F-4D97-AF65-F5344CB8AC3E}">
        <p14:creationId xmlns:p14="http://schemas.microsoft.com/office/powerpoint/2010/main" val="31224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9D3CF-73E6-5A7E-3065-1440E128D2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36A93CD-8529-CFB4-9C6D-B3259B17EC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300F05B-377E-7BEA-0568-8A2CE3CFB5CA}"/>
              </a:ext>
            </a:extLst>
          </p:cNvPr>
          <p:cNvSpPr>
            <a:spLocks noGrp="1"/>
          </p:cNvSpPr>
          <p:nvPr>
            <p:ph type="body" idx="1"/>
          </p:nvPr>
        </p:nvSpPr>
        <p:spPr/>
        <p:txBody>
          <a:bodyPr/>
          <a:lstStyle/>
          <a:p>
            <a:r>
              <a:rPr lang="ja-JP" altLang="en-US" dirty="0"/>
              <a:t>では，提案した呼吸音同期再生システムについて説明します。</a:t>
            </a:r>
            <a:br>
              <a:rPr lang="ja-JP" altLang="en-US" dirty="0"/>
            </a:br>
            <a:r>
              <a:rPr lang="ja-JP" altLang="en-US" dirty="0"/>
              <a:t>本システムでは，模擬患者の呼吸状態をリアルタイムに逐次判別します．</a:t>
            </a:r>
            <a:endParaRPr lang="en-US" altLang="ja-JP" dirty="0"/>
          </a:p>
          <a:p>
            <a:r>
              <a:rPr lang="ja-JP" altLang="en-US" dirty="0"/>
              <a:t>そして，判別した呼吸状態に基づいて，再生する呼吸音源を選択します。</a:t>
            </a:r>
          </a:p>
          <a:p>
            <a:endParaRPr lang="en-US" altLang="ja-JP" dirty="0"/>
          </a:p>
          <a:p>
            <a:r>
              <a:rPr lang="ja-JP" altLang="en-US" dirty="0"/>
              <a:t>また，深呼吸など呼吸の長さが変化する場合には，呼吸音源の長さを伸縮する必要があります。</a:t>
            </a:r>
            <a:endParaRPr lang="en-US" altLang="ja-JP" dirty="0"/>
          </a:p>
          <a:p>
            <a:r>
              <a:rPr lang="ja-JP" altLang="en-US" dirty="0"/>
              <a:t>そのため，本システムでは，呼吸状態の終了時刻を事前推定します．</a:t>
            </a:r>
            <a:endParaRPr lang="en-US" altLang="ja-JP" dirty="0"/>
          </a:p>
          <a:p>
            <a:r>
              <a:rPr lang="ja-JP" altLang="en-US" dirty="0"/>
              <a:t>そして，その推定結果に基づいて呼吸音源を動的に伸縮しながら再生します。</a:t>
            </a:r>
            <a:endParaRPr lang="en-US" altLang="ja-JP" dirty="0"/>
          </a:p>
          <a:p>
            <a:r>
              <a:rPr lang="ja-JP" altLang="en-US" dirty="0"/>
              <a:t>以上を踏まえ，本発表の目的を</a:t>
            </a:r>
            <a:r>
              <a:rPr lang="ja-JP" altLang="en-US" b="1" dirty="0"/>
              <a:t>リアルタイムな呼吸状態判別ならびに呼吸時間推定手法の検討</a:t>
            </a:r>
            <a:r>
              <a:rPr lang="ja-JP" altLang="en-US" dirty="0"/>
              <a:t>としました。</a:t>
            </a:r>
            <a:endParaRPr lang="en-US" altLang="ja-JP" dirty="0"/>
          </a:p>
          <a:p>
            <a:endParaRPr lang="en-US" altLang="ja-JP" dirty="0"/>
          </a:p>
          <a:p>
            <a:r>
              <a:rPr lang="en-US" altLang="ja-JP" dirty="0"/>
              <a:t>2:13</a:t>
            </a:r>
          </a:p>
          <a:p>
            <a:endParaRPr lang="en-US" altLang="ja-JP" dirty="0"/>
          </a:p>
          <a:p>
            <a:endParaRPr lang="en-US" altLang="ja-JP" dirty="0"/>
          </a:p>
        </p:txBody>
      </p:sp>
      <p:sp>
        <p:nvSpPr>
          <p:cNvPr id="4" name="スライド番号プレースホルダー 3">
            <a:extLst>
              <a:ext uri="{FF2B5EF4-FFF2-40B4-BE49-F238E27FC236}">
                <a16:creationId xmlns:a16="http://schemas.microsoft.com/office/drawing/2014/main" id="{7AC0280F-D7BC-144B-2BB6-9C973826C0F4}"/>
              </a:ext>
            </a:extLst>
          </p:cNvPr>
          <p:cNvSpPr>
            <a:spLocks noGrp="1"/>
          </p:cNvSpPr>
          <p:nvPr>
            <p:ph type="sldNum" sz="quarter" idx="5"/>
          </p:nvPr>
        </p:nvSpPr>
        <p:spPr/>
        <p:txBody>
          <a:bodyPr/>
          <a:lstStyle/>
          <a:p>
            <a:fld id="{EDE9F3A0-E6A5-44FF-A880-3FD7FF0FE7DC}" type="slidenum">
              <a:rPr kumimoji="1" lang="ja-JP" altLang="en-US" smtClean="0"/>
              <a:t>3</a:t>
            </a:fld>
            <a:endParaRPr kumimoji="1" lang="ja-JP" altLang="en-US"/>
          </a:p>
        </p:txBody>
      </p:sp>
    </p:spTree>
    <p:extLst>
      <p:ext uri="{BB962C8B-B14F-4D97-AF65-F5344CB8AC3E}">
        <p14:creationId xmlns:p14="http://schemas.microsoft.com/office/powerpoint/2010/main" val="565568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701B6-BA98-5561-EF49-0C7EED7AA8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4995F61-3076-26D3-EE04-3AFB7BAB5D3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570CC0-01DC-5E68-ECD3-A1F90F9D09E8}"/>
              </a:ext>
            </a:extLst>
          </p:cNvPr>
          <p:cNvSpPr>
            <a:spLocks noGrp="1"/>
          </p:cNvSpPr>
          <p:nvPr>
            <p:ph type="body" idx="1"/>
          </p:nvPr>
        </p:nvSpPr>
        <p:spPr/>
        <p:txBody>
          <a:bodyPr/>
          <a:lstStyle/>
          <a:p>
            <a:r>
              <a:rPr lang="ja-JP" altLang="en-US" dirty="0"/>
              <a:t>ここから，提案システムの流れについて詳細を説明します。</a:t>
            </a:r>
          </a:p>
          <a:p>
            <a:r>
              <a:rPr lang="ja-JP" altLang="en-US" dirty="0"/>
              <a:t>まず，呼吸計測デバイスを用いて模擬患者の呼吸を計測します。</a:t>
            </a:r>
            <a:br>
              <a:rPr lang="ja-JP" altLang="en-US" dirty="0"/>
            </a:br>
            <a:r>
              <a:rPr lang="ja-JP" altLang="en-US" dirty="0"/>
              <a:t>次に，呼吸音源の選択を目的として，現在の呼吸状態を判別します。</a:t>
            </a:r>
          </a:p>
          <a:p>
            <a:endParaRPr lang="en-US" altLang="ja-JP" dirty="0"/>
          </a:p>
          <a:p>
            <a:r>
              <a:rPr lang="ja-JP" altLang="en-US" dirty="0"/>
              <a:t>続いて，現在の呼吸状態における，残り呼吸時間を推定します。</a:t>
            </a:r>
            <a:br>
              <a:rPr lang="ja-JP" altLang="en-US" dirty="0"/>
            </a:br>
            <a:r>
              <a:rPr lang="ja-JP" altLang="en-US" dirty="0"/>
              <a:t>そして，推定結果に基づいて呼吸音を伸縮し，</a:t>
            </a:r>
            <a:r>
              <a:rPr lang="en-US" altLang="ja-JP" dirty="0"/>
              <a:t>EARS</a:t>
            </a:r>
            <a:r>
              <a:rPr lang="ja-JP" altLang="en-US" dirty="0"/>
              <a:t>のデバイスから再生します。</a:t>
            </a:r>
          </a:p>
          <a:p>
            <a:r>
              <a:rPr lang="ja-JP" altLang="en-US" dirty="0"/>
              <a:t>これらの処理を繰り返して，模擬患者の呼吸に同期した呼吸音の再生を実現します。</a:t>
            </a:r>
            <a:endParaRPr lang="en-US" altLang="ja-JP" dirty="0"/>
          </a:p>
          <a:p>
            <a:endParaRPr lang="en-US" altLang="ja-JP" dirty="0"/>
          </a:p>
          <a:p>
            <a:r>
              <a:rPr lang="ja-JP" altLang="en-US" dirty="0"/>
              <a:t>（</a:t>
            </a:r>
            <a:r>
              <a:rPr lang="en-US" altLang="ja-JP" dirty="0"/>
              <a:t>start</a:t>
            </a:r>
            <a:r>
              <a:rPr lang="ja-JP" altLang="en-US" dirty="0"/>
              <a:t>）</a:t>
            </a:r>
            <a:endParaRPr lang="en-US" altLang="ja-JP" dirty="0"/>
          </a:p>
          <a:p>
            <a:r>
              <a:rPr lang="ja-JP" altLang="en-US" dirty="0"/>
              <a:t>では，まず，呼吸計測および呼吸状態判別手法について説明します．</a:t>
            </a:r>
            <a:endParaRPr lang="en-US" altLang="ja-JP" dirty="0"/>
          </a:p>
          <a:p>
            <a:endParaRPr lang="en-US" altLang="ja-JP" dirty="0"/>
          </a:p>
          <a:p>
            <a:endParaRPr lang="en-US" altLang="ja-JP" dirty="0"/>
          </a:p>
          <a:p>
            <a:r>
              <a:rPr lang="en-US" altLang="ja-JP" dirty="0"/>
              <a:t>3:00</a:t>
            </a:r>
            <a:endParaRPr lang="ja-JP" altLang="en-US" dirty="0"/>
          </a:p>
        </p:txBody>
      </p:sp>
      <p:sp>
        <p:nvSpPr>
          <p:cNvPr id="4" name="スライド番号プレースホルダー 3">
            <a:extLst>
              <a:ext uri="{FF2B5EF4-FFF2-40B4-BE49-F238E27FC236}">
                <a16:creationId xmlns:a16="http://schemas.microsoft.com/office/drawing/2014/main" id="{5B13BCE8-46ED-61C2-0068-3BC522EE2105}"/>
              </a:ext>
            </a:extLst>
          </p:cNvPr>
          <p:cNvSpPr>
            <a:spLocks noGrp="1"/>
          </p:cNvSpPr>
          <p:nvPr>
            <p:ph type="sldNum" sz="quarter" idx="5"/>
          </p:nvPr>
        </p:nvSpPr>
        <p:spPr/>
        <p:txBody>
          <a:bodyPr/>
          <a:lstStyle/>
          <a:p>
            <a:fld id="{4AF5F9EB-9B1C-47BC-A9C1-47B5298E617F}" type="slidenum">
              <a:rPr kumimoji="1" lang="ja-JP" altLang="en-US" smtClean="0"/>
              <a:t>4</a:t>
            </a:fld>
            <a:endParaRPr kumimoji="1" lang="ja-JP" altLang="en-US"/>
          </a:p>
        </p:txBody>
      </p:sp>
    </p:spTree>
    <p:extLst>
      <p:ext uri="{BB962C8B-B14F-4D97-AF65-F5344CB8AC3E}">
        <p14:creationId xmlns:p14="http://schemas.microsoft.com/office/powerpoint/2010/main" val="1665297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3FFC6-5436-EFF6-7E65-301E3391A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3538BAA-B0CC-5BD8-F82E-A8F8EA60C51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C16186C-D74D-47F5-B7C9-5EECEB1B3880}"/>
              </a:ext>
            </a:extLst>
          </p:cNvPr>
          <p:cNvSpPr>
            <a:spLocks noGrp="1"/>
          </p:cNvSpPr>
          <p:nvPr>
            <p:ph type="body" idx="1"/>
          </p:nvPr>
        </p:nvSpPr>
        <p:spPr/>
        <p:txBody>
          <a:bodyPr/>
          <a:lstStyle/>
          <a:p>
            <a:r>
              <a:rPr lang="ja-JP" altLang="en-US" dirty="0"/>
              <a:t>まず，呼吸計測手法について説明します．</a:t>
            </a:r>
            <a:endParaRPr lang="en-US" altLang="ja-JP" dirty="0"/>
          </a:p>
          <a:p>
            <a:r>
              <a:rPr lang="ja-JP" altLang="en-US" dirty="0"/>
              <a:t>呼吸計測には</a:t>
            </a:r>
            <a:r>
              <a:rPr lang="ja-JP" altLang="en-US" b="1" dirty="0"/>
              <a:t>呼吸ベルト</a:t>
            </a:r>
            <a:r>
              <a:rPr lang="ja-JP" altLang="en-US" dirty="0"/>
              <a:t>を使用しました。</a:t>
            </a:r>
            <a:br>
              <a:rPr lang="ja-JP" altLang="en-US" dirty="0"/>
            </a:br>
            <a:r>
              <a:rPr lang="ja-JP" altLang="en-US" dirty="0"/>
              <a:t>呼吸ベルトは胸部に巻き付けて，胸郭の動きに応じた</a:t>
            </a:r>
            <a:r>
              <a:rPr lang="ja-JP" altLang="en-US" b="1" dirty="0"/>
              <a:t>胸部圧迫力</a:t>
            </a:r>
            <a:r>
              <a:rPr lang="ja-JP" altLang="en-US" dirty="0"/>
              <a:t>を測定します。</a:t>
            </a:r>
          </a:p>
          <a:p>
            <a:endParaRPr lang="en-US" altLang="ja-JP" dirty="0"/>
          </a:p>
          <a:p>
            <a:r>
              <a:rPr lang="ja-JP" altLang="en-US" dirty="0"/>
              <a:t>次に呼吸状態判別手法について説明します．</a:t>
            </a:r>
            <a:endParaRPr lang="en-US" altLang="ja-JP" dirty="0"/>
          </a:p>
          <a:p>
            <a:r>
              <a:rPr lang="ja-JP" altLang="en-US" dirty="0"/>
              <a:t>本研究では，</a:t>
            </a:r>
            <a:r>
              <a:rPr lang="en-US" altLang="ja-JP" dirty="0"/>
              <a:t>2</a:t>
            </a:r>
            <a:r>
              <a:rPr lang="ja-JP" altLang="en-US" dirty="0"/>
              <a:t>つの状態判別手法を考えました．</a:t>
            </a:r>
          </a:p>
          <a:p>
            <a:r>
              <a:rPr lang="en-US" altLang="ja-JP" dirty="0"/>
              <a:t>1</a:t>
            </a:r>
            <a:r>
              <a:rPr lang="ja-JP" altLang="en-US" dirty="0"/>
              <a:t>つ目は，</a:t>
            </a:r>
            <a:r>
              <a:rPr lang="ja-JP" altLang="en-US" b="1" dirty="0"/>
              <a:t>閾値を用いた呼吸状態判別</a:t>
            </a:r>
            <a:r>
              <a:rPr lang="ja-JP" altLang="en-US" dirty="0"/>
              <a:t>です。</a:t>
            </a:r>
            <a:br>
              <a:rPr lang="ja-JP" altLang="en-US" dirty="0"/>
            </a:br>
            <a:r>
              <a:rPr lang="ja-JP" altLang="en-US" dirty="0"/>
              <a:t>この手法では，胸部圧迫力の</a:t>
            </a:r>
            <a:r>
              <a:rPr lang="ja-JP" altLang="en-US" b="1" dirty="0"/>
              <a:t>一次微分値</a:t>
            </a:r>
            <a:r>
              <a:rPr lang="ja-JP" altLang="en-US" dirty="0"/>
              <a:t>に注目して，一次微分値の大きさと符号に基づき，吸気・呼気・息止めを判別します</a:t>
            </a:r>
            <a:endParaRPr lang="en-US" altLang="ja-JP" dirty="0"/>
          </a:p>
          <a:p>
            <a:endParaRPr lang="en-US" altLang="ja-JP" dirty="0"/>
          </a:p>
          <a:p>
            <a:r>
              <a:rPr lang="en-US" altLang="ja-JP" dirty="0"/>
              <a:t>3.40</a:t>
            </a:r>
            <a:endParaRPr lang="ja-JP" altLang="en-US" dirty="0"/>
          </a:p>
        </p:txBody>
      </p:sp>
      <p:sp>
        <p:nvSpPr>
          <p:cNvPr id="4" name="スライド番号プレースホルダー 3">
            <a:extLst>
              <a:ext uri="{FF2B5EF4-FFF2-40B4-BE49-F238E27FC236}">
                <a16:creationId xmlns:a16="http://schemas.microsoft.com/office/drawing/2014/main" id="{2E422694-986E-7CD9-8A71-229CEEAB9AA0}"/>
              </a:ext>
            </a:extLst>
          </p:cNvPr>
          <p:cNvSpPr>
            <a:spLocks noGrp="1"/>
          </p:cNvSpPr>
          <p:nvPr>
            <p:ph type="sldNum" sz="quarter" idx="5"/>
          </p:nvPr>
        </p:nvSpPr>
        <p:spPr/>
        <p:txBody>
          <a:bodyPr/>
          <a:lstStyle/>
          <a:p>
            <a:fld id="{4AF5F9EB-9B1C-47BC-A9C1-47B5298E617F}" type="slidenum">
              <a:rPr kumimoji="1" lang="ja-JP" altLang="en-US" smtClean="0"/>
              <a:t>5</a:t>
            </a:fld>
            <a:endParaRPr kumimoji="1" lang="ja-JP" altLang="en-US"/>
          </a:p>
        </p:txBody>
      </p:sp>
    </p:spTree>
    <p:extLst>
      <p:ext uri="{BB962C8B-B14F-4D97-AF65-F5344CB8AC3E}">
        <p14:creationId xmlns:p14="http://schemas.microsoft.com/office/powerpoint/2010/main" val="3190302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dirty="0"/>
              <a:t>2</a:t>
            </a:r>
            <a:r>
              <a:rPr lang="ja-JP" altLang="en-US" dirty="0"/>
              <a:t>つ目の判別手法は，</a:t>
            </a:r>
            <a:r>
              <a:rPr lang="ja-JP" altLang="en-US" b="1" dirty="0"/>
              <a:t>深層学習モデル</a:t>
            </a:r>
            <a:r>
              <a:rPr lang="en-US" altLang="ja-JP" b="1" dirty="0"/>
              <a:t>TCN</a:t>
            </a:r>
            <a:r>
              <a:rPr lang="ja-JP" altLang="en-US" b="1" dirty="0"/>
              <a:t>を用いる手法です．</a:t>
            </a:r>
            <a:br>
              <a:rPr lang="ja-JP" altLang="en-US" dirty="0"/>
            </a:b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下に，</a:t>
            </a:r>
            <a:r>
              <a:rPr lang="en-US" altLang="ja-JP" dirty="0"/>
              <a:t>TCN</a:t>
            </a:r>
            <a:r>
              <a:rPr lang="ja-JP" altLang="en-US" dirty="0"/>
              <a:t>を用いた呼吸状態判別の流れを示します。</a:t>
            </a:r>
            <a:br>
              <a:rPr lang="ja-JP" altLang="en-US" dirty="0"/>
            </a:br>
            <a:r>
              <a:rPr lang="ja-JP" altLang="en-US" dirty="0"/>
              <a:t>まず，呼吸計測結果に基づき，推定時点直前</a:t>
            </a:r>
            <a:r>
              <a:rPr lang="en-US" altLang="ja-JP" dirty="0"/>
              <a:t>4</a:t>
            </a:r>
            <a:r>
              <a:rPr lang="ja-JP" altLang="en-US" dirty="0"/>
              <a:t>秒間（</a:t>
            </a:r>
            <a:r>
              <a:rPr lang="en-US" altLang="ja-JP" dirty="0"/>
              <a:t>start</a:t>
            </a:r>
            <a:r>
              <a:rPr lang="ja-JP" altLang="en-US" dirty="0"/>
              <a:t>）における胸部圧迫力およびその一次微分値を算出します。</a:t>
            </a:r>
            <a:br>
              <a:rPr lang="ja-JP" altLang="en-US" dirty="0"/>
            </a:br>
            <a:r>
              <a:rPr lang="ja-JP" altLang="en-US" dirty="0"/>
              <a:t>次に，これらのデータを</a:t>
            </a:r>
            <a:r>
              <a:rPr lang="en-US" altLang="ja-JP" dirty="0"/>
              <a:t>TCN</a:t>
            </a:r>
            <a:r>
              <a:rPr lang="ja-JP" altLang="en-US" dirty="0"/>
              <a:t>に入力し，畳み込み処理を行うことで，現在の呼吸状態を判別します。</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4:10</a:t>
            </a:r>
            <a:endParaRPr lang="ja-JP" altLang="en-US" dirty="0"/>
          </a:p>
          <a:p>
            <a:endParaRPr lang="en-US" altLang="ja-JP" dirty="0"/>
          </a:p>
          <a:p>
            <a:endParaRPr lang="en-US" altLang="ja-JP" dirty="0"/>
          </a:p>
        </p:txBody>
      </p:sp>
      <p:sp>
        <p:nvSpPr>
          <p:cNvPr id="4" name="スライド番号プレースホルダー 3"/>
          <p:cNvSpPr>
            <a:spLocks noGrp="1"/>
          </p:cNvSpPr>
          <p:nvPr>
            <p:ph type="sldNum" sz="quarter" idx="5"/>
          </p:nvPr>
        </p:nvSpPr>
        <p:spPr/>
        <p:txBody>
          <a:bodyPr/>
          <a:lstStyle/>
          <a:p>
            <a:fld id="{EDE9F3A0-E6A5-44FF-A880-3FD7FF0FE7DC}" type="slidenum">
              <a:rPr kumimoji="1" lang="ja-JP" altLang="en-US" smtClean="0"/>
              <a:t>6</a:t>
            </a:fld>
            <a:endParaRPr kumimoji="1" lang="ja-JP" altLang="en-US"/>
          </a:p>
        </p:txBody>
      </p:sp>
    </p:spTree>
    <p:extLst>
      <p:ext uri="{BB962C8B-B14F-4D97-AF65-F5344CB8AC3E}">
        <p14:creationId xmlns:p14="http://schemas.microsoft.com/office/powerpoint/2010/main" val="3045924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BD2BE-5F4B-9A86-38C7-8BD99A5B309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B152CF-4C8E-8DA8-AE21-975354D9AFD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4564E65-77C3-6C8B-2E78-5E5B3BF0585A}"/>
              </a:ext>
            </a:extLst>
          </p:cNvPr>
          <p:cNvSpPr>
            <a:spLocks noGrp="1"/>
          </p:cNvSpPr>
          <p:nvPr>
            <p:ph type="body" idx="1"/>
          </p:nvPr>
        </p:nvSpPr>
        <p:spPr/>
        <p:txBody>
          <a:bodyPr/>
          <a:lstStyle/>
          <a:p>
            <a:r>
              <a:rPr lang="ja-JP" altLang="en-US" dirty="0"/>
              <a:t>では，閾値および</a:t>
            </a:r>
            <a:r>
              <a:rPr lang="en-US" altLang="ja-JP" dirty="0"/>
              <a:t>TCN</a:t>
            </a:r>
            <a:r>
              <a:rPr lang="ja-JP" altLang="en-US" dirty="0"/>
              <a:t>を用いた呼吸状態判別手法について，</a:t>
            </a:r>
            <a:r>
              <a:rPr lang="ja-JP" altLang="en-US" b="1" dirty="0"/>
              <a:t>比較</a:t>
            </a:r>
            <a:r>
              <a:rPr lang="ja-JP" altLang="en-US" dirty="0"/>
              <a:t>を目的とした実験を行いましたので，その内容について説明します。</a:t>
            </a:r>
          </a:p>
          <a:p>
            <a:r>
              <a:rPr lang="ja-JP" altLang="en-US" dirty="0"/>
              <a:t>まず，実験に用いたデータについて説明します。</a:t>
            </a:r>
            <a:br>
              <a:rPr lang="ja-JP" altLang="en-US" dirty="0"/>
            </a:br>
            <a:r>
              <a:rPr lang="ja-JP" altLang="en-US" dirty="0"/>
              <a:t>被験者は</a:t>
            </a:r>
            <a:r>
              <a:rPr lang="en-US" altLang="ja-JP" dirty="0"/>
              <a:t>10</a:t>
            </a:r>
            <a:r>
              <a:rPr lang="ja-JP" altLang="en-US" dirty="0"/>
              <a:t>名とし，大きく</a:t>
            </a:r>
            <a:r>
              <a:rPr lang="en-US" altLang="ja-JP" dirty="0"/>
              <a:t>2</a:t>
            </a:r>
            <a:r>
              <a:rPr lang="ja-JP" altLang="en-US" dirty="0"/>
              <a:t>種類のデータセットを用意しました。</a:t>
            </a:r>
          </a:p>
          <a:p>
            <a:r>
              <a:rPr lang="en-US" altLang="ja-JP" dirty="0"/>
              <a:t>1</a:t>
            </a:r>
            <a:r>
              <a:rPr lang="ja-JP" altLang="en-US" dirty="0"/>
              <a:t>つ目は，</a:t>
            </a:r>
            <a:r>
              <a:rPr lang="ja-JP" altLang="en-US" b="1" dirty="0"/>
              <a:t>メトロノーム</a:t>
            </a:r>
            <a:r>
              <a:rPr lang="ja-JP" altLang="en-US" dirty="0"/>
              <a:t>を用いて，呼吸時間指定したデータセット，</a:t>
            </a:r>
            <a:r>
              <a:rPr lang="en-US" altLang="ja-JP" dirty="0"/>
              <a:t>2</a:t>
            </a:r>
            <a:r>
              <a:rPr lang="ja-JP" altLang="en-US" dirty="0"/>
              <a:t>つ目は，</a:t>
            </a:r>
            <a:r>
              <a:rPr lang="en-US" altLang="ja-JP" b="1" dirty="0"/>
              <a:t>5</a:t>
            </a:r>
            <a:r>
              <a:rPr lang="ja-JP" altLang="en-US" b="1" dirty="0"/>
              <a:t>秒間の息止めを含む</a:t>
            </a:r>
            <a:r>
              <a:rPr lang="ja-JP" altLang="en-US" dirty="0"/>
              <a:t>データセットです。</a:t>
            </a:r>
          </a:p>
          <a:p>
            <a:r>
              <a:rPr lang="ja-JP" altLang="en-US" dirty="0"/>
              <a:t>判別精度の評価には，</a:t>
            </a:r>
            <a:r>
              <a:rPr lang="en-US" altLang="ja-JP" b="1" dirty="0"/>
              <a:t>LOPO</a:t>
            </a:r>
            <a:r>
              <a:rPr lang="ja-JP" altLang="en-US" b="1" dirty="0"/>
              <a:t>交差検証</a:t>
            </a:r>
            <a:r>
              <a:rPr lang="ja-JP" altLang="en-US" dirty="0"/>
              <a:t>を用い，</a:t>
            </a:r>
            <a:r>
              <a:rPr lang="ja-JP" altLang="en-US" b="1" dirty="0"/>
              <a:t>正解率</a:t>
            </a:r>
            <a:r>
              <a:rPr lang="ja-JP" altLang="en-US" dirty="0"/>
              <a:t>および </a:t>
            </a:r>
            <a:r>
              <a:rPr lang="ja-JP" altLang="en-US" b="1" dirty="0"/>
              <a:t>マクロ</a:t>
            </a:r>
            <a:r>
              <a:rPr lang="en-US" altLang="ja-JP" b="1" dirty="0"/>
              <a:t>F1</a:t>
            </a:r>
            <a:r>
              <a:rPr lang="ja-JP" altLang="en-US" b="1" dirty="0"/>
              <a:t>スコアで評価を行いました．</a:t>
            </a:r>
            <a:endParaRPr lang="en-US" altLang="ja-JP" b="1" dirty="0"/>
          </a:p>
          <a:p>
            <a:endParaRPr lang="en-US" altLang="ja-JP" b="1" dirty="0"/>
          </a:p>
          <a:p>
            <a:r>
              <a:rPr lang="en-US" altLang="ja-JP" b="1" dirty="0"/>
              <a:t>4:48</a:t>
            </a:r>
            <a:endParaRPr lang="ja-JP" altLang="en-US" dirty="0"/>
          </a:p>
        </p:txBody>
      </p:sp>
      <p:sp>
        <p:nvSpPr>
          <p:cNvPr id="4" name="スライド番号プレースホルダー 3">
            <a:extLst>
              <a:ext uri="{FF2B5EF4-FFF2-40B4-BE49-F238E27FC236}">
                <a16:creationId xmlns:a16="http://schemas.microsoft.com/office/drawing/2014/main" id="{967EA436-3FDB-61E9-A489-45BA570796D5}"/>
              </a:ext>
            </a:extLst>
          </p:cNvPr>
          <p:cNvSpPr>
            <a:spLocks noGrp="1"/>
          </p:cNvSpPr>
          <p:nvPr>
            <p:ph type="sldNum" sz="quarter" idx="5"/>
          </p:nvPr>
        </p:nvSpPr>
        <p:spPr/>
        <p:txBody>
          <a:bodyPr/>
          <a:lstStyle/>
          <a:p>
            <a:fld id="{EDE9F3A0-E6A5-44FF-A880-3FD7FF0FE7DC}" type="slidenum">
              <a:rPr kumimoji="1" lang="ja-JP" altLang="en-US" smtClean="0"/>
              <a:t>7</a:t>
            </a:fld>
            <a:endParaRPr kumimoji="1" lang="ja-JP" altLang="en-US"/>
          </a:p>
        </p:txBody>
      </p:sp>
    </p:spTree>
    <p:extLst>
      <p:ext uri="{BB962C8B-B14F-4D97-AF65-F5344CB8AC3E}">
        <p14:creationId xmlns:p14="http://schemas.microsoft.com/office/powerpoint/2010/main" val="2726767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AE456-3C79-5963-AD88-79B10AA2F5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21DA05E-7988-044A-A8AB-2DDE379EF3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50A2933-BC8E-1CC2-51F3-0D3DEBD71C18}"/>
              </a:ext>
            </a:extLst>
          </p:cNvPr>
          <p:cNvSpPr>
            <a:spLocks noGrp="1"/>
          </p:cNvSpPr>
          <p:nvPr>
            <p:ph type="body" idx="1"/>
          </p:nvPr>
        </p:nvSpPr>
        <p:spPr/>
        <p:txBody>
          <a:bodyPr/>
          <a:lstStyle/>
          <a:p>
            <a:r>
              <a:rPr lang="ja-JP" altLang="en-US" b="0" dirty="0"/>
              <a:t>結果を示します。</a:t>
            </a:r>
            <a:br>
              <a:rPr lang="ja-JP" altLang="en-US" b="0" dirty="0"/>
            </a:br>
            <a:r>
              <a:rPr lang="ja-JP" altLang="en-US" b="0" dirty="0"/>
              <a:t>交差検証の結果，</a:t>
            </a:r>
            <a:r>
              <a:rPr lang="en-US" altLang="ja-JP" b="0" dirty="0"/>
              <a:t>TCN</a:t>
            </a:r>
            <a:r>
              <a:rPr lang="ja-JP" altLang="en-US" b="0" dirty="0"/>
              <a:t>を用いた手法は，閾値手法と比較して，正解率とマクロ</a:t>
            </a:r>
            <a:r>
              <a:rPr lang="en-US" altLang="ja-JP" b="0" dirty="0"/>
              <a:t>F1</a:t>
            </a:r>
            <a:r>
              <a:rPr lang="ja-JP" altLang="en-US" b="0" dirty="0"/>
              <a:t>スコアの両方で，高い値を示しました。</a:t>
            </a:r>
          </a:p>
          <a:p>
            <a:r>
              <a:rPr lang="ja-JP" altLang="en-US" b="0" dirty="0"/>
              <a:t>両手法の推論時間はいずれも呼吸周期に対して十分短く，リアルタイムでの呼吸状態判別が可能であることを確認しました。</a:t>
            </a:r>
          </a:p>
          <a:p>
            <a:endParaRPr lang="en-US" altLang="ja-JP" b="0" dirty="0"/>
          </a:p>
          <a:p>
            <a:r>
              <a:rPr lang="en-US" altLang="ja-JP" b="0" dirty="0"/>
              <a:t>5:12</a:t>
            </a:r>
            <a:endParaRPr lang="ja-JP" altLang="en-US" b="0" dirty="0"/>
          </a:p>
        </p:txBody>
      </p:sp>
      <p:sp>
        <p:nvSpPr>
          <p:cNvPr id="4" name="スライド番号プレースホルダー 3">
            <a:extLst>
              <a:ext uri="{FF2B5EF4-FFF2-40B4-BE49-F238E27FC236}">
                <a16:creationId xmlns:a16="http://schemas.microsoft.com/office/drawing/2014/main" id="{5E3BCA3E-08E6-0672-7CDE-F574EE862B5A}"/>
              </a:ext>
            </a:extLst>
          </p:cNvPr>
          <p:cNvSpPr>
            <a:spLocks noGrp="1"/>
          </p:cNvSpPr>
          <p:nvPr>
            <p:ph type="sldNum" sz="quarter" idx="5"/>
          </p:nvPr>
        </p:nvSpPr>
        <p:spPr/>
        <p:txBody>
          <a:bodyPr/>
          <a:lstStyle/>
          <a:p>
            <a:fld id="{EDE9F3A0-E6A5-44FF-A880-3FD7FF0FE7DC}" type="slidenum">
              <a:rPr kumimoji="1" lang="ja-JP" altLang="en-US" smtClean="0"/>
              <a:t>8</a:t>
            </a:fld>
            <a:endParaRPr kumimoji="1" lang="ja-JP" altLang="en-US"/>
          </a:p>
        </p:txBody>
      </p:sp>
    </p:spTree>
    <p:extLst>
      <p:ext uri="{BB962C8B-B14F-4D97-AF65-F5344CB8AC3E}">
        <p14:creationId xmlns:p14="http://schemas.microsoft.com/office/powerpoint/2010/main" val="1801800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29BDF-ECEA-3637-3EC4-2117BECF2E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C82F6-574C-1A79-5FDF-06DF8B3C84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EA6DE3-82CD-E316-564C-58037339A12F}"/>
              </a:ext>
            </a:extLst>
          </p:cNvPr>
          <p:cNvSpPr>
            <a:spLocks noGrp="1"/>
          </p:cNvSpPr>
          <p:nvPr>
            <p:ph type="body" idx="1"/>
          </p:nvPr>
        </p:nvSpPr>
        <p:spPr/>
        <p:txBody>
          <a:bodyPr/>
          <a:lstStyle/>
          <a:p>
            <a:r>
              <a:rPr lang="ja-JP" altLang="en-US" b="0" dirty="0"/>
              <a:t>こちらに，それぞれの手法の判別結果をグラフに示します．</a:t>
            </a:r>
            <a:br>
              <a:rPr lang="ja-JP" altLang="en-US" b="0" dirty="0"/>
            </a:br>
            <a:r>
              <a:rPr lang="ja-JP" altLang="en-US" b="0" dirty="0"/>
              <a:t>左が閾値，右が</a:t>
            </a:r>
            <a:r>
              <a:rPr lang="en-US" altLang="ja-JP" b="0" dirty="0"/>
              <a:t>TCN</a:t>
            </a:r>
            <a:r>
              <a:rPr lang="ja-JP" altLang="en-US" b="0" dirty="0"/>
              <a:t>を用いた判別結果です。</a:t>
            </a:r>
            <a:br>
              <a:rPr lang="ja-JP" altLang="en-US" b="0" dirty="0"/>
            </a:br>
            <a:r>
              <a:rPr lang="ja-JP" altLang="en-US" b="0" dirty="0"/>
              <a:t>この図から，</a:t>
            </a:r>
            <a:r>
              <a:rPr lang="en-US" altLang="ja-JP" b="0" dirty="0"/>
              <a:t>TCN</a:t>
            </a:r>
            <a:r>
              <a:rPr lang="ja-JP" altLang="en-US" b="0" dirty="0"/>
              <a:t>では息止め状態の判別精度が高いこと，また吸気と呼気の遷移区間において誤った息止め判定が少ないことが確認できます。</a:t>
            </a:r>
            <a:br>
              <a:rPr lang="ja-JP" altLang="en-US" b="0" dirty="0"/>
            </a:br>
            <a:endParaRPr lang="en-US" altLang="ja-JP" b="0" dirty="0"/>
          </a:p>
          <a:p>
            <a:r>
              <a:rPr lang="ja-JP" altLang="en-US" b="0" dirty="0"/>
              <a:t>以上から，</a:t>
            </a:r>
            <a:r>
              <a:rPr lang="en-US" altLang="ja-JP" b="0" dirty="0"/>
              <a:t>TCN</a:t>
            </a:r>
            <a:r>
              <a:rPr lang="ja-JP" altLang="en-US" b="0" dirty="0"/>
              <a:t>を用いた手法が最良であることが示唆されました．</a:t>
            </a:r>
            <a:endParaRPr lang="en-US" altLang="ja-JP" b="0" dirty="0"/>
          </a:p>
          <a:p>
            <a:endParaRPr lang="en-US" altLang="ja-JP" b="0" dirty="0"/>
          </a:p>
          <a:p>
            <a:r>
              <a:rPr lang="en-US" altLang="ja-JP" b="0" dirty="0"/>
              <a:t>5:38</a:t>
            </a:r>
          </a:p>
          <a:p>
            <a:endParaRPr lang="en-US" altLang="ja-JP" b="0" dirty="0"/>
          </a:p>
        </p:txBody>
      </p:sp>
      <p:sp>
        <p:nvSpPr>
          <p:cNvPr id="4" name="スライド番号プレースホルダー 3">
            <a:extLst>
              <a:ext uri="{FF2B5EF4-FFF2-40B4-BE49-F238E27FC236}">
                <a16:creationId xmlns:a16="http://schemas.microsoft.com/office/drawing/2014/main" id="{F8961152-6842-AAD0-B8AD-8923F9538B32}"/>
              </a:ext>
            </a:extLst>
          </p:cNvPr>
          <p:cNvSpPr>
            <a:spLocks noGrp="1"/>
          </p:cNvSpPr>
          <p:nvPr>
            <p:ph type="sldNum" sz="quarter" idx="5"/>
          </p:nvPr>
        </p:nvSpPr>
        <p:spPr/>
        <p:txBody>
          <a:bodyPr/>
          <a:lstStyle/>
          <a:p>
            <a:fld id="{EDE9F3A0-E6A5-44FF-A880-3FD7FF0FE7DC}" type="slidenum">
              <a:rPr kumimoji="1" lang="ja-JP" altLang="en-US" smtClean="0"/>
              <a:t>9</a:t>
            </a:fld>
            <a:endParaRPr kumimoji="1" lang="ja-JP" altLang="en-US"/>
          </a:p>
        </p:txBody>
      </p:sp>
    </p:spTree>
    <p:extLst>
      <p:ext uri="{BB962C8B-B14F-4D97-AF65-F5344CB8AC3E}">
        <p14:creationId xmlns:p14="http://schemas.microsoft.com/office/powerpoint/2010/main" val="3362796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13CA4-E906-CEEF-6970-4F59DC2464A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7D8047-3292-7B36-9FE1-7F204F35366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5A1CA2A-CCE0-8C1E-0F61-F68D65EA7989}"/>
              </a:ext>
            </a:extLst>
          </p:cNvPr>
          <p:cNvSpPr>
            <a:spLocks noGrp="1"/>
          </p:cNvSpPr>
          <p:nvPr>
            <p:ph type="body" idx="1"/>
          </p:nvPr>
        </p:nvSpPr>
        <p:spPr/>
        <p:txBody>
          <a:bodyPr/>
          <a:lstStyle/>
          <a:p>
            <a:r>
              <a:rPr lang="ja-JP" altLang="en-US" b="0" dirty="0"/>
              <a:t>ここまで，呼吸音源の選択を目的とした呼吸状態判別について説明しました．</a:t>
            </a:r>
            <a:endParaRPr lang="en-US" altLang="ja-JP" b="0" dirty="0"/>
          </a:p>
          <a:p>
            <a:r>
              <a:rPr lang="ja-JP" altLang="en-US" b="0" dirty="0"/>
              <a:t>（</a:t>
            </a:r>
            <a:r>
              <a:rPr lang="en-US" altLang="ja-JP" b="0" dirty="0"/>
              <a:t>start</a:t>
            </a:r>
            <a:r>
              <a:rPr lang="ja-JP" altLang="en-US" b="0" dirty="0"/>
              <a:t>）</a:t>
            </a:r>
            <a:endParaRPr lang="en-US" altLang="ja-JP" b="0" dirty="0"/>
          </a:p>
          <a:p>
            <a:r>
              <a:rPr lang="ja-JP" altLang="en-US" b="0" dirty="0"/>
              <a:t>次に，呼吸音伸縮を目的</a:t>
            </a:r>
            <a:r>
              <a:rPr lang="ja-JP" altLang="en-US" b="0"/>
              <a:t>とした，</a:t>
            </a:r>
            <a:r>
              <a:rPr lang="ja-JP" altLang="en-US" b="0" dirty="0"/>
              <a:t>呼吸状態の終了時刻を事前に予測する，呼吸時間推定手法について説明します。</a:t>
            </a:r>
            <a:endParaRPr lang="en-US" altLang="ja-JP" b="0" dirty="0"/>
          </a:p>
          <a:p>
            <a:endParaRPr lang="en-US" altLang="ja-JP" b="0" dirty="0"/>
          </a:p>
          <a:p>
            <a:endParaRPr lang="en-US" altLang="ja-JP" b="0" dirty="0"/>
          </a:p>
          <a:p>
            <a:r>
              <a:rPr lang="en-US" altLang="ja-JP" b="0" dirty="0"/>
              <a:t>6:00</a:t>
            </a:r>
            <a:endParaRPr lang="ja-JP" altLang="en-US" b="0" dirty="0"/>
          </a:p>
        </p:txBody>
      </p:sp>
      <p:sp>
        <p:nvSpPr>
          <p:cNvPr id="4" name="スライド番号プレースホルダー 3">
            <a:extLst>
              <a:ext uri="{FF2B5EF4-FFF2-40B4-BE49-F238E27FC236}">
                <a16:creationId xmlns:a16="http://schemas.microsoft.com/office/drawing/2014/main" id="{C38D63E2-28B1-8CC3-555C-F500976C14AD}"/>
              </a:ext>
            </a:extLst>
          </p:cNvPr>
          <p:cNvSpPr>
            <a:spLocks noGrp="1"/>
          </p:cNvSpPr>
          <p:nvPr>
            <p:ph type="sldNum" sz="quarter" idx="5"/>
          </p:nvPr>
        </p:nvSpPr>
        <p:spPr/>
        <p:txBody>
          <a:bodyPr/>
          <a:lstStyle/>
          <a:p>
            <a:fld id="{4AF5F9EB-9B1C-47BC-A9C1-47B5298E617F}" type="slidenum">
              <a:rPr kumimoji="1" lang="ja-JP" altLang="en-US" smtClean="0"/>
              <a:t>10</a:t>
            </a:fld>
            <a:endParaRPr kumimoji="1" lang="ja-JP" altLang="en-US"/>
          </a:p>
        </p:txBody>
      </p:sp>
    </p:spTree>
    <p:extLst>
      <p:ext uri="{BB962C8B-B14F-4D97-AF65-F5344CB8AC3E}">
        <p14:creationId xmlns:p14="http://schemas.microsoft.com/office/powerpoint/2010/main" val="3065172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67E02-3FC8-9537-0416-AA13041D9F3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2B1646-CED5-3A8C-3846-7A5BF214EBF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83E133-B6A9-8B75-F30C-E557149CB0EB}"/>
              </a:ext>
            </a:extLst>
          </p:cNvPr>
          <p:cNvSpPr>
            <a:spLocks noGrp="1"/>
          </p:cNvSpPr>
          <p:nvPr>
            <p:ph type="body" idx="1"/>
          </p:nvPr>
        </p:nvSpPr>
        <p:spPr/>
        <p:txBody>
          <a:bodyPr/>
          <a:lstStyle/>
          <a:p>
            <a:r>
              <a:rPr lang="ja-JP" altLang="en-US" dirty="0"/>
              <a:t>呼吸時間推定には，回帰モデルを用いました。使用したモデルは</a:t>
            </a:r>
            <a:r>
              <a:rPr lang="en-US" altLang="ja-JP" dirty="0"/>
              <a:t>Elastic net</a:t>
            </a:r>
            <a:r>
              <a:rPr lang="ja-JP" altLang="en-US" dirty="0"/>
              <a:t>回帰，</a:t>
            </a:r>
            <a:r>
              <a:rPr lang="en-US" altLang="ja-JP" b="1" dirty="0"/>
              <a:t>SVR</a:t>
            </a:r>
            <a:r>
              <a:rPr lang="ja-JP" altLang="en-US" b="1" dirty="0"/>
              <a:t>と</a:t>
            </a:r>
            <a:r>
              <a:rPr lang="en-US" altLang="ja-JP" b="1" dirty="0" err="1"/>
              <a:t>XGBoost</a:t>
            </a:r>
            <a:r>
              <a:rPr lang="ja-JP" altLang="en-US" dirty="0"/>
              <a:t> です。</a:t>
            </a:r>
          </a:p>
          <a:p>
            <a:r>
              <a:rPr lang="ja-JP" altLang="en-US" dirty="0"/>
              <a:t>下に，全モデルに共通する推論の流れを示します。</a:t>
            </a:r>
            <a:br>
              <a:rPr lang="ja-JP" altLang="en-US" dirty="0"/>
            </a:br>
            <a:r>
              <a:rPr lang="ja-JP" altLang="en-US" dirty="0"/>
              <a:t>まず，呼吸計測結果に基づき，呼吸状態が変化してからの（</a:t>
            </a:r>
            <a:r>
              <a:rPr lang="en-US" altLang="ja-JP" dirty="0"/>
              <a:t>start</a:t>
            </a:r>
            <a:r>
              <a:rPr lang="ja-JP" altLang="en-US" dirty="0"/>
              <a:t>）</a:t>
            </a:r>
            <a:r>
              <a:rPr lang="ja-JP" altLang="en-US" b="1" dirty="0"/>
              <a:t>経過時間</a:t>
            </a:r>
            <a:r>
              <a:rPr lang="ja-JP" altLang="en-US" dirty="0"/>
              <a:t>，現在の</a:t>
            </a:r>
            <a:r>
              <a:rPr lang="ja-JP" altLang="en-US" b="1" dirty="0"/>
              <a:t>胸部圧迫力</a:t>
            </a:r>
            <a:r>
              <a:rPr lang="ja-JP" altLang="en-US" dirty="0"/>
              <a:t>，その</a:t>
            </a:r>
            <a:r>
              <a:rPr lang="ja-JP" altLang="en-US" b="1" dirty="0"/>
              <a:t>一次微分値</a:t>
            </a:r>
            <a:r>
              <a:rPr lang="ja-JP" altLang="en-US" dirty="0"/>
              <a:t>および</a:t>
            </a:r>
            <a:r>
              <a:rPr lang="ja-JP" altLang="en-US" b="1" dirty="0"/>
              <a:t>二次微分値</a:t>
            </a:r>
            <a:r>
              <a:rPr lang="ja-JP" altLang="en-US" dirty="0"/>
              <a:t>を算出します。</a:t>
            </a:r>
            <a:br>
              <a:rPr lang="ja-JP" altLang="en-US" dirty="0"/>
            </a:br>
            <a:r>
              <a:rPr lang="ja-JP" altLang="en-US" dirty="0"/>
              <a:t>次に，これらの特徴量を回帰モデルに入力し，現在の呼吸周期内において，どの程度進行しているか，呼吸進行度を推定します。</a:t>
            </a:r>
            <a:endParaRPr lang="en-US" altLang="ja-JP" dirty="0"/>
          </a:p>
          <a:p>
            <a:r>
              <a:rPr lang="ja-JP" altLang="en-US" dirty="0"/>
              <a:t>この呼吸進行度を算出することで，残り呼吸時間を計算することができます．</a:t>
            </a:r>
            <a:endParaRPr lang="en-US" altLang="ja-JP" dirty="0"/>
          </a:p>
          <a:p>
            <a:endParaRPr lang="en-US" altLang="ja-JP" dirty="0"/>
          </a:p>
          <a:p>
            <a:r>
              <a:rPr lang="en-US" altLang="ja-JP" dirty="0"/>
              <a:t>6:42</a:t>
            </a:r>
          </a:p>
          <a:p>
            <a:endParaRPr lang="ja-JP" altLang="en-US" dirty="0"/>
          </a:p>
        </p:txBody>
      </p:sp>
      <p:sp>
        <p:nvSpPr>
          <p:cNvPr id="4" name="スライド番号プレースホルダー 3">
            <a:extLst>
              <a:ext uri="{FF2B5EF4-FFF2-40B4-BE49-F238E27FC236}">
                <a16:creationId xmlns:a16="http://schemas.microsoft.com/office/drawing/2014/main" id="{6FD125A1-1BF4-76C0-96E4-A0A11E955F94}"/>
              </a:ext>
            </a:extLst>
          </p:cNvPr>
          <p:cNvSpPr>
            <a:spLocks noGrp="1"/>
          </p:cNvSpPr>
          <p:nvPr>
            <p:ph type="sldNum" sz="quarter" idx="5"/>
          </p:nvPr>
        </p:nvSpPr>
        <p:spPr/>
        <p:txBody>
          <a:bodyPr/>
          <a:lstStyle/>
          <a:p>
            <a:fld id="{EDE9F3A0-E6A5-44FF-A880-3FD7FF0FE7DC}" type="slidenum">
              <a:rPr kumimoji="1" lang="ja-JP" altLang="en-US" smtClean="0"/>
              <a:t>11</a:t>
            </a:fld>
            <a:endParaRPr kumimoji="1" lang="ja-JP" altLang="en-US"/>
          </a:p>
        </p:txBody>
      </p:sp>
    </p:spTree>
    <p:extLst>
      <p:ext uri="{BB962C8B-B14F-4D97-AF65-F5344CB8AC3E}">
        <p14:creationId xmlns:p14="http://schemas.microsoft.com/office/powerpoint/2010/main" val="1406228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464FC-CAB0-B752-01BD-2B66CE7D803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CDE54F5-145D-1128-D8FD-6701D45F3005}"/>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C9D3730A-210E-A7A0-1CD6-C741D523D22F}"/>
                  </a:ext>
                </a:extLst>
              </p:cNvPr>
              <p:cNvSpPr>
                <a:spLocks noGrp="1"/>
              </p:cNvSpPr>
              <p:nvPr>
                <p:ph type="body" idx="1"/>
              </p:nvPr>
            </p:nvSpPr>
            <p:spPr/>
            <p:txBody>
              <a:bodyPr/>
              <a:lstStyle/>
              <a:p>
                <a:r>
                  <a:rPr lang="ja-JP" altLang="en-US" dirty="0"/>
                  <a:t>では，各モデルを用いた呼吸時間推定について，</a:t>
                </a:r>
                <a:r>
                  <a:rPr lang="ja-JP" altLang="en-US" b="1" dirty="0"/>
                  <a:t>比較</a:t>
                </a:r>
                <a:r>
                  <a:rPr lang="ja-JP" altLang="en-US" dirty="0"/>
                  <a:t>を目的とした実験を行いましたので，その内容について説明します。</a:t>
                </a:r>
              </a:p>
              <a:p>
                <a:r>
                  <a:rPr lang="ja-JP" altLang="en-US" dirty="0"/>
                  <a:t>実験に用いたデータセットは，先ほどの状態判別実験と同一のものです。</a:t>
                </a:r>
              </a:p>
              <a:p>
                <a:r>
                  <a:rPr lang="ja-JP" altLang="en-US" dirty="0"/>
                  <a:t>推定精度の評価には，</a:t>
                </a:r>
                <a:r>
                  <a:rPr lang="en-US" altLang="ja-JP" b="1" dirty="0"/>
                  <a:t>LOPO</a:t>
                </a:r>
                <a:r>
                  <a:rPr lang="ja-JP" altLang="en-US" b="1" dirty="0"/>
                  <a:t>交差検証</a:t>
                </a:r>
                <a:r>
                  <a:rPr lang="ja-JP" altLang="en-US" dirty="0"/>
                  <a:t>を用い，</a:t>
                </a:r>
                <a:br>
                  <a:rPr lang="ja-JP" altLang="en-US" dirty="0"/>
                </a:br>
                <a:r>
                  <a:rPr lang="ja-JP" altLang="en-US" dirty="0"/>
                  <a:t>評価指標として </a:t>
                </a:r>
                <a:r>
                  <a:rPr lang="ja-JP" altLang="en-US" b="1" dirty="0"/>
                  <a:t>決定係数と</a:t>
                </a:r>
                <a:r>
                  <a:rPr lang="en-US" altLang="ja-JP" b="1" dirty="0"/>
                  <a:t>RMSE</a:t>
                </a:r>
                <a:r>
                  <a:rPr lang="ja-JP" altLang="en-US" dirty="0"/>
                  <a:t> を用いました。</a:t>
                </a:r>
                <a:endParaRPr lang="en-US" altLang="ja-JP" dirty="0"/>
              </a:p>
              <a:p>
                <a:endParaRPr lang="en-US" altLang="ja-JP" dirty="0"/>
              </a:p>
              <a:p>
                <a:r>
                  <a:rPr lang="en-US" altLang="ja-JP" dirty="0"/>
                  <a:t>7:10</a:t>
                </a:r>
                <a:endParaRPr lang="ja-JP" altLang="en-US" dirty="0"/>
              </a:p>
            </p:txBody>
          </p:sp>
        </mc:Choice>
        <mc:Fallback xmlns="">
          <p:sp>
            <p:nvSpPr>
              <p:cNvPr id="3" name="ノート プレースホルダー 2">
                <a:extLst>
                  <a:ext uri="{FF2B5EF4-FFF2-40B4-BE49-F238E27FC236}">
                    <a16:creationId xmlns:a16="http://schemas.microsoft.com/office/drawing/2014/main" id="{C9D3730A-210E-A7A0-1CD6-C741D523D22F}"/>
                  </a:ext>
                </a:extLst>
              </p:cNvPr>
              <p:cNvSpPr>
                <a:spLocks noGrp="1"/>
              </p:cNvSpPr>
              <p:nvPr>
                <p:ph type="body" idx="1"/>
              </p:nvPr>
            </p:nvSpPr>
            <p:spPr/>
            <p:txBody>
              <a:bodyPr/>
              <a:lstStyle/>
              <a:p>
                <a:r>
                  <a:rPr lang="ja-JP" altLang="en-US" dirty="0"/>
                  <a:t>次に，</a:t>
                </a:r>
                <a:r>
                  <a:rPr lang="en-US" altLang="ja-JP" dirty="0"/>
                  <a:t>SVR</a:t>
                </a:r>
                <a:r>
                  <a:rPr lang="ja-JP" altLang="en-US" dirty="0"/>
                  <a:t>および</a:t>
                </a:r>
                <a:r>
                  <a:rPr lang="en-US" altLang="ja-JP" dirty="0" err="1"/>
                  <a:t>XGBoost</a:t>
                </a:r>
                <a:r>
                  <a:rPr lang="ja-JP" altLang="en-US" dirty="0"/>
                  <a:t>を用いた呼吸時間推定について，</a:t>
                </a:r>
                <a:r>
                  <a:rPr lang="ja-JP" altLang="en-US" b="1" dirty="0"/>
                  <a:t>推定精度および推論速度の比較</a:t>
                </a:r>
                <a:r>
                  <a:rPr lang="ja-JP" altLang="en-US" dirty="0"/>
                  <a:t>を目的とした実験を行いましたので，その内容について説明します。</a:t>
                </a:r>
              </a:p>
              <a:p>
                <a:r>
                  <a:rPr lang="ja-JP" altLang="en-US" dirty="0"/>
                  <a:t>まず，実験に用いたデータは，先ほど説明した呼吸状態判別実験と同一のデータセットです。</a:t>
                </a:r>
              </a:p>
              <a:p>
                <a:r>
                  <a:rPr lang="ja-JP" altLang="en-US" dirty="0"/>
                  <a:t>呼吸時間推定精度の評価には，</a:t>
                </a:r>
                <a:r>
                  <a:rPr lang="en-US" altLang="ja-JP" b="1" dirty="0"/>
                  <a:t>10-fold Leave-One-Participant-Out</a:t>
                </a:r>
                <a:r>
                  <a:rPr lang="ja-JP" altLang="en-US" b="1" dirty="0"/>
                  <a:t>（</a:t>
                </a:r>
                <a:r>
                  <a:rPr lang="en-US" altLang="ja-JP" b="1" dirty="0"/>
                  <a:t>LOPO</a:t>
                </a:r>
                <a:r>
                  <a:rPr lang="ja-JP" altLang="en-US" b="1" dirty="0"/>
                  <a:t>）交差検証</a:t>
                </a:r>
                <a:r>
                  <a:rPr lang="ja-JP" altLang="en-US" dirty="0"/>
                  <a:t>を用い，</a:t>
                </a:r>
                <a:br>
                  <a:rPr lang="ja-JP" altLang="en-US" dirty="0"/>
                </a:br>
                <a:r>
                  <a:rPr lang="ja-JP" altLang="en-US" dirty="0"/>
                  <a:t>評価指標として </a:t>
                </a:r>
                <a:r>
                  <a:rPr lang="ja-JP" altLang="en-US" b="1" dirty="0"/>
                  <a:t>決定係数 </a:t>
                </a:r>
                <a:r>
                  <a:rPr kumimoji="1" lang="ja-JP" altLang="en-US" sz="1200" i="0" kern="1200">
                    <a:solidFill>
                      <a:schemeClr val="tx1"/>
                    </a:solidFill>
                    <a:latin typeface="+mn-lt"/>
                    <a:ea typeface="+mn-ea"/>
                    <a:cs typeface="+mn-cs"/>
                  </a:rPr>
                  <a:t>𝑅^</a:t>
                </a:r>
                <a:r>
                  <a:rPr kumimoji="1" lang="en-US" altLang="ja-JP" sz="1200" i="0" kern="1200">
                    <a:solidFill>
                      <a:schemeClr val="tx1"/>
                    </a:solidFill>
                    <a:latin typeface="+mn-lt"/>
                    <a:ea typeface="+mn-ea"/>
                    <a:cs typeface="+mn-cs"/>
                  </a:rPr>
                  <a:t>2</a:t>
                </a:r>
                <a:r>
                  <a:rPr lang="ja-JP" altLang="en-US" dirty="0"/>
                  <a:t>および </a:t>
                </a:r>
                <a:r>
                  <a:rPr lang="en-US" altLang="ja-JP" b="1" dirty="0"/>
                  <a:t>RMSE</a:t>
                </a:r>
                <a:r>
                  <a:rPr lang="ja-JP" altLang="en-US" dirty="0"/>
                  <a:t> を用いました。</a:t>
                </a:r>
              </a:p>
            </p:txBody>
          </p:sp>
        </mc:Fallback>
      </mc:AlternateContent>
      <p:sp>
        <p:nvSpPr>
          <p:cNvPr id="4" name="スライド番号プレースホルダー 3">
            <a:extLst>
              <a:ext uri="{FF2B5EF4-FFF2-40B4-BE49-F238E27FC236}">
                <a16:creationId xmlns:a16="http://schemas.microsoft.com/office/drawing/2014/main" id="{3073245F-0C6B-B15E-465F-BD08B8E8472D}"/>
              </a:ext>
            </a:extLst>
          </p:cNvPr>
          <p:cNvSpPr>
            <a:spLocks noGrp="1"/>
          </p:cNvSpPr>
          <p:nvPr>
            <p:ph type="sldNum" sz="quarter" idx="5"/>
          </p:nvPr>
        </p:nvSpPr>
        <p:spPr/>
        <p:txBody>
          <a:bodyPr/>
          <a:lstStyle/>
          <a:p>
            <a:fld id="{EDE9F3A0-E6A5-44FF-A880-3FD7FF0FE7DC}" type="slidenum">
              <a:rPr kumimoji="1" lang="ja-JP" altLang="en-US" smtClean="0"/>
              <a:t>12</a:t>
            </a:fld>
            <a:endParaRPr kumimoji="1" lang="ja-JP" altLang="en-US"/>
          </a:p>
        </p:txBody>
      </p:sp>
    </p:spTree>
    <p:extLst>
      <p:ext uri="{BB962C8B-B14F-4D97-AF65-F5344CB8AC3E}">
        <p14:creationId xmlns:p14="http://schemas.microsoft.com/office/powerpoint/2010/main" val="2830719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A9685-D3EB-679C-3694-E4DF0EC47AD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70CBB7-673D-6F9A-6E65-A05D27CB76C6}"/>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BE31ED45-BDEA-9835-FB3E-99E9EA016A23}"/>
                  </a:ext>
                </a:extLst>
              </p:cNvPr>
              <p:cNvSpPr>
                <a:spLocks noGrp="1"/>
              </p:cNvSpPr>
              <p:nvPr>
                <p:ph type="body" idx="1"/>
              </p:nvPr>
            </p:nvSpPr>
            <p:spPr/>
            <p:txBody>
              <a:bodyPr/>
              <a:lstStyle/>
              <a:p>
                <a:r>
                  <a:rPr lang="ja-JP" altLang="en-US" dirty="0"/>
                  <a:t>こちらに結果を示します。</a:t>
                </a:r>
                <a:br>
                  <a:rPr lang="ja-JP" altLang="en-US" dirty="0"/>
                </a:br>
                <a:r>
                  <a:rPr lang="ja-JP" altLang="en-US" b="1" dirty="0"/>
                  <a:t>吸気・呼気ともに，</a:t>
                </a:r>
                <a:r>
                  <a:rPr lang="en-US" altLang="ja-JP" b="1" dirty="0" err="1"/>
                  <a:t>XGBoost</a:t>
                </a:r>
                <a:r>
                  <a:rPr lang="en-US" altLang="ja-JP" b="1" dirty="0"/>
                  <a:t> </a:t>
                </a:r>
                <a:r>
                  <a:rPr lang="ja-JP" altLang="en-US" b="1" dirty="0"/>
                  <a:t>が最良の精度</a:t>
                </a:r>
                <a:r>
                  <a:rPr lang="ja-JP" altLang="en-US" dirty="0"/>
                  <a:t>を示しました。</a:t>
                </a:r>
              </a:p>
              <a:p>
                <a:r>
                  <a:rPr lang="ja-JP" altLang="en-US" dirty="0"/>
                  <a:t>また，全モデルでリアルタイム性は十分です．</a:t>
                </a:r>
                <a:endParaRPr lang="en-US" altLang="ja-JP" dirty="0"/>
              </a:p>
              <a:p>
                <a:endParaRPr lang="en-US" altLang="ja-JP" dirty="0"/>
              </a:p>
              <a:p>
                <a:r>
                  <a:rPr lang="ja-JP" altLang="en-US" dirty="0"/>
                  <a:t>次に，</a:t>
                </a:r>
                <a:r>
                  <a:rPr lang="en-US" altLang="ja-JP" dirty="0" err="1"/>
                  <a:t>XGBoost</a:t>
                </a:r>
                <a:r>
                  <a:rPr lang="ja-JP" altLang="en-US" dirty="0"/>
                  <a:t>が最良の精度を示した理由について考察しました．これは，決定木による区間分割を繰り返すことで，</a:t>
                </a:r>
                <a:r>
                  <a:rPr lang="ja-JP" altLang="en-US" b="1" dirty="0"/>
                  <a:t>局所的な関係を捉えやすい</a:t>
                </a:r>
                <a:r>
                  <a:rPr lang="ja-JP" altLang="en-US" dirty="0"/>
                  <a:t>点が理由として考えられます。</a:t>
                </a:r>
                <a:endParaRPr lang="en-US" altLang="ja-JP" dirty="0"/>
              </a:p>
              <a:p>
                <a:endParaRPr lang="en-US" altLang="ja-JP" dirty="0"/>
              </a:p>
              <a:p>
                <a:r>
                  <a:rPr lang="en-US" altLang="ja-JP" dirty="0"/>
                  <a:t>7:32</a:t>
                </a:r>
              </a:p>
            </p:txBody>
          </p:sp>
        </mc:Choice>
        <mc:Fallback xmlns="">
          <p:sp>
            <p:nvSpPr>
              <p:cNvPr id="3" name="ノート プレースホルダー 2">
                <a:extLst>
                  <a:ext uri="{FF2B5EF4-FFF2-40B4-BE49-F238E27FC236}">
                    <a16:creationId xmlns:a16="http://schemas.microsoft.com/office/drawing/2014/main" id="{BE31ED45-BDEA-9835-FB3E-99E9EA016A23}"/>
                  </a:ext>
                </a:extLst>
              </p:cNvPr>
              <p:cNvSpPr>
                <a:spLocks noGrp="1"/>
              </p:cNvSpPr>
              <p:nvPr>
                <p:ph type="body" idx="1"/>
              </p:nvPr>
            </p:nvSpPr>
            <p:spPr/>
            <p:txBody>
              <a:bodyPr/>
              <a:lstStyle/>
              <a:p>
                <a:r>
                  <a:rPr lang="ja-JP" altLang="en-US" dirty="0"/>
                  <a:t>こちらに結果を示します。</a:t>
                </a:r>
                <a:br>
                  <a:rPr lang="ja-JP" altLang="en-US" dirty="0"/>
                </a:br>
                <a:r>
                  <a:rPr lang="ja-JP" altLang="en-US" dirty="0"/>
                  <a:t>呼吸時間推定において，</a:t>
                </a:r>
                <a:r>
                  <a:rPr lang="ja-JP" altLang="en-US" b="1" dirty="0"/>
                  <a:t>推定精度および推論速度の両方の観点から，</a:t>
                </a:r>
                <a:r>
                  <a:rPr lang="en-US" altLang="ja-JP" b="1" dirty="0" err="1"/>
                  <a:t>XGBoost</a:t>
                </a:r>
                <a:r>
                  <a:rPr lang="en-US" altLang="ja-JP" b="1" dirty="0"/>
                  <a:t> </a:t>
                </a:r>
                <a:r>
                  <a:rPr lang="ja-JP" altLang="en-US" b="1" dirty="0"/>
                  <a:t>が</a:t>
                </a:r>
                <a:r>
                  <a:rPr lang="en-US" altLang="ja-JP" b="1" dirty="0"/>
                  <a:t>SVR</a:t>
                </a:r>
                <a:r>
                  <a:rPr lang="ja-JP" altLang="en-US" b="1" dirty="0"/>
                  <a:t>を上回る結果</a:t>
                </a:r>
                <a:r>
                  <a:rPr lang="ja-JP" altLang="en-US" dirty="0"/>
                  <a:t>を示しました。</a:t>
                </a:r>
              </a:p>
              <a:p>
                <a:r>
                  <a:rPr lang="en-US" altLang="ja-JP" dirty="0" err="1"/>
                  <a:t>XGBoost</a:t>
                </a:r>
                <a:r>
                  <a:rPr lang="ja-JP" altLang="en-US" dirty="0"/>
                  <a:t>における決定係数 </a:t>
                </a:r>
                <a:r>
                  <a:rPr kumimoji="1" lang="ja-JP" altLang="en-US" sz="1200" i="0" kern="1200">
                    <a:solidFill>
                      <a:schemeClr val="tx1"/>
                    </a:solidFill>
                    <a:latin typeface="+mn-lt"/>
                    <a:ea typeface="+mn-ea"/>
                    <a:cs typeface="+mn-cs"/>
                  </a:rPr>
                  <a:t>𝑅^</a:t>
                </a:r>
                <a:r>
                  <a:rPr kumimoji="1" lang="en-US" altLang="ja-JP" sz="1200" i="0" kern="1200">
                    <a:solidFill>
                      <a:schemeClr val="tx1"/>
                    </a:solidFill>
                    <a:latin typeface="+mn-lt"/>
                    <a:ea typeface="+mn-ea"/>
                    <a:cs typeface="+mn-cs"/>
                  </a:rPr>
                  <a:t>2</a:t>
                </a:r>
                <a:r>
                  <a:rPr lang="ja-JP" altLang="en-US" dirty="0"/>
                  <a:t>は，吸気および呼気のいずれにおいても </a:t>
                </a:r>
                <a:r>
                  <a:rPr lang="ja-JP" altLang="en-US" b="1" dirty="0"/>
                  <a:t>約</a:t>
                </a:r>
                <a:r>
                  <a:rPr lang="en-US" altLang="ja-JP" b="1" dirty="0"/>
                  <a:t>0.86</a:t>
                </a:r>
                <a:r>
                  <a:rPr lang="ja-JP" altLang="en-US" dirty="0"/>
                  <a:t> と高い値を示しました。</a:t>
                </a:r>
                <a:br>
                  <a:rPr lang="ja-JP" altLang="en-US" dirty="0"/>
                </a:br>
                <a:r>
                  <a:rPr lang="ja-JP" altLang="en-US" dirty="0"/>
                  <a:t>また，</a:t>
                </a:r>
                <a:r>
                  <a:rPr lang="en-US" altLang="ja-JP" dirty="0"/>
                  <a:t>RMSE</a:t>
                </a:r>
                <a:r>
                  <a:rPr lang="ja-JP" altLang="en-US" dirty="0"/>
                  <a:t>は </a:t>
                </a:r>
                <a:r>
                  <a:rPr lang="ja-JP" altLang="en-US" b="1" dirty="0"/>
                  <a:t>約</a:t>
                </a:r>
                <a:r>
                  <a:rPr lang="en-US" altLang="ja-JP" b="1" dirty="0"/>
                  <a:t>10</a:t>
                </a:r>
                <a:r>
                  <a:rPr lang="ja-JP" altLang="en-US" b="1" dirty="0"/>
                  <a:t>％</a:t>
                </a:r>
                <a:r>
                  <a:rPr lang="ja-JP" altLang="en-US" dirty="0"/>
                  <a:t> 程度であり，十分に高い推定精度が得られていることが分かります。</a:t>
                </a:r>
              </a:p>
              <a:p>
                <a:r>
                  <a:rPr lang="ja-JP" altLang="en-US" dirty="0"/>
                  <a:t>右に，</a:t>
                </a:r>
                <a:r>
                  <a:rPr lang="en-US" altLang="ja-JP" dirty="0" err="1"/>
                  <a:t>XGBoost</a:t>
                </a:r>
                <a:r>
                  <a:rPr lang="ja-JP" altLang="en-US" dirty="0"/>
                  <a:t>を用いた呼吸時間推定における残差プロットを示します。</a:t>
                </a:r>
                <a:br>
                  <a:rPr lang="ja-JP" altLang="en-US" dirty="0"/>
                </a:br>
                <a:r>
                  <a:rPr lang="ja-JP" altLang="en-US" dirty="0"/>
                  <a:t>この図から，残差が正負に偏ることなく分布しており，</a:t>
                </a:r>
                <a:r>
                  <a:rPr lang="ja-JP" altLang="en-US" b="1" dirty="0"/>
                  <a:t>特定の呼吸時間に対する系統的な過大・過小推定が少ないこと</a:t>
                </a:r>
                <a:r>
                  <a:rPr lang="ja-JP" altLang="en-US" dirty="0"/>
                  <a:t>が確認できます。</a:t>
                </a:r>
                <a:endParaRPr lang="en-US" altLang="ja-JP" dirty="0"/>
              </a:p>
              <a:p>
                <a:endParaRPr lang="en-US" altLang="ja-JP" dirty="0"/>
              </a:p>
              <a:p>
                <a:r>
                  <a:rPr lang="ja-JP" altLang="en-US" dirty="0"/>
                  <a:t>次に，</a:t>
                </a:r>
                <a:r>
                  <a:rPr lang="en-US" altLang="ja-JP" dirty="0" err="1"/>
                  <a:t>XGBoost</a:t>
                </a:r>
                <a:r>
                  <a:rPr lang="ja-JP" altLang="en-US" dirty="0"/>
                  <a:t>の方が高い推定精度を示した理由について考察します。</a:t>
                </a:r>
                <a:br>
                  <a:rPr lang="ja-JP" altLang="en-US" dirty="0"/>
                </a:br>
                <a:r>
                  <a:rPr lang="en-US" altLang="ja-JP" dirty="0" err="1"/>
                  <a:t>XGBoost</a:t>
                </a:r>
                <a:r>
                  <a:rPr lang="ja-JP" altLang="en-US" dirty="0"/>
                  <a:t>は，決定木による区間分割を繰り返すことで，特徴量と呼吸時間との間に存在する</a:t>
                </a:r>
                <a:r>
                  <a:rPr lang="ja-JP" altLang="en-US" b="1" dirty="0"/>
                  <a:t>非連続かつ局所的な関係を捉えやすい</a:t>
                </a:r>
                <a:r>
                  <a:rPr lang="ja-JP" altLang="en-US" dirty="0"/>
                  <a:t>点が，精度向上に寄与したと考えられます。</a:t>
                </a:r>
              </a:p>
              <a:p>
                <a:r>
                  <a:rPr lang="ja-JP" altLang="en-US" dirty="0"/>
                  <a:t>また，</a:t>
                </a:r>
                <a:r>
                  <a:rPr lang="en-US" altLang="ja-JP" dirty="0" err="1"/>
                  <a:t>XGBoost</a:t>
                </a:r>
                <a:r>
                  <a:rPr lang="ja-JP" altLang="en-US" dirty="0"/>
                  <a:t>を用いた推定において高速な推論が可能であった理由として，</a:t>
                </a:r>
                <a:r>
                  <a:rPr lang="ja-JP" altLang="en-US" b="1" dirty="0"/>
                  <a:t>木構造に基づく分岐計算のみで推論が行える</a:t>
                </a:r>
                <a:r>
                  <a:rPr lang="ja-JP" altLang="en-US" dirty="0"/>
                  <a:t>点が考えられます。</a:t>
                </a:r>
              </a:p>
            </p:txBody>
          </p:sp>
        </mc:Fallback>
      </mc:AlternateContent>
      <p:sp>
        <p:nvSpPr>
          <p:cNvPr id="4" name="スライド番号プレースホルダー 3">
            <a:extLst>
              <a:ext uri="{FF2B5EF4-FFF2-40B4-BE49-F238E27FC236}">
                <a16:creationId xmlns:a16="http://schemas.microsoft.com/office/drawing/2014/main" id="{3A133230-04C0-BE94-FF49-660B7E74A0E5}"/>
              </a:ext>
            </a:extLst>
          </p:cNvPr>
          <p:cNvSpPr>
            <a:spLocks noGrp="1"/>
          </p:cNvSpPr>
          <p:nvPr>
            <p:ph type="sldNum" sz="quarter" idx="5"/>
          </p:nvPr>
        </p:nvSpPr>
        <p:spPr/>
        <p:txBody>
          <a:bodyPr/>
          <a:lstStyle/>
          <a:p>
            <a:fld id="{EDE9F3A0-E6A5-44FF-A880-3FD7FF0FE7DC}" type="slidenum">
              <a:rPr kumimoji="1" lang="ja-JP" altLang="en-US" smtClean="0"/>
              <a:t>13</a:t>
            </a:fld>
            <a:endParaRPr kumimoji="1" lang="ja-JP" altLang="en-US"/>
          </a:p>
        </p:txBody>
      </p:sp>
    </p:spTree>
    <p:extLst>
      <p:ext uri="{BB962C8B-B14F-4D97-AF65-F5344CB8AC3E}">
        <p14:creationId xmlns:p14="http://schemas.microsoft.com/office/powerpoint/2010/main" val="293463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dirty="0">
                <a:solidFill>
                  <a:srgbClr val="000000"/>
                </a:solidFill>
                <a:latin typeface="Segoe UI" panose="020B0502040204020203" pitchFamily="34" charset="0"/>
                <a:ea typeface="Meiryo UI" panose="020B0604030504040204" pitchFamily="50" charset="-128"/>
                <a:cs typeface="Arial" panose="020B0604020202020204" pitchFamily="34" charset="0"/>
              </a:rPr>
              <a:t>最後にまとめを示します．模擬患者の自発呼吸に同期した呼吸音再生システムの構築</a:t>
            </a:r>
            <a:r>
              <a:rPr kumimoji="1" lang="ja-JP" altLang="en-US" sz="1200" b="0" dirty="0">
                <a:solidFill>
                  <a:srgbClr val="000000"/>
                </a:solidFill>
                <a:latin typeface="Segoe UI" panose="020B0502040204020203" pitchFamily="34" charset="0"/>
                <a:ea typeface="Meiryo UI" panose="020B0604030504040204" pitchFamily="50" charset="-128"/>
                <a:cs typeface="Arial" panose="020B0604020202020204" pitchFamily="34" charset="0"/>
              </a:rPr>
              <a:t>を目的として，呼吸状態判別ならびに呼吸時間推定に取り組みました．</a:t>
            </a:r>
            <a:endParaRPr kumimoji="1" lang="en-US" altLang="ja-JP" sz="1200" b="0" dirty="0">
              <a:solidFill>
                <a:srgbClr val="000000"/>
              </a:solidFill>
              <a:latin typeface="Segoe UI" panose="020B0502040204020203" pitchFamily="34" charset="0"/>
              <a:ea typeface="Meiryo UI" panose="020B0604030504040204" pitchFamily="50"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rgbClr val="000000"/>
                </a:solidFill>
                <a:latin typeface="Segoe UI" panose="020B0502040204020203" pitchFamily="34" charset="0"/>
                <a:ea typeface="Meiryo UI" panose="020B0604030504040204" pitchFamily="50" charset="-128"/>
                <a:cs typeface="Arial" panose="020B0604020202020204" pitchFamily="34" charset="0"/>
              </a:rPr>
              <a:t>こちらはともに最良モデルにおいて十分な精度と推論速度であることが確認されました．</a:t>
            </a:r>
            <a:endParaRPr kumimoji="1" lang="en-US" altLang="ja-JP" sz="1200" b="0" dirty="0">
              <a:solidFill>
                <a:srgbClr val="000000"/>
              </a:solidFill>
              <a:latin typeface="Segoe UI" panose="020B0502040204020203" pitchFamily="34" charset="0"/>
              <a:ea typeface="Meiryo UI" panose="020B0604030504040204" pitchFamily="50"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dirty="0">
              <a:solidFill>
                <a:srgbClr val="000000"/>
              </a:solidFill>
              <a:latin typeface="Segoe UI" panose="020B0502040204020203" pitchFamily="34" charset="0"/>
              <a:ea typeface="Meiryo UI" panose="020B0604030504040204" pitchFamily="50" charset="-128"/>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dirty="0">
                <a:solidFill>
                  <a:srgbClr val="000000"/>
                </a:solidFill>
                <a:latin typeface="Segoe UI" panose="020B0502040204020203" pitchFamily="34" charset="0"/>
                <a:ea typeface="Meiryo UI" panose="020B0604030504040204" pitchFamily="50" charset="-128"/>
                <a:cs typeface="Arial" panose="020B0604020202020204" pitchFamily="34" charset="0"/>
              </a:rPr>
              <a:t>今後の展望としては，</a:t>
            </a:r>
            <a:endParaRPr kumimoji="1" lang="en-US" altLang="ja-JP" sz="1200" b="0" dirty="0">
              <a:solidFill>
                <a:srgbClr val="000000"/>
              </a:solidFill>
              <a:latin typeface="Segoe UI" panose="020B0502040204020203" pitchFamily="34" charset="0"/>
              <a:ea typeface="Meiryo UI" panose="020B0604030504040204" pitchFamily="50" charset="-128"/>
              <a:cs typeface="Arial" panose="020B0604020202020204" pitchFamily="34" charset="0"/>
            </a:endParaRPr>
          </a:p>
        </p:txBody>
      </p:sp>
      <p:sp>
        <p:nvSpPr>
          <p:cNvPr id="4" name="スライド番号プレースホルダー 3"/>
          <p:cNvSpPr>
            <a:spLocks noGrp="1"/>
          </p:cNvSpPr>
          <p:nvPr>
            <p:ph type="sldNum" sz="quarter" idx="5"/>
          </p:nvPr>
        </p:nvSpPr>
        <p:spPr/>
        <p:txBody>
          <a:bodyPr/>
          <a:lstStyle/>
          <a:p>
            <a:fld id="{4AF5F9EB-9B1C-47BC-A9C1-47B5298E617F}" type="slidenum">
              <a:rPr kumimoji="1" lang="ja-JP" altLang="en-US" smtClean="0"/>
              <a:t>14</a:t>
            </a:fld>
            <a:endParaRPr kumimoji="1" lang="ja-JP" altLang="en-US"/>
          </a:p>
        </p:txBody>
      </p:sp>
    </p:spTree>
    <p:extLst>
      <p:ext uri="{BB962C8B-B14F-4D97-AF65-F5344CB8AC3E}">
        <p14:creationId xmlns:p14="http://schemas.microsoft.com/office/powerpoint/2010/main" val="3213078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570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12" name="楕円 11">
            <a:extLst>
              <a:ext uri="{FF2B5EF4-FFF2-40B4-BE49-F238E27FC236}">
                <a16:creationId xmlns:a16="http://schemas.microsoft.com/office/drawing/2014/main" id="{87691080-419D-A04C-A433-4C14C690EA0A}"/>
              </a:ext>
            </a:extLst>
          </p:cNvPr>
          <p:cNvSpPr/>
          <p:nvPr userDrawn="1"/>
        </p:nvSpPr>
        <p:spPr>
          <a:xfrm>
            <a:off x="11153869" y="0"/>
            <a:ext cx="769544" cy="7695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5FF09E35-AE0D-8761-E265-3FF2F0E7C9BF}"/>
              </a:ext>
            </a:extLst>
          </p:cNvPr>
          <p:cNvSpPr/>
          <p:nvPr userDrawn="1"/>
        </p:nvSpPr>
        <p:spPr>
          <a:xfrm>
            <a:off x="0" y="0"/>
            <a:ext cx="12192000" cy="76972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87F4253E-B0AE-9601-5ABA-74A1491C59F4}"/>
              </a:ext>
            </a:extLst>
          </p:cNvPr>
          <p:cNvSpPr/>
          <p:nvPr userDrawn="1"/>
        </p:nvSpPr>
        <p:spPr>
          <a:xfrm>
            <a:off x="11042973" y="49411"/>
            <a:ext cx="980835" cy="657956"/>
          </a:xfrm>
          <a:prstGeom prst="ellipse">
            <a:avLst/>
          </a:prstGeom>
          <a:solidFill>
            <a:schemeClr val="bg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スライド番号プレースホルダー 5">
            <a:extLst>
              <a:ext uri="{FF2B5EF4-FFF2-40B4-BE49-F238E27FC236}">
                <a16:creationId xmlns:a16="http://schemas.microsoft.com/office/drawing/2014/main" id="{4DA4F3A4-DBDB-73A9-9DA5-EC90A5C72B2F}"/>
              </a:ext>
            </a:extLst>
          </p:cNvPr>
          <p:cNvSpPr>
            <a:spLocks noGrp="1"/>
          </p:cNvSpPr>
          <p:nvPr>
            <p:ph type="sldNum" sz="quarter" idx="12"/>
          </p:nvPr>
        </p:nvSpPr>
        <p:spPr>
          <a:xfrm>
            <a:off x="11078220" y="217415"/>
            <a:ext cx="910340" cy="321949"/>
          </a:xfrm>
          <a:prstGeom prst="rect">
            <a:avLst/>
          </a:prstGeom>
          <a:ln>
            <a:noFill/>
          </a:ln>
        </p:spPr>
        <p:txBody>
          <a:bodyPr/>
          <a:lstStyle>
            <a:lvl1pPr algn="ctr">
              <a:defRPr sz="3600" b="1">
                <a:solidFill>
                  <a:schemeClr val="tx1"/>
                </a:solidFill>
              </a:defRPr>
            </a:lvl1pPr>
          </a:lstStyle>
          <a:p>
            <a:fld id="{A9F150B5-AA06-4E70-A665-05DE61C22C04}" type="slidenum">
              <a:rPr lang="ja-JP" altLang="en-US" smtClean="0"/>
              <a:pPr/>
              <a:t>‹#›</a:t>
            </a:fld>
            <a:endParaRPr lang="ja-JP" altLang="en-US" dirty="0"/>
          </a:p>
        </p:txBody>
      </p:sp>
      <p:sp>
        <p:nvSpPr>
          <p:cNvPr id="10" name="タイトル 1">
            <a:extLst>
              <a:ext uri="{FF2B5EF4-FFF2-40B4-BE49-F238E27FC236}">
                <a16:creationId xmlns:a16="http://schemas.microsoft.com/office/drawing/2014/main" id="{E3208FF4-4432-D0BE-F4FC-CC03878E67BA}"/>
              </a:ext>
            </a:extLst>
          </p:cNvPr>
          <p:cNvSpPr>
            <a:spLocks noGrp="1"/>
          </p:cNvSpPr>
          <p:nvPr>
            <p:ph type="title"/>
          </p:nvPr>
        </p:nvSpPr>
        <p:spPr>
          <a:xfrm>
            <a:off x="1090333" y="60112"/>
            <a:ext cx="6807200" cy="686914"/>
          </a:xfrm>
          <a:prstGeom prst="rect">
            <a:avLst/>
          </a:prstGeom>
        </p:spPr>
        <p:txBody>
          <a:bodyPr wrap="none"/>
          <a:lstStyle>
            <a:lvl1pPr algn="l">
              <a:defRPr sz="3600" b="1" baseline="0">
                <a:solidFill>
                  <a:sysClr val="windowText" lastClr="000000"/>
                </a:solidFill>
                <a:latin typeface="Segoe UI" panose="020B0502040204020203" pitchFamily="34" charset="0"/>
                <a:ea typeface="Meiryo UI" panose="020B0604030504040204" pitchFamily="50" charset="-128"/>
              </a:defRPr>
            </a:lvl1pPr>
          </a:lstStyle>
          <a:p>
            <a:r>
              <a:rPr kumimoji="1" lang="ja-JP" altLang="en-US" dirty="0"/>
              <a:t>マスター タイトルの書式設定</a:t>
            </a:r>
          </a:p>
        </p:txBody>
      </p:sp>
      <p:pic>
        <p:nvPicPr>
          <p:cNvPr id="11" name="Picture 2" descr="E:\002-KIMS BUSINESS\007-02-Fullslidesppt-Contents\20161216\Stethoscope as symbol of medicine PowerPoint Templates\main-item-01.png">
            <a:extLst>
              <a:ext uri="{FF2B5EF4-FFF2-40B4-BE49-F238E27FC236}">
                <a16:creationId xmlns:a16="http://schemas.microsoft.com/office/drawing/2014/main" id="{D12E96A2-5F38-4945-E7AB-676B9F880E84}"/>
              </a:ext>
            </a:extLst>
          </p:cNvPr>
          <p:cNvPicPr>
            <a:picLocks noChangeAspect="1" noChangeArrowheads="1"/>
          </p:cNvPicPr>
          <p:nvPr userDrawn="1"/>
        </p:nvPicPr>
        <p:blipFill>
          <a:blip r:embed="rId2" cstate="print">
            <a:clrChange>
              <a:clrFrom>
                <a:srgbClr val="000000">
                  <a:alpha val="0"/>
                </a:srgbClr>
              </a:clrFrom>
              <a:clrTo>
                <a:srgbClr val="000000">
                  <a:alpha val="0"/>
                </a:srgbClr>
              </a:clrTo>
            </a:clrChange>
            <a:extLst>
              <a:ext uri="{BEBA8EAE-BF5A-486C-A8C5-ECC9F3942E4B}">
                <a14:imgProps xmlns:a14="http://schemas.microsoft.com/office/drawing/2010/main">
                  <a14:imgLayer r:embed="rId3">
                    <a14:imgEffect>
                      <a14:sharpenSoften amount="50000"/>
                    </a14:imgEffect>
                    <a14:imgEffect>
                      <a14:colorTemperature colorTemp="47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322423" y="113081"/>
            <a:ext cx="733996" cy="544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0635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12" name="楕円 11">
            <a:extLst>
              <a:ext uri="{FF2B5EF4-FFF2-40B4-BE49-F238E27FC236}">
                <a16:creationId xmlns:a16="http://schemas.microsoft.com/office/drawing/2014/main" id="{87691080-419D-A04C-A433-4C14C690EA0A}"/>
              </a:ext>
            </a:extLst>
          </p:cNvPr>
          <p:cNvSpPr/>
          <p:nvPr userDrawn="1"/>
        </p:nvSpPr>
        <p:spPr>
          <a:xfrm>
            <a:off x="11153869" y="0"/>
            <a:ext cx="769544" cy="7695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5FF09E35-AE0D-8761-E265-3FF2F0E7C9BF}"/>
              </a:ext>
            </a:extLst>
          </p:cNvPr>
          <p:cNvSpPr/>
          <p:nvPr userDrawn="1"/>
        </p:nvSpPr>
        <p:spPr>
          <a:xfrm>
            <a:off x="0" y="0"/>
            <a:ext cx="12192000" cy="769729"/>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lt1"/>
              </a:solidFill>
            </a:endParaRPr>
          </a:p>
        </p:txBody>
      </p:sp>
      <p:sp>
        <p:nvSpPr>
          <p:cNvPr id="8" name="楕円 7">
            <a:extLst>
              <a:ext uri="{FF2B5EF4-FFF2-40B4-BE49-F238E27FC236}">
                <a16:creationId xmlns:a16="http://schemas.microsoft.com/office/drawing/2014/main" id="{87F4253E-B0AE-9601-5ABA-74A1491C59F4}"/>
              </a:ext>
            </a:extLst>
          </p:cNvPr>
          <p:cNvSpPr/>
          <p:nvPr userDrawn="1"/>
        </p:nvSpPr>
        <p:spPr>
          <a:xfrm>
            <a:off x="10963921" y="49411"/>
            <a:ext cx="1062739" cy="657956"/>
          </a:xfrm>
          <a:prstGeom prst="ellipse">
            <a:avLst/>
          </a:prstGeom>
          <a:solidFill>
            <a:schemeClr val="bg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スライド番号プレースホルダー 5">
            <a:extLst>
              <a:ext uri="{FF2B5EF4-FFF2-40B4-BE49-F238E27FC236}">
                <a16:creationId xmlns:a16="http://schemas.microsoft.com/office/drawing/2014/main" id="{4DA4F3A4-DBDB-73A9-9DA5-EC90A5C72B2F}"/>
              </a:ext>
            </a:extLst>
          </p:cNvPr>
          <p:cNvSpPr>
            <a:spLocks noGrp="1"/>
          </p:cNvSpPr>
          <p:nvPr>
            <p:ph type="sldNum" sz="quarter" idx="12"/>
          </p:nvPr>
        </p:nvSpPr>
        <p:spPr>
          <a:xfrm>
            <a:off x="11040120" y="217415"/>
            <a:ext cx="910340" cy="321949"/>
          </a:xfrm>
          <a:prstGeom prst="rect">
            <a:avLst/>
          </a:prstGeom>
          <a:ln>
            <a:noFill/>
          </a:ln>
        </p:spPr>
        <p:txBody>
          <a:bodyPr/>
          <a:lstStyle>
            <a:lvl1pPr algn="ctr">
              <a:defRPr sz="3600" b="1">
                <a:solidFill>
                  <a:schemeClr val="tx1"/>
                </a:solidFill>
              </a:defRPr>
            </a:lvl1pPr>
          </a:lstStyle>
          <a:p>
            <a:fld id="{A9F150B5-AA06-4E70-A665-05DE61C22C04}" type="slidenum">
              <a:rPr lang="ja-JP" altLang="en-US" smtClean="0"/>
              <a:pPr/>
              <a:t>‹#›</a:t>
            </a:fld>
            <a:endParaRPr lang="ja-JP" altLang="en-US" dirty="0"/>
          </a:p>
        </p:txBody>
      </p:sp>
      <p:sp>
        <p:nvSpPr>
          <p:cNvPr id="10" name="タイトル 1">
            <a:extLst>
              <a:ext uri="{FF2B5EF4-FFF2-40B4-BE49-F238E27FC236}">
                <a16:creationId xmlns:a16="http://schemas.microsoft.com/office/drawing/2014/main" id="{E3208FF4-4432-D0BE-F4FC-CC03878E67BA}"/>
              </a:ext>
            </a:extLst>
          </p:cNvPr>
          <p:cNvSpPr>
            <a:spLocks noGrp="1"/>
          </p:cNvSpPr>
          <p:nvPr>
            <p:ph type="title"/>
          </p:nvPr>
        </p:nvSpPr>
        <p:spPr>
          <a:xfrm>
            <a:off x="1090333" y="60112"/>
            <a:ext cx="6807200" cy="686914"/>
          </a:xfrm>
          <a:prstGeom prst="rect">
            <a:avLst/>
          </a:prstGeom>
        </p:spPr>
        <p:txBody>
          <a:bodyPr wrap="none"/>
          <a:lstStyle>
            <a:lvl1pPr algn="l">
              <a:defRPr sz="3600" b="1" baseline="0">
                <a:ln>
                  <a:noFill/>
                </a:ln>
                <a:solidFill>
                  <a:sysClr val="windowText" lastClr="000000"/>
                </a:solidFill>
                <a:effectLst/>
                <a:latin typeface="Segoe UI" panose="020B0502040204020203" pitchFamily="34" charset="0"/>
                <a:ea typeface="Meiryo UI" panose="020B0604030504040204" pitchFamily="50" charset="-128"/>
              </a:defRPr>
            </a:lvl1pPr>
          </a:lstStyle>
          <a:p>
            <a:r>
              <a:rPr kumimoji="1" lang="ja-JP" altLang="en-US" dirty="0"/>
              <a:t>マスター タイトルの書式設定</a:t>
            </a:r>
          </a:p>
        </p:txBody>
      </p:sp>
      <p:pic>
        <p:nvPicPr>
          <p:cNvPr id="11" name="Picture 2" descr="E:\002-KIMS BUSINESS\007-02-Fullslidesppt-Contents\20161216\Stethoscope as symbol of medicine PowerPoint Templates\main-item-01.png">
            <a:extLst>
              <a:ext uri="{FF2B5EF4-FFF2-40B4-BE49-F238E27FC236}">
                <a16:creationId xmlns:a16="http://schemas.microsoft.com/office/drawing/2014/main" id="{D12E96A2-5F38-4945-E7AB-676B9F880E84}"/>
              </a:ext>
            </a:extLst>
          </p:cNvPr>
          <p:cNvPicPr>
            <a:picLocks noChangeAspect="1" noChangeArrowheads="1"/>
          </p:cNvPicPr>
          <p:nvPr userDrawn="1"/>
        </p:nvPicPr>
        <p:blipFill>
          <a:blip r:embed="rId2" cstate="print">
            <a:clrChange>
              <a:clrFrom>
                <a:srgbClr val="000000">
                  <a:alpha val="0"/>
                </a:srgbClr>
              </a:clrFrom>
              <a:clrTo>
                <a:srgbClr val="000000">
                  <a:alpha val="0"/>
                </a:srgbClr>
              </a:clrTo>
            </a:clrChange>
            <a:extLst>
              <a:ext uri="{BEBA8EAE-BF5A-486C-A8C5-ECC9F3942E4B}">
                <a14:imgProps xmlns:a14="http://schemas.microsoft.com/office/drawing/2010/main">
                  <a14:imgLayer r:embed="rId3">
                    <a14:imgEffect>
                      <a14:sharpenSoften amount="50000"/>
                    </a14:imgEffect>
                    <a14:imgEffect>
                      <a14:colorTemperature colorTemp="47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322423" y="113081"/>
            <a:ext cx="733996" cy="544764"/>
          </a:xfrm>
          <a:prstGeom prst="rect">
            <a:avLst/>
          </a:prstGeom>
          <a:noFill/>
          <a:extLst>
            <a:ext uri="{909E8E84-426E-40DD-AFC4-6F175D3DCCD1}">
              <a14:hiddenFill xmlns:a14="http://schemas.microsoft.com/office/drawing/2010/main">
                <a:solidFill>
                  <a:srgbClr val="FFFFFF"/>
                </a:solidFill>
              </a14:hiddenFill>
            </a:ext>
          </a:extLst>
        </p:spPr>
      </p:pic>
      <p:cxnSp>
        <p:nvCxnSpPr>
          <p:cNvPr id="2" name="直線コネクタ 1">
            <a:extLst>
              <a:ext uri="{FF2B5EF4-FFF2-40B4-BE49-F238E27FC236}">
                <a16:creationId xmlns:a16="http://schemas.microsoft.com/office/drawing/2014/main" id="{7CEF835D-359E-895A-9941-CEA121BF9E6B}"/>
              </a:ext>
            </a:extLst>
          </p:cNvPr>
          <p:cNvCxnSpPr>
            <a:cxnSpLocks/>
          </p:cNvCxnSpPr>
          <p:nvPr userDrawn="1"/>
        </p:nvCxnSpPr>
        <p:spPr>
          <a:xfrm flipV="1">
            <a:off x="-600" y="769729"/>
            <a:ext cx="12193200" cy="0"/>
          </a:xfrm>
          <a:prstGeom prst="line">
            <a:avLst/>
          </a:prstGeom>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9802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spTree>
      <p:nvGrpSpPr>
        <p:cNvPr id="1" name=""/>
        <p:cNvGrpSpPr/>
        <p:nvPr/>
      </p:nvGrpSpPr>
      <p:grpSpPr>
        <a:xfrm>
          <a:off x="0" y="0"/>
          <a:ext cx="0" cy="0"/>
          <a:chOff x="0" y="0"/>
          <a:chExt cx="0" cy="0"/>
        </a:xfrm>
      </p:grpSpPr>
      <p:sp>
        <p:nvSpPr>
          <p:cNvPr id="12" name="楕円 11">
            <a:extLst>
              <a:ext uri="{FF2B5EF4-FFF2-40B4-BE49-F238E27FC236}">
                <a16:creationId xmlns:a16="http://schemas.microsoft.com/office/drawing/2014/main" id="{87691080-419D-A04C-A433-4C14C690EA0A}"/>
              </a:ext>
            </a:extLst>
          </p:cNvPr>
          <p:cNvSpPr/>
          <p:nvPr userDrawn="1"/>
        </p:nvSpPr>
        <p:spPr>
          <a:xfrm>
            <a:off x="11153869" y="0"/>
            <a:ext cx="769544" cy="7695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5FF09E35-AE0D-8761-E265-3FF2F0E7C9BF}"/>
              </a:ext>
            </a:extLst>
          </p:cNvPr>
          <p:cNvSpPr/>
          <p:nvPr userDrawn="1"/>
        </p:nvSpPr>
        <p:spPr>
          <a:xfrm>
            <a:off x="0" y="0"/>
            <a:ext cx="12192000" cy="769729"/>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87F4253E-B0AE-9601-5ABA-74A1491C59F4}"/>
              </a:ext>
            </a:extLst>
          </p:cNvPr>
          <p:cNvSpPr/>
          <p:nvPr userDrawn="1"/>
        </p:nvSpPr>
        <p:spPr>
          <a:xfrm>
            <a:off x="10963921" y="49411"/>
            <a:ext cx="1062739" cy="657956"/>
          </a:xfrm>
          <a:prstGeom prst="ellipse">
            <a:avLst/>
          </a:prstGeom>
          <a:solidFill>
            <a:schemeClr val="bg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スライド番号プレースホルダー 5">
            <a:extLst>
              <a:ext uri="{FF2B5EF4-FFF2-40B4-BE49-F238E27FC236}">
                <a16:creationId xmlns:a16="http://schemas.microsoft.com/office/drawing/2014/main" id="{4DA4F3A4-DBDB-73A9-9DA5-EC90A5C72B2F}"/>
              </a:ext>
            </a:extLst>
          </p:cNvPr>
          <p:cNvSpPr>
            <a:spLocks noGrp="1"/>
          </p:cNvSpPr>
          <p:nvPr>
            <p:ph type="sldNum" sz="quarter" idx="12"/>
          </p:nvPr>
        </p:nvSpPr>
        <p:spPr>
          <a:xfrm>
            <a:off x="11040120" y="217415"/>
            <a:ext cx="910340" cy="321949"/>
          </a:xfrm>
          <a:prstGeom prst="rect">
            <a:avLst/>
          </a:prstGeom>
          <a:ln>
            <a:noFill/>
          </a:ln>
        </p:spPr>
        <p:txBody>
          <a:bodyPr/>
          <a:lstStyle>
            <a:lvl1pPr algn="ctr">
              <a:defRPr sz="3600" b="1">
                <a:solidFill>
                  <a:schemeClr val="tx1"/>
                </a:solidFill>
              </a:defRPr>
            </a:lvl1pPr>
          </a:lstStyle>
          <a:p>
            <a:fld id="{A9F150B5-AA06-4E70-A665-05DE61C22C04}" type="slidenum">
              <a:rPr lang="ja-JP" altLang="en-US" smtClean="0"/>
              <a:pPr/>
              <a:t>‹#›</a:t>
            </a:fld>
            <a:endParaRPr lang="ja-JP" altLang="en-US" dirty="0"/>
          </a:p>
        </p:txBody>
      </p:sp>
      <p:sp>
        <p:nvSpPr>
          <p:cNvPr id="10" name="タイトル 1">
            <a:extLst>
              <a:ext uri="{FF2B5EF4-FFF2-40B4-BE49-F238E27FC236}">
                <a16:creationId xmlns:a16="http://schemas.microsoft.com/office/drawing/2014/main" id="{E3208FF4-4432-D0BE-F4FC-CC03878E67BA}"/>
              </a:ext>
            </a:extLst>
          </p:cNvPr>
          <p:cNvSpPr>
            <a:spLocks noGrp="1"/>
          </p:cNvSpPr>
          <p:nvPr>
            <p:ph type="title"/>
          </p:nvPr>
        </p:nvSpPr>
        <p:spPr>
          <a:xfrm>
            <a:off x="1090333" y="60112"/>
            <a:ext cx="6807200" cy="686914"/>
          </a:xfrm>
          <a:prstGeom prst="rect">
            <a:avLst/>
          </a:prstGeom>
        </p:spPr>
        <p:txBody>
          <a:bodyPr wrap="none"/>
          <a:lstStyle>
            <a:lvl1pPr algn="l">
              <a:defRPr sz="3600" b="1" baseline="0">
                <a:solidFill>
                  <a:sysClr val="windowText" lastClr="000000"/>
                </a:solidFill>
                <a:latin typeface="Segoe UI" panose="020B0502040204020203" pitchFamily="34" charset="0"/>
                <a:ea typeface="Meiryo UI" panose="020B0604030504040204" pitchFamily="50" charset="-128"/>
              </a:defRPr>
            </a:lvl1pPr>
          </a:lstStyle>
          <a:p>
            <a:r>
              <a:rPr kumimoji="1" lang="ja-JP" altLang="en-US" dirty="0"/>
              <a:t>マスター タイトルの書式設定</a:t>
            </a:r>
          </a:p>
        </p:txBody>
      </p:sp>
      <p:pic>
        <p:nvPicPr>
          <p:cNvPr id="11" name="Picture 2" descr="E:\002-KIMS BUSINESS\007-02-Fullslidesppt-Contents\20161216\Stethoscope as symbol of medicine PowerPoint Templates\main-item-01.png">
            <a:extLst>
              <a:ext uri="{FF2B5EF4-FFF2-40B4-BE49-F238E27FC236}">
                <a16:creationId xmlns:a16="http://schemas.microsoft.com/office/drawing/2014/main" id="{D12E96A2-5F38-4945-E7AB-676B9F880E84}"/>
              </a:ext>
            </a:extLst>
          </p:cNvPr>
          <p:cNvPicPr>
            <a:picLocks noChangeAspect="1" noChangeArrowheads="1"/>
          </p:cNvPicPr>
          <p:nvPr userDrawn="1"/>
        </p:nvPicPr>
        <p:blipFill>
          <a:blip r:embed="rId2" cstate="print">
            <a:clrChange>
              <a:clrFrom>
                <a:srgbClr val="000000">
                  <a:alpha val="0"/>
                </a:srgbClr>
              </a:clrFrom>
              <a:clrTo>
                <a:srgbClr val="000000">
                  <a:alpha val="0"/>
                </a:srgbClr>
              </a:clrTo>
            </a:clrChange>
            <a:extLst>
              <a:ext uri="{BEBA8EAE-BF5A-486C-A8C5-ECC9F3942E4B}">
                <a14:imgProps xmlns:a14="http://schemas.microsoft.com/office/drawing/2010/main">
                  <a14:imgLayer r:embed="rId3">
                    <a14:imgEffect>
                      <a14:sharpenSoften amount="50000"/>
                    </a14:imgEffect>
                    <a14:imgEffect>
                      <a14:colorTemperature colorTemp="47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322423" y="113081"/>
            <a:ext cx="733996" cy="544764"/>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線コネクタ 2">
            <a:extLst>
              <a:ext uri="{FF2B5EF4-FFF2-40B4-BE49-F238E27FC236}">
                <a16:creationId xmlns:a16="http://schemas.microsoft.com/office/drawing/2014/main" id="{17546DFA-1A83-BA5C-44A0-FD110F5C05FA}"/>
              </a:ext>
            </a:extLst>
          </p:cNvPr>
          <p:cNvCxnSpPr>
            <a:cxnSpLocks/>
          </p:cNvCxnSpPr>
          <p:nvPr userDrawn="1"/>
        </p:nvCxnSpPr>
        <p:spPr>
          <a:xfrm flipV="1">
            <a:off x="-600" y="769729"/>
            <a:ext cx="12193200" cy="0"/>
          </a:xfrm>
          <a:prstGeom prst="line">
            <a:avLst/>
          </a:prstGeom>
          <a:ln w="571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2978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511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8486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A2EAFA-F9E7-FC65-846A-5103A794A17D}"/>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02330BE-6818-5539-0A6A-C1E6477E39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13BE9D1-2E18-5518-3BB6-98FFEEF2290D}"/>
              </a:ext>
            </a:extLst>
          </p:cNvPr>
          <p:cNvSpPr>
            <a:spLocks noGrp="1"/>
          </p:cNvSpPr>
          <p:nvPr>
            <p:ph type="dt" sz="half" idx="10"/>
          </p:nvPr>
        </p:nvSpPr>
        <p:spPr/>
        <p:txBody>
          <a:bodyPr/>
          <a:lstStyle/>
          <a:p>
            <a:fld id="{34F9F91B-8F8C-4292-83B5-9CEABDE70A2B}" type="datetime1">
              <a:rPr kumimoji="1" lang="ja-JP" altLang="en-US" smtClean="0"/>
              <a:t>2026/2/15</a:t>
            </a:fld>
            <a:endParaRPr kumimoji="1" lang="ja-JP" altLang="en-US"/>
          </a:p>
        </p:txBody>
      </p:sp>
      <p:sp>
        <p:nvSpPr>
          <p:cNvPr id="5" name="フッター プレースホルダー 4">
            <a:extLst>
              <a:ext uri="{FF2B5EF4-FFF2-40B4-BE49-F238E27FC236}">
                <a16:creationId xmlns:a16="http://schemas.microsoft.com/office/drawing/2014/main" id="{BDF61370-7E95-2888-9A3E-EF4790A2F1B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03BE389-9D73-CE7F-D65D-576E8900B60B}"/>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3095312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AF5D42C-2D42-2BD1-41A2-B23CE59BA74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E829F75-6D22-DA5A-852C-42E4F7945878}"/>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EC7768E-9711-7DB4-E6AF-04D00BF542F4}"/>
              </a:ext>
            </a:extLst>
          </p:cNvPr>
          <p:cNvSpPr>
            <a:spLocks noGrp="1"/>
          </p:cNvSpPr>
          <p:nvPr>
            <p:ph type="dt" sz="half" idx="10"/>
          </p:nvPr>
        </p:nvSpPr>
        <p:spPr/>
        <p:txBody>
          <a:bodyPr/>
          <a:lstStyle/>
          <a:p>
            <a:fld id="{E9D14409-DC8D-4830-B67D-8CB24FFFD51A}" type="datetime1">
              <a:rPr kumimoji="1" lang="ja-JP" altLang="en-US" smtClean="0"/>
              <a:t>2026/2/15</a:t>
            </a:fld>
            <a:endParaRPr kumimoji="1" lang="ja-JP" altLang="en-US"/>
          </a:p>
        </p:txBody>
      </p:sp>
      <p:sp>
        <p:nvSpPr>
          <p:cNvPr id="5" name="フッター プレースホルダー 4">
            <a:extLst>
              <a:ext uri="{FF2B5EF4-FFF2-40B4-BE49-F238E27FC236}">
                <a16:creationId xmlns:a16="http://schemas.microsoft.com/office/drawing/2014/main" id="{6B438AEC-BF36-EE14-3B0F-5A045ED1928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22B6BD9-E29A-0329-0DF5-34E36D2ED07B}"/>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576955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491E51-17C1-7E5E-9F77-DBC7E754831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69AF1341-0F2B-C142-C423-70EF6AA283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31294C7-A1D9-9FCF-CF50-9B72324E0BB1}"/>
              </a:ext>
            </a:extLst>
          </p:cNvPr>
          <p:cNvSpPr>
            <a:spLocks noGrp="1"/>
          </p:cNvSpPr>
          <p:nvPr>
            <p:ph type="dt" sz="half" idx="10"/>
          </p:nvPr>
        </p:nvSpPr>
        <p:spPr/>
        <p:txBody>
          <a:bodyPr/>
          <a:lstStyle/>
          <a:p>
            <a:fld id="{18C674FD-3C2F-4AE0-9FAF-0F78AF7F2352}" type="datetime1">
              <a:rPr kumimoji="1" lang="ja-JP" altLang="en-US" smtClean="0"/>
              <a:t>2026/2/15</a:t>
            </a:fld>
            <a:endParaRPr kumimoji="1" lang="ja-JP" altLang="en-US"/>
          </a:p>
        </p:txBody>
      </p:sp>
      <p:sp>
        <p:nvSpPr>
          <p:cNvPr id="5" name="フッター プレースホルダー 4">
            <a:extLst>
              <a:ext uri="{FF2B5EF4-FFF2-40B4-BE49-F238E27FC236}">
                <a16:creationId xmlns:a16="http://schemas.microsoft.com/office/drawing/2014/main" id="{9C5C9FD6-388B-91BD-3A27-AF42060286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061F63B-BFE1-649D-1252-7C3E671BA1C2}"/>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3058732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DD3C0C-05D6-D1A4-48F3-34041BC68EF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83A64A7-0681-CA56-5800-E94C371B5819}"/>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A338091-778E-3716-91DD-2E4276B2070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0506788A-2659-40EF-8D07-14E0F16314B1}"/>
              </a:ext>
            </a:extLst>
          </p:cNvPr>
          <p:cNvSpPr>
            <a:spLocks noGrp="1"/>
          </p:cNvSpPr>
          <p:nvPr>
            <p:ph type="dt" sz="half" idx="10"/>
          </p:nvPr>
        </p:nvSpPr>
        <p:spPr/>
        <p:txBody>
          <a:bodyPr/>
          <a:lstStyle/>
          <a:p>
            <a:fld id="{3C6CD003-2170-4972-B093-8F3C3D3255D9}" type="datetime1">
              <a:rPr kumimoji="1" lang="ja-JP" altLang="en-US" smtClean="0"/>
              <a:t>2026/2/15</a:t>
            </a:fld>
            <a:endParaRPr kumimoji="1" lang="ja-JP" altLang="en-US"/>
          </a:p>
        </p:txBody>
      </p:sp>
      <p:sp>
        <p:nvSpPr>
          <p:cNvPr id="6" name="フッター プレースホルダー 5">
            <a:extLst>
              <a:ext uri="{FF2B5EF4-FFF2-40B4-BE49-F238E27FC236}">
                <a16:creationId xmlns:a16="http://schemas.microsoft.com/office/drawing/2014/main" id="{67C8030C-C39F-8F28-CB80-4D19C9652F3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9B08095-E2A4-91AE-DA50-EF84A278D68C}"/>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173375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03C7DC-3765-0353-4816-54B2A58CBB6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F1203A-5752-630E-69D9-9FADDEEAC1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8EE6163-8092-A1AC-5782-C697F69151AB}"/>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24DD080-CCB8-0B0B-557D-F7D3816613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2E1F26BC-2F97-29C1-0DDF-E4AAB707BFE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4CCB3FA-C151-6683-1E7A-3C9A63034A2E}"/>
              </a:ext>
            </a:extLst>
          </p:cNvPr>
          <p:cNvSpPr>
            <a:spLocks noGrp="1"/>
          </p:cNvSpPr>
          <p:nvPr>
            <p:ph type="dt" sz="half" idx="10"/>
          </p:nvPr>
        </p:nvSpPr>
        <p:spPr/>
        <p:txBody>
          <a:bodyPr/>
          <a:lstStyle/>
          <a:p>
            <a:fld id="{B47B5BEA-B023-4D06-8678-9E7F266BC980}" type="datetime1">
              <a:rPr kumimoji="1" lang="ja-JP" altLang="en-US" smtClean="0"/>
              <a:t>2026/2/15</a:t>
            </a:fld>
            <a:endParaRPr kumimoji="1" lang="ja-JP" altLang="en-US"/>
          </a:p>
        </p:txBody>
      </p:sp>
      <p:sp>
        <p:nvSpPr>
          <p:cNvPr id="8" name="フッター プレースホルダー 7">
            <a:extLst>
              <a:ext uri="{FF2B5EF4-FFF2-40B4-BE49-F238E27FC236}">
                <a16:creationId xmlns:a16="http://schemas.microsoft.com/office/drawing/2014/main" id="{E2BAA54A-45FE-FE92-786E-732494F4A343}"/>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530C3CA-FC48-8AB5-6305-A24D2F14F322}"/>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18175031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3732A3-E53D-618B-686A-A9B2955802F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2268D842-D03A-D03A-DF66-304865DD5BE2}"/>
              </a:ext>
            </a:extLst>
          </p:cNvPr>
          <p:cNvSpPr>
            <a:spLocks noGrp="1"/>
          </p:cNvSpPr>
          <p:nvPr>
            <p:ph type="dt" sz="half" idx="10"/>
          </p:nvPr>
        </p:nvSpPr>
        <p:spPr/>
        <p:txBody>
          <a:bodyPr/>
          <a:lstStyle/>
          <a:p>
            <a:fld id="{4B4AFD9D-D8E0-4EE0-B2C6-13F13DEA8427}" type="datetime1">
              <a:rPr kumimoji="1" lang="ja-JP" altLang="en-US" smtClean="0"/>
              <a:t>2026/2/15</a:t>
            </a:fld>
            <a:endParaRPr kumimoji="1" lang="ja-JP" altLang="en-US"/>
          </a:p>
        </p:txBody>
      </p:sp>
      <p:sp>
        <p:nvSpPr>
          <p:cNvPr id="4" name="フッター プレースホルダー 3">
            <a:extLst>
              <a:ext uri="{FF2B5EF4-FFF2-40B4-BE49-F238E27FC236}">
                <a16:creationId xmlns:a16="http://schemas.microsoft.com/office/drawing/2014/main" id="{B3B369B6-6DD9-2725-EE33-9B9B805F680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EC56B2F-89B2-EF09-48CC-111D5E35FB73}"/>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174918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2EC27CD0-C594-2EE3-3B3E-0F2AFF582EEE}"/>
              </a:ext>
            </a:extLst>
          </p:cNvPr>
          <p:cNvSpPr>
            <a:spLocks noGrp="1"/>
          </p:cNvSpPr>
          <p:nvPr>
            <p:ph type="dt" sz="half" idx="10"/>
          </p:nvPr>
        </p:nvSpPr>
        <p:spPr/>
        <p:txBody>
          <a:bodyPr/>
          <a:lstStyle/>
          <a:p>
            <a:fld id="{7A7D06CB-A91E-4445-90B2-C6E2DCECC9F6}" type="datetime1">
              <a:rPr kumimoji="1" lang="ja-JP" altLang="en-US" smtClean="0"/>
              <a:t>2026/2/15</a:t>
            </a:fld>
            <a:endParaRPr kumimoji="1" lang="ja-JP" altLang="en-US"/>
          </a:p>
        </p:txBody>
      </p:sp>
      <p:sp>
        <p:nvSpPr>
          <p:cNvPr id="3" name="フッター プレースホルダー 2">
            <a:extLst>
              <a:ext uri="{FF2B5EF4-FFF2-40B4-BE49-F238E27FC236}">
                <a16:creationId xmlns:a16="http://schemas.microsoft.com/office/drawing/2014/main" id="{73511265-109B-FEBD-EE27-03157E322EA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778BAE1-F017-2D66-1851-118F00902A59}"/>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17777518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9E77FA-A3C5-A74C-8B22-CEEFFB5A83F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5FA92CC-A7FF-D12F-AABE-55CB78D3DC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92D8713-283A-2EFB-E209-F0D931C14F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12F4EE0-4EC1-497E-AAE1-64DBE2E00AA9}"/>
              </a:ext>
            </a:extLst>
          </p:cNvPr>
          <p:cNvSpPr>
            <a:spLocks noGrp="1"/>
          </p:cNvSpPr>
          <p:nvPr>
            <p:ph type="dt" sz="half" idx="10"/>
          </p:nvPr>
        </p:nvSpPr>
        <p:spPr/>
        <p:txBody>
          <a:bodyPr/>
          <a:lstStyle/>
          <a:p>
            <a:fld id="{7D6BA71E-68A7-4EA3-85FA-7F5DB0FD64F8}" type="datetime1">
              <a:rPr kumimoji="1" lang="ja-JP" altLang="en-US" smtClean="0"/>
              <a:t>2026/2/15</a:t>
            </a:fld>
            <a:endParaRPr kumimoji="1" lang="ja-JP" altLang="en-US"/>
          </a:p>
        </p:txBody>
      </p:sp>
      <p:sp>
        <p:nvSpPr>
          <p:cNvPr id="6" name="フッター プレースホルダー 5">
            <a:extLst>
              <a:ext uri="{FF2B5EF4-FFF2-40B4-BE49-F238E27FC236}">
                <a16:creationId xmlns:a16="http://schemas.microsoft.com/office/drawing/2014/main" id="{400ADC9C-3AE1-DA03-2254-85DF4B7BFFA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FE7B70F-AB2F-1C93-9BA5-A9B7EC5B7AFB}"/>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33904981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9659C7-5784-B5E9-FC90-ABD48B52474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6108858-1640-5402-1416-04ED5C7086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29B4D40-F617-B41D-7550-AC83108F83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10E7AC5-F32A-81D8-4E80-63B3C9309CF3}"/>
              </a:ext>
            </a:extLst>
          </p:cNvPr>
          <p:cNvSpPr>
            <a:spLocks noGrp="1"/>
          </p:cNvSpPr>
          <p:nvPr>
            <p:ph type="dt" sz="half" idx="10"/>
          </p:nvPr>
        </p:nvSpPr>
        <p:spPr/>
        <p:txBody>
          <a:bodyPr/>
          <a:lstStyle/>
          <a:p>
            <a:fld id="{3E87E68F-369E-4D65-B480-3E7E67EE3E94}" type="datetime1">
              <a:rPr kumimoji="1" lang="ja-JP" altLang="en-US" smtClean="0"/>
              <a:t>2026/2/15</a:t>
            </a:fld>
            <a:endParaRPr kumimoji="1" lang="ja-JP" altLang="en-US"/>
          </a:p>
        </p:txBody>
      </p:sp>
      <p:sp>
        <p:nvSpPr>
          <p:cNvPr id="6" name="フッター プレースホルダー 5">
            <a:extLst>
              <a:ext uri="{FF2B5EF4-FFF2-40B4-BE49-F238E27FC236}">
                <a16:creationId xmlns:a16="http://schemas.microsoft.com/office/drawing/2014/main" id="{67B5A676-1909-4847-B8AB-9F91592C486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A81CBB5-4ACC-9F89-7D8B-FA20ACECDFF5}"/>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30674161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AD9C4A-A9FC-9593-F259-8346D578507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00184CC-55B2-A65F-B816-30CDA3E62A8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1A40F80-30FB-0E10-37C4-164C001B14F9}"/>
              </a:ext>
            </a:extLst>
          </p:cNvPr>
          <p:cNvSpPr>
            <a:spLocks noGrp="1"/>
          </p:cNvSpPr>
          <p:nvPr>
            <p:ph type="dt" sz="half" idx="10"/>
          </p:nvPr>
        </p:nvSpPr>
        <p:spPr/>
        <p:txBody>
          <a:bodyPr/>
          <a:lstStyle/>
          <a:p>
            <a:fld id="{57634B6F-4AE8-4898-8E34-E5067B016923}" type="datetime1">
              <a:rPr kumimoji="1" lang="ja-JP" altLang="en-US" smtClean="0"/>
              <a:t>2026/2/15</a:t>
            </a:fld>
            <a:endParaRPr kumimoji="1" lang="ja-JP" altLang="en-US"/>
          </a:p>
        </p:txBody>
      </p:sp>
      <p:sp>
        <p:nvSpPr>
          <p:cNvPr id="5" name="フッター プレースホルダー 4">
            <a:extLst>
              <a:ext uri="{FF2B5EF4-FFF2-40B4-BE49-F238E27FC236}">
                <a16:creationId xmlns:a16="http://schemas.microsoft.com/office/drawing/2014/main" id="{58845AD1-9A04-932F-59B5-7B2C0E18C6F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E24375A-BD9D-877E-D555-743C1805C7C2}"/>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11025220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FEA38A-88FA-CBAF-02F8-ACFA5E6ADF5C}"/>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F82AEB0-3F5E-901E-75B8-D72298BE60D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4884B10-247E-AD3D-568E-4B751A22632A}"/>
              </a:ext>
            </a:extLst>
          </p:cNvPr>
          <p:cNvSpPr>
            <a:spLocks noGrp="1"/>
          </p:cNvSpPr>
          <p:nvPr>
            <p:ph type="dt" sz="half" idx="10"/>
          </p:nvPr>
        </p:nvSpPr>
        <p:spPr/>
        <p:txBody>
          <a:bodyPr/>
          <a:lstStyle/>
          <a:p>
            <a:fld id="{C4BF5EDE-A36C-4419-9F9C-A93AFE126D6A}" type="datetime1">
              <a:rPr kumimoji="1" lang="ja-JP" altLang="en-US" smtClean="0"/>
              <a:t>2026/2/15</a:t>
            </a:fld>
            <a:endParaRPr kumimoji="1" lang="ja-JP" altLang="en-US"/>
          </a:p>
        </p:txBody>
      </p:sp>
      <p:sp>
        <p:nvSpPr>
          <p:cNvPr id="5" name="フッター プレースホルダー 4">
            <a:extLst>
              <a:ext uri="{FF2B5EF4-FFF2-40B4-BE49-F238E27FC236}">
                <a16:creationId xmlns:a16="http://schemas.microsoft.com/office/drawing/2014/main" id="{7B636D6C-2031-67AC-86F1-C6AA7A9A1C3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4711633-3935-CDDF-9F47-61825723BAAB}"/>
              </a:ext>
            </a:extLst>
          </p:cNvPr>
          <p:cNvSpPr>
            <a:spLocks noGrp="1"/>
          </p:cNvSpPr>
          <p:nvPr>
            <p:ph type="sldNum" sz="quarter" idx="12"/>
          </p:nvPr>
        </p:nvSpPr>
        <p:spPr/>
        <p:txBody>
          <a:bodyPr/>
          <a:lstStyle/>
          <a:p>
            <a:fld id="{98DF71F1-EF4B-4528-BECB-288F95CD71A3}" type="slidenum">
              <a:rPr kumimoji="1" lang="ja-JP" altLang="en-US" smtClean="0"/>
              <a:t>‹#›</a:t>
            </a:fld>
            <a:endParaRPr kumimoji="1" lang="ja-JP" altLang="en-US"/>
          </a:p>
        </p:txBody>
      </p:sp>
    </p:spTree>
    <p:extLst>
      <p:ext uri="{BB962C8B-B14F-4D97-AF65-F5344CB8AC3E}">
        <p14:creationId xmlns:p14="http://schemas.microsoft.com/office/powerpoint/2010/main" val="11726655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sp>
        <p:nvSpPr>
          <p:cNvPr id="12" name="楕円 11">
            <a:extLst>
              <a:ext uri="{FF2B5EF4-FFF2-40B4-BE49-F238E27FC236}">
                <a16:creationId xmlns:a16="http://schemas.microsoft.com/office/drawing/2014/main" id="{87691080-419D-A04C-A433-4C14C690EA0A}"/>
              </a:ext>
            </a:extLst>
          </p:cNvPr>
          <p:cNvSpPr/>
          <p:nvPr userDrawn="1"/>
        </p:nvSpPr>
        <p:spPr>
          <a:xfrm>
            <a:off x="11153869" y="0"/>
            <a:ext cx="769544" cy="76954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5FF09E35-AE0D-8761-E265-3FF2F0E7C9BF}"/>
              </a:ext>
            </a:extLst>
          </p:cNvPr>
          <p:cNvSpPr/>
          <p:nvPr userDrawn="1"/>
        </p:nvSpPr>
        <p:spPr>
          <a:xfrm>
            <a:off x="0" y="0"/>
            <a:ext cx="12192000" cy="769729"/>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87F4253E-B0AE-9601-5ABA-74A1491C59F4}"/>
              </a:ext>
            </a:extLst>
          </p:cNvPr>
          <p:cNvSpPr/>
          <p:nvPr userDrawn="1"/>
        </p:nvSpPr>
        <p:spPr>
          <a:xfrm>
            <a:off x="11025188" y="49411"/>
            <a:ext cx="1001472" cy="657956"/>
          </a:xfrm>
          <a:prstGeom prst="ellipse">
            <a:avLst/>
          </a:prstGeom>
          <a:solidFill>
            <a:schemeClr val="bg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スライド番号プレースホルダー 5">
            <a:extLst>
              <a:ext uri="{FF2B5EF4-FFF2-40B4-BE49-F238E27FC236}">
                <a16:creationId xmlns:a16="http://schemas.microsoft.com/office/drawing/2014/main" id="{4DA4F3A4-DBDB-73A9-9DA5-EC90A5C72B2F}"/>
              </a:ext>
            </a:extLst>
          </p:cNvPr>
          <p:cNvSpPr>
            <a:spLocks noGrp="1"/>
          </p:cNvSpPr>
          <p:nvPr>
            <p:ph type="sldNum" sz="quarter" idx="12"/>
          </p:nvPr>
        </p:nvSpPr>
        <p:spPr>
          <a:xfrm>
            <a:off x="11070754" y="217415"/>
            <a:ext cx="910340" cy="321949"/>
          </a:xfrm>
          <a:prstGeom prst="rect">
            <a:avLst/>
          </a:prstGeom>
          <a:ln>
            <a:noFill/>
          </a:ln>
        </p:spPr>
        <p:txBody>
          <a:bodyPr/>
          <a:lstStyle>
            <a:lvl1pPr algn="ctr">
              <a:defRPr sz="3600" b="1">
                <a:solidFill>
                  <a:schemeClr val="tx1"/>
                </a:solidFill>
              </a:defRPr>
            </a:lvl1pPr>
          </a:lstStyle>
          <a:p>
            <a:fld id="{A9F150B5-AA06-4E70-A665-05DE61C22C04}" type="slidenum">
              <a:rPr lang="ja-JP" altLang="en-US" smtClean="0"/>
              <a:pPr/>
              <a:t>‹#›</a:t>
            </a:fld>
            <a:endParaRPr lang="ja-JP" altLang="en-US" dirty="0"/>
          </a:p>
        </p:txBody>
      </p:sp>
      <p:sp>
        <p:nvSpPr>
          <p:cNvPr id="10" name="タイトル 1">
            <a:extLst>
              <a:ext uri="{FF2B5EF4-FFF2-40B4-BE49-F238E27FC236}">
                <a16:creationId xmlns:a16="http://schemas.microsoft.com/office/drawing/2014/main" id="{E3208FF4-4432-D0BE-F4FC-CC03878E67BA}"/>
              </a:ext>
            </a:extLst>
          </p:cNvPr>
          <p:cNvSpPr>
            <a:spLocks noGrp="1"/>
          </p:cNvSpPr>
          <p:nvPr>
            <p:ph type="title"/>
          </p:nvPr>
        </p:nvSpPr>
        <p:spPr>
          <a:xfrm>
            <a:off x="1090333" y="60112"/>
            <a:ext cx="6807200" cy="686914"/>
          </a:xfrm>
          <a:prstGeom prst="rect">
            <a:avLst/>
          </a:prstGeom>
        </p:spPr>
        <p:txBody>
          <a:bodyPr wrap="none"/>
          <a:lstStyle>
            <a:lvl1pPr algn="l">
              <a:defRPr sz="3600" b="1" baseline="0">
                <a:solidFill>
                  <a:sysClr val="windowText" lastClr="000000"/>
                </a:solidFill>
                <a:latin typeface="Segoe UI" panose="020B0502040204020203" pitchFamily="34" charset="0"/>
                <a:ea typeface="Meiryo UI" panose="020B0604030504040204" pitchFamily="50" charset="-128"/>
              </a:defRPr>
            </a:lvl1pPr>
          </a:lstStyle>
          <a:p>
            <a:r>
              <a:rPr kumimoji="1" lang="ja-JP" altLang="en-US" dirty="0"/>
              <a:t>マスター タイトルの書式設定</a:t>
            </a:r>
          </a:p>
        </p:txBody>
      </p:sp>
      <p:pic>
        <p:nvPicPr>
          <p:cNvPr id="11" name="Picture 2" descr="E:\002-KIMS BUSINESS\007-02-Fullslidesppt-Contents\20161216\Stethoscope as symbol of medicine PowerPoint Templates\main-item-01.png">
            <a:extLst>
              <a:ext uri="{FF2B5EF4-FFF2-40B4-BE49-F238E27FC236}">
                <a16:creationId xmlns:a16="http://schemas.microsoft.com/office/drawing/2014/main" id="{D12E96A2-5F38-4945-E7AB-676B9F880E84}"/>
              </a:ext>
            </a:extLst>
          </p:cNvPr>
          <p:cNvPicPr>
            <a:picLocks noChangeAspect="1" noChangeArrowheads="1"/>
          </p:cNvPicPr>
          <p:nvPr userDrawn="1"/>
        </p:nvPicPr>
        <p:blipFill>
          <a:blip r:embed="rId2" cstate="print">
            <a:clrChange>
              <a:clrFrom>
                <a:srgbClr val="000000">
                  <a:alpha val="0"/>
                </a:srgbClr>
              </a:clrFrom>
              <a:clrTo>
                <a:srgbClr val="000000">
                  <a:alpha val="0"/>
                </a:srgbClr>
              </a:clrTo>
            </a:clrChange>
            <a:extLst>
              <a:ext uri="{BEBA8EAE-BF5A-486C-A8C5-ECC9F3942E4B}">
                <a14:imgProps xmlns:a14="http://schemas.microsoft.com/office/drawing/2010/main">
                  <a14:imgLayer r:embed="rId3">
                    <a14:imgEffect>
                      <a14:sharpenSoften amount="50000"/>
                    </a14:imgEffect>
                    <a14:imgEffect>
                      <a14:colorTemperature colorTemp="47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322423" y="113081"/>
            <a:ext cx="733996" cy="544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196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1F2C94-1569-6F50-0B1D-3EF4095CF9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9F3BFE2-6BE7-F934-37B4-DF2CF5132D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CF0F966-DE6F-51D1-8CE1-2E4F414CB7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B8CCDC-3D5D-4F64-B5D5-5DBB619D8B40}" type="datetime1">
              <a:rPr kumimoji="1" lang="ja-JP" altLang="en-US" smtClean="0"/>
              <a:t>2026/2/15</a:t>
            </a:fld>
            <a:endParaRPr kumimoji="1" lang="ja-JP" altLang="en-US"/>
          </a:p>
        </p:txBody>
      </p:sp>
      <p:sp>
        <p:nvSpPr>
          <p:cNvPr id="5" name="フッター プレースホルダー 4">
            <a:extLst>
              <a:ext uri="{FF2B5EF4-FFF2-40B4-BE49-F238E27FC236}">
                <a16:creationId xmlns:a16="http://schemas.microsoft.com/office/drawing/2014/main" id="{B733F391-4B66-A807-97AB-972898F59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38262F5-A37E-5B15-34F5-F320406F24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DF71F1-EF4B-4528-BECB-288F95CD71A3}" type="slidenum">
              <a:rPr kumimoji="1" lang="ja-JP" altLang="en-US" smtClean="0"/>
              <a:t>‹#›</a:t>
            </a:fld>
            <a:endParaRPr kumimoji="1" lang="ja-JP" altLang="en-US" dirty="0"/>
          </a:p>
        </p:txBody>
      </p:sp>
    </p:spTree>
    <p:extLst>
      <p:ext uri="{BB962C8B-B14F-4D97-AF65-F5344CB8AC3E}">
        <p14:creationId xmlns:p14="http://schemas.microsoft.com/office/powerpoint/2010/main" val="33548192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49" r:id="rId7"/>
    <p:sldLayoutId id="2147483650"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 id="2147483659" r:id="rId17"/>
    <p:sldLayoutId id="2147483660" r:id="rId18"/>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image" Target="../media/image5.jpeg"/><Relationship Id="rId3" Type="http://schemas.microsoft.com/office/2007/relationships/media" Target="../media/media2.mp4"/><Relationship Id="rId7" Type="http://schemas.openxmlformats.org/officeDocument/2006/relationships/image" Target="../media/image4.jpg"/><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2.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microsoft.com/office/2007/relationships/hdphoto" Target="../media/hdphoto2.wdp"/><Relationship Id="rId3" Type="http://schemas.microsoft.com/office/2007/relationships/media" Target="../media/media4.mp4"/><Relationship Id="rId7" Type="http://schemas.openxmlformats.org/officeDocument/2006/relationships/image" Target="../media/image7.pn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3.xml"/><Relationship Id="rId5" Type="http://schemas.openxmlformats.org/officeDocument/2006/relationships/slideLayout" Target="../slideLayouts/slideLayout2.xml"/><Relationship Id="rId10" Type="http://schemas.openxmlformats.org/officeDocument/2006/relationships/image" Target="../media/image9.png"/><Relationship Id="rId4" Type="http://schemas.openxmlformats.org/officeDocument/2006/relationships/video" Target="../media/media4.mp4"/><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4.wdp"/><Relationship Id="rId5" Type="http://schemas.openxmlformats.org/officeDocument/2006/relationships/image" Target="../media/image11.png"/><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572FB-DD3D-2981-089F-CB1369CB4B32}"/>
            </a:ext>
          </a:extLst>
        </p:cNvPr>
        <p:cNvGrpSpPr/>
        <p:nvPr/>
      </p:nvGrpSpPr>
      <p:grpSpPr>
        <a:xfrm>
          <a:off x="0" y="0"/>
          <a:ext cx="0" cy="0"/>
          <a:chOff x="0" y="0"/>
          <a:chExt cx="0" cy="0"/>
        </a:xfrm>
      </p:grpSpPr>
      <p:sp>
        <p:nvSpPr>
          <p:cNvPr id="21" name="正方形/長方形 20">
            <a:extLst>
              <a:ext uri="{FF2B5EF4-FFF2-40B4-BE49-F238E27FC236}">
                <a16:creationId xmlns:a16="http://schemas.microsoft.com/office/drawing/2014/main" id="{92506D2E-104D-3FD2-E3D1-DBF7B095E4F7}"/>
              </a:ext>
            </a:extLst>
          </p:cNvPr>
          <p:cNvSpPr/>
          <p:nvPr/>
        </p:nvSpPr>
        <p:spPr>
          <a:xfrm>
            <a:off x="-1" y="1468256"/>
            <a:ext cx="12192000" cy="1594032"/>
          </a:xfrm>
          <a:prstGeom prst="rect">
            <a:avLst/>
          </a:prstGeom>
          <a:solidFill>
            <a:schemeClr val="bg1">
              <a:lumMod val="85000"/>
            </a:schemeClr>
          </a:solidFill>
          <a:ln w="12700" cap="flat" cmpd="sng" algn="ctr">
            <a:no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Segoe UI" panose="020B0502040204020203" pitchFamily="34" charset="0"/>
              <a:ea typeface="Meiryo UI" panose="020B0604030504040204" pitchFamily="50" charset="-128"/>
              <a:cs typeface="+mn-cs"/>
            </a:endParaRPr>
          </a:p>
        </p:txBody>
      </p:sp>
      <p:sp>
        <p:nvSpPr>
          <p:cNvPr id="23" name="正方形/長方形 22">
            <a:extLst>
              <a:ext uri="{FF2B5EF4-FFF2-40B4-BE49-F238E27FC236}">
                <a16:creationId xmlns:a16="http://schemas.microsoft.com/office/drawing/2014/main" id="{DE873A4D-B85D-BB10-B6F0-AD619CA71448}"/>
              </a:ext>
            </a:extLst>
          </p:cNvPr>
          <p:cNvSpPr/>
          <p:nvPr/>
        </p:nvSpPr>
        <p:spPr>
          <a:xfrm flipV="1">
            <a:off x="-1" y="3055122"/>
            <a:ext cx="12192000" cy="127000"/>
          </a:xfrm>
          <a:prstGeom prst="rect">
            <a:avLst/>
          </a:prstGeom>
          <a:solidFill>
            <a:schemeClr val="accent1">
              <a:lumMod val="60000"/>
              <a:lumOff val="40000"/>
            </a:schemeClr>
          </a:solidFill>
          <a:ln w="12700" cap="flat" cmpd="sng" algn="ctr">
            <a:noFill/>
            <a:prstDash val="solid"/>
            <a:miter lim="800000"/>
          </a:ln>
          <a:effectLst>
            <a:outerShdw blurRad="50800" dist="38100" dir="5400000" algn="t" rotWithShape="0">
              <a:prstClr val="black">
                <a:alpha val="40000"/>
              </a:prstClr>
            </a:outerShdw>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Segoe UI" panose="020B0502040204020203" pitchFamily="34" charset="0"/>
              <a:ea typeface="Meiryo UI" panose="020B0604030504040204" pitchFamily="50" charset="-128"/>
              <a:cs typeface="+mn-cs"/>
            </a:endParaRPr>
          </a:p>
        </p:txBody>
      </p:sp>
      <p:pic>
        <p:nvPicPr>
          <p:cNvPr id="25" name="図 24" descr="テキスト が含まれている画像&#10;&#10;自動的に生成された説明">
            <a:extLst>
              <a:ext uri="{FF2B5EF4-FFF2-40B4-BE49-F238E27FC236}">
                <a16:creationId xmlns:a16="http://schemas.microsoft.com/office/drawing/2014/main" id="{1C873281-527B-5840-9AAC-94068C5F16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7152" y="210368"/>
            <a:ext cx="3033706" cy="900000"/>
          </a:xfrm>
          <a:prstGeom prst="rect">
            <a:avLst/>
          </a:prstGeom>
        </p:spPr>
      </p:pic>
      <p:sp>
        <p:nvSpPr>
          <p:cNvPr id="26" name="テキスト ボックス 25">
            <a:extLst>
              <a:ext uri="{FF2B5EF4-FFF2-40B4-BE49-F238E27FC236}">
                <a16:creationId xmlns:a16="http://schemas.microsoft.com/office/drawing/2014/main" id="{0A61654C-34EA-7040-B575-712392348E47}"/>
              </a:ext>
            </a:extLst>
          </p:cNvPr>
          <p:cNvSpPr txBox="1"/>
          <p:nvPr/>
        </p:nvSpPr>
        <p:spPr>
          <a:xfrm>
            <a:off x="381142" y="1586336"/>
            <a:ext cx="9057288" cy="1357872"/>
          </a:xfrm>
          <a:prstGeom prst="rect">
            <a:avLst/>
          </a:prstGeom>
          <a:noFill/>
        </p:spPr>
        <p:txBody>
          <a:bodyPr wrap="none" rtlCol="0">
            <a:spAutoFit/>
          </a:bodyPr>
          <a:lstStyle/>
          <a:p>
            <a:pPr lvl="0">
              <a:lnSpc>
                <a:spcPct val="120000"/>
              </a:lnSpc>
              <a:defRPr/>
            </a:pPr>
            <a:r>
              <a:rPr kumimoji="1" lang="ja-JP" altLang="en-US" sz="3600" dirty="0">
                <a:solidFill>
                  <a:prstClr val="black"/>
                </a:solidFill>
                <a:latin typeface="Segoe UI" panose="020B0502040204020203" pitchFamily="34" charset="0"/>
                <a:ea typeface="Meiryo UI" panose="020B0604030504040204" pitchFamily="50" charset="-128"/>
              </a:rPr>
              <a:t>拡張現実型聴診訓練システムにおける</a:t>
            </a:r>
            <a:br>
              <a:rPr kumimoji="1" lang="en-US" altLang="ja-JP" sz="3600" dirty="0">
                <a:solidFill>
                  <a:prstClr val="black"/>
                </a:solidFill>
                <a:latin typeface="Segoe UI" panose="020B0502040204020203" pitchFamily="34" charset="0"/>
                <a:ea typeface="Meiryo UI" panose="020B0604030504040204" pitchFamily="50" charset="-128"/>
              </a:rPr>
            </a:br>
            <a:r>
              <a:rPr kumimoji="1" lang="ja-JP" altLang="en-US" sz="3600" dirty="0">
                <a:solidFill>
                  <a:prstClr val="black"/>
                </a:solidFill>
                <a:latin typeface="Segoe UI" panose="020B0502040204020203" pitchFamily="34" charset="0"/>
                <a:ea typeface="Meiryo UI" panose="020B0604030504040204" pitchFamily="50" charset="-128"/>
              </a:rPr>
              <a:t>呼吸状態判別および呼吸時間推定手法の検討</a:t>
            </a:r>
          </a:p>
        </p:txBody>
      </p:sp>
      <p:sp>
        <p:nvSpPr>
          <p:cNvPr id="27" name="テキスト ボックス 26">
            <a:extLst>
              <a:ext uri="{FF2B5EF4-FFF2-40B4-BE49-F238E27FC236}">
                <a16:creationId xmlns:a16="http://schemas.microsoft.com/office/drawing/2014/main" id="{8F8AB858-39FC-D0EE-762B-3DAE9BAC592B}"/>
              </a:ext>
            </a:extLst>
          </p:cNvPr>
          <p:cNvSpPr txBox="1"/>
          <p:nvPr/>
        </p:nvSpPr>
        <p:spPr>
          <a:xfrm>
            <a:off x="381142" y="210368"/>
            <a:ext cx="4398961" cy="1057469"/>
          </a:xfrm>
          <a:prstGeom prst="rect">
            <a:avLst/>
          </a:prstGeom>
          <a:noFill/>
        </p:spPr>
        <p:txBody>
          <a:bodyPr wrap="non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2025</a:t>
            </a: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年度 工学部 総合工学科 医工学コース</a:t>
            </a:r>
            <a:endParaRPr kumimoji="1" lang="en-US" altLang="ja-JP"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endParaRPr>
          </a:p>
          <a:p>
            <a:pPr marL="0" marR="0" lvl="0" indent="0" algn="l" defTabSz="457200" rtl="0" eaLnBrk="1" fontAlgn="auto" latinLnBrk="0" hangingPunct="1">
              <a:lnSpc>
                <a:spcPct val="12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卒業研究発表会</a:t>
            </a:r>
            <a:endParaRPr kumimoji="1" lang="en-US" altLang="ja-JP"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endParaRPr>
          </a:p>
          <a:p>
            <a:pPr marL="0" marR="0" lvl="0" indent="0" algn="l" defTabSz="457200" rtl="0" eaLnBrk="1" fontAlgn="auto" latinLnBrk="0" hangingPunct="1">
              <a:lnSpc>
                <a:spcPct val="12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2026</a:t>
            </a: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年</a:t>
            </a:r>
            <a:r>
              <a:rPr kumimoji="1" lang="en-US" altLang="ja-JP"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2</a:t>
            </a: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月</a:t>
            </a:r>
            <a:r>
              <a:rPr kumimoji="1" lang="en-US" altLang="ja-JP"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9</a:t>
            </a: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日</a:t>
            </a:r>
            <a:endParaRPr kumimoji="1" lang="en-US" altLang="ja-JP"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endParaRPr>
          </a:p>
        </p:txBody>
      </p:sp>
      <p:sp>
        <p:nvSpPr>
          <p:cNvPr id="28" name="テキスト ボックス 27">
            <a:extLst>
              <a:ext uri="{FF2B5EF4-FFF2-40B4-BE49-F238E27FC236}">
                <a16:creationId xmlns:a16="http://schemas.microsoft.com/office/drawing/2014/main" id="{BDEBFC99-C5FD-CBD7-A18B-00AF05387849}"/>
              </a:ext>
            </a:extLst>
          </p:cNvPr>
          <p:cNvSpPr txBox="1"/>
          <p:nvPr/>
        </p:nvSpPr>
        <p:spPr>
          <a:xfrm>
            <a:off x="8837057" y="3298821"/>
            <a:ext cx="3111749" cy="1076641"/>
          </a:xfrm>
          <a:prstGeom prst="rect">
            <a:avLst/>
          </a:prstGeom>
          <a:noFill/>
        </p:spPr>
        <p:txBody>
          <a:bodyPr wrap="none" rtlCol="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中口研究室</a:t>
            </a:r>
            <a:endParaRPr kumimoji="1" lang="en-US" altLang="ja-JP" sz="2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endParaRPr>
          </a:p>
          <a:p>
            <a:pPr marL="0" marR="0" lvl="0" indent="0" algn="l" defTabSz="457200" rtl="0" eaLnBrk="1" fontAlgn="auto" latinLnBrk="0" hangingPunct="1">
              <a:lnSpc>
                <a:spcPct val="120000"/>
              </a:lnSpc>
              <a:spcBef>
                <a:spcPts val="0"/>
              </a:spcBef>
              <a:spcAft>
                <a:spcPts val="0"/>
              </a:spcAft>
              <a:buClrTx/>
              <a:buSzTx/>
              <a:buFontTx/>
              <a:buNone/>
              <a:tabLst/>
              <a:defRPr/>
            </a:pPr>
            <a:r>
              <a:rPr kumimoji="1" lang="en-US" altLang="ja-JP" sz="2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22T0805B</a:t>
            </a:r>
            <a:r>
              <a:rPr kumimoji="1" lang="ja-JP" altLang="en-US" sz="2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  林 知歩</a:t>
            </a:r>
          </a:p>
        </p:txBody>
      </p:sp>
      <p:sp>
        <p:nvSpPr>
          <p:cNvPr id="29" name="テキスト ボックス 28">
            <a:extLst>
              <a:ext uri="{FF2B5EF4-FFF2-40B4-BE49-F238E27FC236}">
                <a16:creationId xmlns:a16="http://schemas.microsoft.com/office/drawing/2014/main" id="{7D43B798-DD79-FBD1-2886-D65A136AF7D4}"/>
              </a:ext>
            </a:extLst>
          </p:cNvPr>
          <p:cNvSpPr txBox="1"/>
          <p:nvPr/>
        </p:nvSpPr>
        <p:spPr>
          <a:xfrm>
            <a:off x="381142" y="4418953"/>
            <a:ext cx="180049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sng"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研究指導協力者</a:t>
            </a:r>
          </a:p>
        </p:txBody>
      </p:sp>
      <p:grpSp>
        <p:nvGrpSpPr>
          <p:cNvPr id="69" name="グループ化 68">
            <a:extLst>
              <a:ext uri="{FF2B5EF4-FFF2-40B4-BE49-F238E27FC236}">
                <a16:creationId xmlns:a16="http://schemas.microsoft.com/office/drawing/2014/main" id="{9072970B-80C3-45F7-BCE8-035F9E96D836}"/>
              </a:ext>
            </a:extLst>
          </p:cNvPr>
          <p:cNvGrpSpPr/>
          <p:nvPr/>
        </p:nvGrpSpPr>
        <p:grpSpPr>
          <a:xfrm>
            <a:off x="381142" y="5934991"/>
            <a:ext cx="7495348" cy="369332"/>
            <a:chOff x="381142" y="5956861"/>
            <a:chExt cx="7495348" cy="369332"/>
          </a:xfrm>
        </p:grpSpPr>
        <p:sp>
          <p:nvSpPr>
            <p:cNvPr id="35" name="テキスト ボックス 34">
              <a:extLst>
                <a:ext uri="{FF2B5EF4-FFF2-40B4-BE49-F238E27FC236}">
                  <a16:creationId xmlns:a16="http://schemas.microsoft.com/office/drawing/2014/main" id="{6643EA22-BFA1-9C2F-C9CB-3C2DA43DF167}"/>
                </a:ext>
              </a:extLst>
            </p:cNvPr>
            <p:cNvSpPr txBox="1"/>
            <p:nvPr/>
          </p:nvSpPr>
          <p:spPr>
            <a:xfrm>
              <a:off x="381142" y="5956861"/>
              <a:ext cx="5280613"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千葉大学医学部附属病院総合医療教育研修センター</a:t>
              </a:r>
            </a:p>
          </p:txBody>
        </p:sp>
        <p:sp>
          <p:nvSpPr>
            <p:cNvPr id="38" name="テキスト ボックス 37">
              <a:extLst>
                <a:ext uri="{FF2B5EF4-FFF2-40B4-BE49-F238E27FC236}">
                  <a16:creationId xmlns:a16="http://schemas.microsoft.com/office/drawing/2014/main" id="{A94D66BA-8820-9E84-6E51-F792C440C77B}"/>
                </a:ext>
              </a:extLst>
            </p:cNvPr>
            <p:cNvSpPr txBox="1"/>
            <p:nvPr/>
          </p:nvSpPr>
          <p:spPr>
            <a:xfrm>
              <a:off x="5720130" y="5956861"/>
              <a:ext cx="215636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朝比奈 真由美 教授</a:t>
              </a:r>
            </a:p>
          </p:txBody>
        </p:sp>
      </p:grpSp>
      <p:grpSp>
        <p:nvGrpSpPr>
          <p:cNvPr id="70" name="グループ化 69">
            <a:extLst>
              <a:ext uri="{FF2B5EF4-FFF2-40B4-BE49-F238E27FC236}">
                <a16:creationId xmlns:a16="http://schemas.microsoft.com/office/drawing/2014/main" id="{59CE14C8-429E-D902-6BDE-19D21E5665DA}"/>
              </a:ext>
            </a:extLst>
          </p:cNvPr>
          <p:cNvGrpSpPr/>
          <p:nvPr/>
        </p:nvGrpSpPr>
        <p:grpSpPr>
          <a:xfrm>
            <a:off x="381142" y="6307915"/>
            <a:ext cx="7495348" cy="369332"/>
            <a:chOff x="381142" y="6337072"/>
            <a:chExt cx="7495348" cy="369332"/>
          </a:xfrm>
        </p:grpSpPr>
        <p:sp>
          <p:nvSpPr>
            <p:cNvPr id="41" name="テキスト ボックス 40">
              <a:extLst>
                <a:ext uri="{FF2B5EF4-FFF2-40B4-BE49-F238E27FC236}">
                  <a16:creationId xmlns:a16="http://schemas.microsoft.com/office/drawing/2014/main" id="{87529223-0D99-C6EB-106B-5B5F71A2423F}"/>
                </a:ext>
              </a:extLst>
            </p:cNvPr>
            <p:cNvSpPr txBox="1"/>
            <p:nvPr/>
          </p:nvSpPr>
          <p:spPr>
            <a:xfrm>
              <a:off x="381142" y="6337072"/>
              <a:ext cx="1107996"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千葉大学</a:t>
              </a:r>
            </a:p>
          </p:txBody>
        </p:sp>
        <p:sp>
          <p:nvSpPr>
            <p:cNvPr id="42" name="テキスト ボックス 41">
              <a:extLst>
                <a:ext uri="{FF2B5EF4-FFF2-40B4-BE49-F238E27FC236}">
                  <a16:creationId xmlns:a16="http://schemas.microsoft.com/office/drawing/2014/main" id="{7407274E-B6BA-F971-AA4F-4310C5DCBF01}"/>
                </a:ext>
              </a:extLst>
            </p:cNvPr>
            <p:cNvSpPr txBox="1"/>
            <p:nvPr/>
          </p:nvSpPr>
          <p:spPr>
            <a:xfrm>
              <a:off x="5720130" y="6337072"/>
              <a:ext cx="215636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田邊 政裕</a:t>
              </a:r>
              <a:r>
                <a:rPr kumimoji="0"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 名誉教授</a:t>
              </a:r>
              <a:endPar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endParaRPr>
            </a:p>
          </p:txBody>
        </p:sp>
      </p:grpSp>
      <p:grpSp>
        <p:nvGrpSpPr>
          <p:cNvPr id="67" name="グループ化 66">
            <a:extLst>
              <a:ext uri="{FF2B5EF4-FFF2-40B4-BE49-F238E27FC236}">
                <a16:creationId xmlns:a16="http://schemas.microsoft.com/office/drawing/2014/main" id="{34CEA9F3-62F0-91AA-8DB9-215084EC0067}"/>
              </a:ext>
            </a:extLst>
          </p:cNvPr>
          <p:cNvGrpSpPr/>
          <p:nvPr/>
        </p:nvGrpSpPr>
        <p:grpSpPr>
          <a:xfrm>
            <a:off x="3185765" y="5189147"/>
            <a:ext cx="3998227" cy="369332"/>
            <a:chOff x="3185765" y="5196437"/>
            <a:chExt cx="3998227" cy="369332"/>
          </a:xfrm>
        </p:grpSpPr>
        <p:sp>
          <p:nvSpPr>
            <p:cNvPr id="49" name="テキスト ボックス 48">
              <a:extLst>
                <a:ext uri="{FF2B5EF4-FFF2-40B4-BE49-F238E27FC236}">
                  <a16:creationId xmlns:a16="http://schemas.microsoft.com/office/drawing/2014/main" id="{A59183F2-EBFB-4654-8EEF-F98EB0DECB60}"/>
                </a:ext>
              </a:extLst>
            </p:cNvPr>
            <p:cNvSpPr txBox="1"/>
            <p:nvPr/>
          </p:nvSpPr>
          <p:spPr>
            <a:xfrm>
              <a:off x="3185765" y="5196437"/>
              <a:ext cx="133882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呼吸器内科</a:t>
              </a:r>
            </a:p>
          </p:txBody>
        </p:sp>
        <p:sp>
          <p:nvSpPr>
            <p:cNvPr id="50" name="テキスト ボックス 49">
              <a:extLst>
                <a:ext uri="{FF2B5EF4-FFF2-40B4-BE49-F238E27FC236}">
                  <a16:creationId xmlns:a16="http://schemas.microsoft.com/office/drawing/2014/main" id="{A47CDB79-BBA2-C416-BD37-59029D236FAC}"/>
                </a:ext>
              </a:extLst>
            </p:cNvPr>
            <p:cNvSpPr txBox="1"/>
            <p:nvPr/>
          </p:nvSpPr>
          <p:spPr>
            <a:xfrm>
              <a:off x="5720130" y="5196437"/>
              <a:ext cx="1463862"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笠井 大 </a:t>
              </a:r>
              <a:r>
                <a:rPr kumimoji="0"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講師</a:t>
              </a:r>
              <a:endPar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endParaRPr>
            </a:p>
          </p:txBody>
        </p:sp>
      </p:grpSp>
      <p:grpSp>
        <p:nvGrpSpPr>
          <p:cNvPr id="66" name="グループ化 65">
            <a:extLst>
              <a:ext uri="{FF2B5EF4-FFF2-40B4-BE49-F238E27FC236}">
                <a16:creationId xmlns:a16="http://schemas.microsoft.com/office/drawing/2014/main" id="{0940DB28-D0D6-F0F3-911E-48C4A8BD282A}"/>
              </a:ext>
            </a:extLst>
          </p:cNvPr>
          <p:cNvGrpSpPr/>
          <p:nvPr/>
        </p:nvGrpSpPr>
        <p:grpSpPr>
          <a:xfrm>
            <a:off x="381142" y="4816225"/>
            <a:ext cx="7264515" cy="369332"/>
            <a:chOff x="381142" y="4816225"/>
            <a:chExt cx="7264515" cy="369332"/>
          </a:xfrm>
        </p:grpSpPr>
        <p:sp>
          <p:nvSpPr>
            <p:cNvPr id="52" name="テキスト ボックス 51">
              <a:extLst>
                <a:ext uri="{FF2B5EF4-FFF2-40B4-BE49-F238E27FC236}">
                  <a16:creationId xmlns:a16="http://schemas.microsoft.com/office/drawing/2014/main" id="{69C1F616-9986-0651-1867-0EBD806EA932}"/>
                </a:ext>
              </a:extLst>
            </p:cNvPr>
            <p:cNvSpPr txBox="1"/>
            <p:nvPr/>
          </p:nvSpPr>
          <p:spPr>
            <a:xfrm>
              <a:off x="381142" y="4816225"/>
              <a:ext cx="4296369" cy="369332"/>
            </a:xfrm>
            <a:prstGeom prst="rect">
              <a:avLst/>
            </a:prstGeom>
            <a:noFill/>
          </p:spPr>
          <p:txBody>
            <a:bodyPr wrap="none" rtlCol="0">
              <a:spAutoFit/>
            </a:bodyPr>
            <a:lstStyle/>
            <a:p>
              <a:pPr>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千葉大学大学院医学研究院 </a:t>
              </a:r>
              <a:r>
                <a:rPr kumimoji="1" lang="ja-JP" altLang="en-US" dirty="0">
                  <a:solidFill>
                    <a:prstClr val="black"/>
                  </a:solidFill>
                  <a:latin typeface="Segoe UI" panose="020B0502040204020203" pitchFamily="34" charset="0"/>
                  <a:ea typeface="Meiryo UI" panose="020B0604030504040204" pitchFamily="50" charset="-128"/>
                </a:rPr>
                <a:t>循環器内科</a:t>
              </a:r>
            </a:p>
          </p:txBody>
        </p:sp>
        <p:sp>
          <p:nvSpPr>
            <p:cNvPr id="53" name="テキスト ボックス 52">
              <a:extLst>
                <a:ext uri="{FF2B5EF4-FFF2-40B4-BE49-F238E27FC236}">
                  <a16:creationId xmlns:a16="http://schemas.microsoft.com/office/drawing/2014/main" id="{7392A7B5-7FE0-FD46-1C95-A29B2610344D}"/>
                </a:ext>
              </a:extLst>
            </p:cNvPr>
            <p:cNvSpPr txBox="1"/>
            <p:nvPr/>
          </p:nvSpPr>
          <p:spPr>
            <a:xfrm>
              <a:off x="5720130" y="4816225"/>
              <a:ext cx="1925527"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三浦 慶一郎 </a:t>
              </a:r>
              <a:r>
                <a:rPr kumimoji="0"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講師</a:t>
              </a:r>
              <a:endPar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endParaRPr>
            </a:p>
          </p:txBody>
        </p:sp>
      </p:grpSp>
      <p:grpSp>
        <p:nvGrpSpPr>
          <p:cNvPr id="68" name="グループ化 67">
            <a:extLst>
              <a:ext uri="{FF2B5EF4-FFF2-40B4-BE49-F238E27FC236}">
                <a16:creationId xmlns:a16="http://schemas.microsoft.com/office/drawing/2014/main" id="{9332412F-8F11-EFF3-1957-8AB9268691B8}"/>
              </a:ext>
            </a:extLst>
          </p:cNvPr>
          <p:cNvGrpSpPr/>
          <p:nvPr/>
        </p:nvGrpSpPr>
        <p:grpSpPr>
          <a:xfrm>
            <a:off x="3185765" y="5562069"/>
            <a:ext cx="4229060" cy="369332"/>
            <a:chOff x="3185765" y="5576649"/>
            <a:chExt cx="4229060" cy="369332"/>
          </a:xfrm>
        </p:grpSpPr>
        <p:sp>
          <p:nvSpPr>
            <p:cNvPr id="56" name="テキスト ボックス 55">
              <a:extLst>
                <a:ext uri="{FF2B5EF4-FFF2-40B4-BE49-F238E27FC236}">
                  <a16:creationId xmlns:a16="http://schemas.microsoft.com/office/drawing/2014/main" id="{38FCD326-3302-C334-5E97-5D6D2EABE18C}"/>
                </a:ext>
              </a:extLst>
            </p:cNvPr>
            <p:cNvSpPr txBox="1"/>
            <p:nvPr/>
          </p:nvSpPr>
          <p:spPr>
            <a:xfrm>
              <a:off x="3185765" y="5576649"/>
              <a:ext cx="1338828"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医学教育学</a:t>
              </a:r>
            </a:p>
          </p:txBody>
        </p:sp>
        <p:sp>
          <p:nvSpPr>
            <p:cNvPr id="57" name="テキスト ボックス 56">
              <a:extLst>
                <a:ext uri="{FF2B5EF4-FFF2-40B4-BE49-F238E27FC236}">
                  <a16:creationId xmlns:a16="http://schemas.microsoft.com/office/drawing/2014/main" id="{4BF9D7DB-E473-22A5-9CD2-8F08306293A4}"/>
                </a:ext>
              </a:extLst>
            </p:cNvPr>
            <p:cNvSpPr txBox="1"/>
            <p:nvPr/>
          </p:nvSpPr>
          <p:spPr>
            <a:xfrm>
              <a:off x="5720130" y="5576649"/>
              <a:ext cx="1694695"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伊藤 彰一 </a:t>
              </a:r>
              <a:r>
                <a:rPr kumimoji="0"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rPr>
                <a:t>教授</a:t>
              </a:r>
              <a:endParaRPr kumimoji="1" lang="ja-JP" altLang="en-US" sz="1800" b="0" i="0" u="none" strike="noStrike" kern="1200" cap="none" spc="0" normalizeH="0" baseline="0" noProof="0" dirty="0">
                <a:ln>
                  <a:noFill/>
                </a:ln>
                <a:solidFill>
                  <a:prstClr val="black"/>
                </a:solidFill>
                <a:effectLst/>
                <a:uLnTx/>
                <a:uFillTx/>
                <a:latin typeface="Segoe UI" panose="020B0502040204020203" pitchFamily="34" charset="0"/>
                <a:ea typeface="Meiryo UI" panose="020B0604030504040204" pitchFamily="50" charset="-128"/>
                <a:cs typeface="+mn-cs"/>
              </a:endParaRPr>
            </a:p>
          </p:txBody>
        </p:sp>
      </p:grpSp>
    </p:spTree>
    <p:extLst>
      <p:ext uri="{BB962C8B-B14F-4D97-AF65-F5344CB8AC3E}">
        <p14:creationId xmlns:p14="http://schemas.microsoft.com/office/powerpoint/2010/main" val="3798973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11481-83FE-210B-11C4-78A82120A38C}"/>
            </a:ext>
          </a:extLst>
        </p:cNvPr>
        <p:cNvGrpSpPr/>
        <p:nvPr/>
      </p:nvGrpSpPr>
      <p:grpSpPr>
        <a:xfrm>
          <a:off x="0" y="0"/>
          <a:ext cx="0" cy="0"/>
          <a:chOff x="0" y="0"/>
          <a:chExt cx="0" cy="0"/>
        </a:xfrm>
      </p:grpSpPr>
      <p:pic>
        <p:nvPicPr>
          <p:cNvPr id="4" name="画面録画 2025-11-17 133117">
            <a:hlinkClick r:id="" action="ppaction://media"/>
            <a:extLst>
              <a:ext uri="{FF2B5EF4-FFF2-40B4-BE49-F238E27FC236}">
                <a16:creationId xmlns:a16="http://schemas.microsoft.com/office/drawing/2014/main" id="{08F3FBE6-EBB7-7347-24EE-8764EB492688}"/>
              </a:ext>
            </a:extLst>
          </p:cNvPr>
          <p:cNvPicPr>
            <a:picLocks noChangeAspect="1"/>
          </p:cNvPicPr>
          <p:nvPr>
            <a:videoFile r:link="rId1"/>
            <p:extLst>
              <p:ext uri="{DAA4B4D4-6D71-4841-9C94-3DE7FCFB9230}">
                <p14:media xmlns:p14="http://schemas.microsoft.com/office/powerpoint/2010/main" r:embed="rId2">
                  <p14:trim end="0.9583"/>
                </p14:media>
              </p:ext>
            </p:extLst>
          </p:nvPr>
        </p:nvPicPr>
        <p:blipFill>
          <a:blip r:embed="rId6"/>
          <a:srcRect l="1462" t="6323" r="1409" b="26649"/>
          <a:stretch>
            <a:fillRect/>
          </a:stretch>
        </p:blipFill>
        <p:spPr>
          <a:xfrm>
            <a:off x="290652" y="3770335"/>
            <a:ext cx="5801114" cy="2502000"/>
          </a:xfrm>
          <a:prstGeom prst="rect">
            <a:avLst/>
          </a:prstGeom>
        </p:spPr>
      </p:pic>
      <p:sp>
        <p:nvSpPr>
          <p:cNvPr id="28" name="正方形/長方形 27">
            <a:extLst>
              <a:ext uri="{FF2B5EF4-FFF2-40B4-BE49-F238E27FC236}">
                <a16:creationId xmlns:a16="http://schemas.microsoft.com/office/drawing/2014/main" id="{C00A6C86-1B8E-EA78-B584-0BD48A74D492}"/>
              </a:ext>
            </a:extLst>
          </p:cNvPr>
          <p:cNvSpPr/>
          <p:nvPr/>
        </p:nvSpPr>
        <p:spPr>
          <a:xfrm>
            <a:off x="1038224" y="4312445"/>
            <a:ext cx="1023938" cy="130968"/>
          </a:xfrm>
          <a:prstGeom prst="rect">
            <a:avLst/>
          </a:prstGeom>
          <a:solidFill>
            <a:srgbClr val="F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スライド番号プレースホルダー 7">
            <a:extLst>
              <a:ext uri="{FF2B5EF4-FFF2-40B4-BE49-F238E27FC236}">
                <a16:creationId xmlns:a16="http://schemas.microsoft.com/office/drawing/2014/main" id="{6DF2DC7A-C86D-C77B-F1E5-31013D6769EA}"/>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1</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BE57EFEB-D110-9A5E-E4AA-D40AF88E9F2C}"/>
              </a:ext>
            </a:extLst>
          </p:cNvPr>
          <p:cNvSpPr>
            <a:spLocks noGrp="1"/>
          </p:cNvSpPr>
          <p:nvPr>
            <p:ph type="title"/>
          </p:nvPr>
        </p:nvSpPr>
        <p:spPr/>
        <p:txBody>
          <a:bodyPr>
            <a:normAutofit/>
          </a:bodyPr>
          <a:lstStyle/>
          <a:p>
            <a:r>
              <a:rPr lang="ja-JP" altLang="en-US" dirty="0"/>
              <a:t>研究背景</a:t>
            </a:r>
            <a:endParaRPr kumimoji="1" lang="ja-JP" altLang="en-US" dirty="0"/>
          </a:p>
        </p:txBody>
      </p:sp>
      <p:sp>
        <p:nvSpPr>
          <p:cNvPr id="31" name="TextBox 7">
            <a:extLst>
              <a:ext uri="{FF2B5EF4-FFF2-40B4-BE49-F238E27FC236}">
                <a16:creationId xmlns:a16="http://schemas.microsoft.com/office/drawing/2014/main" id="{D904F4D4-120A-3485-B34E-B23D1B96614D}"/>
              </a:ext>
            </a:extLst>
          </p:cNvPr>
          <p:cNvSpPr txBox="1"/>
          <p:nvPr/>
        </p:nvSpPr>
        <p:spPr>
          <a:xfrm>
            <a:off x="215030" y="827371"/>
            <a:ext cx="2313454" cy="461665"/>
          </a:xfrm>
          <a:prstGeom prst="rect">
            <a:avLst/>
          </a:prstGeom>
          <a:noFill/>
        </p:spPr>
        <p:txBody>
          <a:bodyPr wrap="none" rtlCol="0">
            <a:spAutoFit/>
          </a:bodyPr>
          <a:lstStyle/>
          <a:p>
            <a:r>
              <a:rPr lang="ja-JP" altLang="en-US" sz="2400" b="1" dirty="0">
                <a:latin typeface="Segoe UI" panose="020B0502040204020203" pitchFamily="34" charset="0"/>
                <a:ea typeface="Meiryo UI" panose="020B0604030504040204" pitchFamily="50" charset="-128"/>
              </a:rPr>
              <a:t>現在の聴診訓練</a:t>
            </a:r>
            <a:endParaRPr lang="en-US" altLang="ja-JP" sz="2400" b="1" dirty="0">
              <a:latin typeface="Segoe UI" panose="020B0502040204020203" pitchFamily="34" charset="0"/>
              <a:ea typeface="Meiryo UI" panose="020B0604030504040204" pitchFamily="50" charset="-128"/>
            </a:endParaRPr>
          </a:p>
        </p:txBody>
      </p:sp>
      <p:grpSp>
        <p:nvGrpSpPr>
          <p:cNvPr id="60" name="グループ化 59">
            <a:extLst>
              <a:ext uri="{FF2B5EF4-FFF2-40B4-BE49-F238E27FC236}">
                <a16:creationId xmlns:a16="http://schemas.microsoft.com/office/drawing/2014/main" id="{B1CD06E3-C2BE-E51A-B85B-31A721EA3640}"/>
              </a:ext>
            </a:extLst>
          </p:cNvPr>
          <p:cNvGrpSpPr/>
          <p:nvPr/>
        </p:nvGrpSpPr>
        <p:grpSpPr>
          <a:xfrm>
            <a:off x="215030" y="1304234"/>
            <a:ext cx="4942762" cy="1827073"/>
            <a:chOff x="215030" y="1304234"/>
            <a:chExt cx="4942762" cy="1827073"/>
          </a:xfrm>
        </p:grpSpPr>
        <p:sp>
          <p:nvSpPr>
            <p:cNvPr id="38" name="加算記号 37">
              <a:extLst>
                <a:ext uri="{FF2B5EF4-FFF2-40B4-BE49-F238E27FC236}">
                  <a16:creationId xmlns:a16="http://schemas.microsoft.com/office/drawing/2014/main" id="{12D20406-7135-D591-BAEA-26B014D4958C}"/>
                </a:ext>
              </a:extLst>
            </p:cNvPr>
            <p:cNvSpPr/>
            <p:nvPr/>
          </p:nvSpPr>
          <p:spPr>
            <a:xfrm>
              <a:off x="2636822" y="1813360"/>
              <a:ext cx="441427" cy="441698"/>
            </a:xfrm>
            <a:prstGeom prst="mathPlus">
              <a:avLst>
                <a:gd name="adj1" fmla="val 19265"/>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Segoe UI" panose="020B0502040204020203" pitchFamily="34" charset="0"/>
                <a:ea typeface="Meiryo UI" panose="020B0604030504040204" pitchFamily="50" charset="-128"/>
              </a:endParaRPr>
            </a:p>
          </p:txBody>
        </p:sp>
        <p:grpSp>
          <p:nvGrpSpPr>
            <p:cNvPr id="59" name="グループ化 58">
              <a:extLst>
                <a:ext uri="{FF2B5EF4-FFF2-40B4-BE49-F238E27FC236}">
                  <a16:creationId xmlns:a16="http://schemas.microsoft.com/office/drawing/2014/main" id="{72B052D6-6470-DE92-34D3-166F86B02385}"/>
                </a:ext>
              </a:extLst>
            </p:cNvPr>
            <p:cNvGrpSpPr/>
            <p:nvPr/>
          </p:nvGrpSpPr>
          <p:grpSpPr>
            <a:xfrm>
              <a:off x="215030" y="1304238"/>
              <a:ext cx="2656496" cy="1827069"/>
              <a:chOff x="215030" y="1304238"/>
              <a:chExt cx="2656496" cy="1827069"/>
            </a:xfrm>
          </p:grpSpPr>
          <p:sp>
            <p:nvSpPr>
              <p:cNvPr id="36" name="テキスト ボックス 35">
                <a:extLst>
                  <a:ext uri="{FF2B5EF4-FFF2-40B4-BE49-F238E27FC236}">
                    <a16:creationId xmlns:a16="http://schemas.microsoft.com/office/drawing/2014/main" id="{2AFF97D3-BB4C-0322-ECF8-F80FAC4BD1BB}"/>
                  </a:ext>
                </a:extLst>
              </p:cNvPr>
              <p:cNvSpPr txBox="1"/>
              <p:nvPr/>
            </p:nvSpPr>
            <p:spPr>
              <a:xfrm>
                <a:off x="215030" y="2705228"/>
                <a:ext cx="2656496" cy="426079"/>
              </a:xfrm>
              <a:prstGeom prst="rect">
                <a:avLst/>
              </a:prstGeom>
              <a:noFill/>
            </p:spPr>
            <p:txBody>
              <a:bodyPr wrap="none" rtlCol="0">
                <a:spAutoFit/>
              </a:bodyPr>
              <a:lstStyle/>
              <a:p>
                <a:pPr algn="ctr">
                  <a:lnSpc>
                    <a:spcPct val="120000"/>
                  </a:lnSpc>
                  <a:spcBef>
                    <a:spcPts val="1200"/>
                  </a:spcBef>
                  <a:buClr>
                    <a:schemeClr val="tx1"/>
                  </a:buClr>
                </a:pPr>
                <a:r>
                  <a:rPr kumimoji="1" lang="ja-JP" altLang="en-US" sz="2000" dirty="0">
                    <a:latin typeface="Segoe UI" panose="020B0502040204020203" pitchFamily="34" charset="0"/>
                    <a:ea typeface="Meiryo UI" panose="020B0604030504040204" pitchFamily="50" charset="-128"/>
                  </a:rPr>
                  <a:t>模擬患者への医療面接</a:t>
                </a:r>
              </a:p>
            </p:txBody>
          </p:sp>
          <p:pic>
            <p:nvPicPr>
              <p:cNvPr id="39" name="Picture 19" descr="A person in a white coat sitting next to a person in a black shirt&#10;&#10;Description automatically generated">
                <a:extLst>
                  <a:ext uri="{FF2B5EF4-FFF2-40B4-BE49-F238E27FC236}">
                    <a16:creationId xmlns:a16="http://schemas.microsoft.com/office/drawing/2014/main" id="{B623D569-524B-0D76-E146-69F88825D6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9789" y="1304238"/>
                <a:ext cx="1960851" cy="1459943"/>
              </a:xfrm>
              <a:prstGeom prst="rect">
                <a:avLst/>
              </a:prstGeom>
              <a:ln>
                <a:noFill/>
              </a:ln>
            </p:spPr>
          </p:pic>
          <p:sp>
            <p:nvSpPr>
              <p:cNvPr id="40" name="テキスト ボックス 39">
                <a:extLst>
                  <a:ext uri="{FF2B5EF4-FFF2-40B4-BE49-F238E27FC236}">
                    <a16:creationId xmlns:a16="http://schemas.microsoft.com/office/drawing/2014/main" id="{1FEACB2B-77D6-F154-A203-75E6116F48D6}"/>
                  </a:ext>
                </a:extLst>
              </p:cNvPr>
              <p:cNvSpPr txBox="1"/>
              <p:nvPr/>
            </p:nvSpPr>
            <p:spPr>
              <a:xfrm>
                <a:off x="1319131" y="1305640"/>
                <a:ext cx="1210588"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kumimoji="1" lang="ja-JP" altLang="en-US" sz="2000" dirty="0">
                    <a:effectLst>
                      <a:glow rad="127000">
                        <a:schemeClr val="bg1"/>
                      </a:glow>
                    </a:effectLst>
                    <a:latin typeface="Segoe UI" panose="020B0502040204020203" pitchFamily="34" charset="0"/>
                    <a:ea typeface="Meiryo UI" panose="020B0604030504040204" pitchFamily="50" charset="-128"/>
                  </a:rPr>
                  <a:t>模擬患者</a:t>
                </a:r>
              </a:p>
            </p:txBody>
          </p:sp>
          <p:sp>
            <p:nvSpPr>
              <p:cNvPr id="41" name="テキスト ボックス 40">
                <a:extLst>
                  <a:ext uri="{FF2B5EF4-FFF2-40B4-BE49-F238E27FC236}">
                    <a16:creationId xmlns:a16="http://schemas.microsoft.com/office/drawing/2014/main" id="{CC7E6B77-1F15-B25D-E0E1-FC171044DA20}"/>
                  </a:ext>
                </a:extLst>
              </p:cNvPr>
              <p:cNvSpPr txBox="1"/>
              <p:nvPr/>
            </p:nvSpPr>
            <p:spPr>
              <a:xfrm>
                <a:off x="556837" y="2333337"/>
                <a:ext cx="954107"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kumimoji="1" lang="ja-JP" altLang="en-US" sz="2000" dirty="0">
                    <a:effectLst>
                      <a:glow rad="127000">
                        <a:schemeClr val="bg1"/>
                      </a:glow>
                    </a:effectLst>
                    <a:latin typeface="Segoe UI" panose="020B0502040204020203" pitchFamily="34" charset="0"/>
                    <a:ea typeface="Meiryo UI" panose="020B0604030504040204" pitchFamily="50" charset="-128"/>
                  </a:rPr>
                  <a:t>学習者</a:t>
                </a:r>
              </a:p>
            </p:txBody>
          </p:sp>
        </p:grpSp>
        <p:grpSp>
          <p:nvGrpSpPr>
            <p:cNvPr id="58" name="グループ化 57">
              <a:extLst>
                <a:ext uri="{FF2B5EF4-FFF2-40B4-BE49-F238E27FC236}">
                  <a16:creationId xmlns:a16="http://schemas.microsoft.com/office/drawing/2014/main" id="{E103E7DB-9683-383A-ECF2-F7B66016E816}"/>
                </a:ext>
              </a:extLst>
            </p:cNvPr>
            <p:cNvGrpSpPr/>
            <p:nvPr/>
          </p:nvGrpSpPr>
          <p:grpSpPr>
            <a:xfrm>
              <a:off x="3191480" y="1304234"/>
              <a:ext cx="1966312" cy="1827073"/>
              <a:chOff x="3191480" y="1304234"/>
              <a:chExt cx="1966312" cy="1827073"/>
            </a:xfrm>
          </p:grpSpPr>
          <p:pic>
            <p:nvPicPr>
              <p:cNvPr id="42" name="図 41">
                <a:extLst>
                  <a:ext uri="{FF2B5EF4-FFF2-40B4-BE49-F238E27FC236}">
                    <a16:creationId xmlns:a16="http://schemas.microsoft.com/office/drawing/2014/main" id="{BF0CBF43-2148-4FA4-D519-67A3B631782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33316" t="4730" r="13125" b="-1"/>
              <a:stretch/>
            </p:blipFill>
            <p:spPr>
              <a:xfrm rot="5400000">
                <a:off x="3444325" y="1054341"/>
                <a:ext cx="1459949" cy="1959736"/>
              </a:xfrm>
              <a:prstGeom prst="rect">
                <a:avLst/>
              </a:prstGeom>
              <a:ln>
                <a:noFill/>
              </a:ln>
            </p:spPr>
          </p:pic>
          <p:sp>
            <p:nvSpPr>
              <p:cNvPr id="43" name="テキスト ボックス 42">
                <a:extLst>
                  <a:ext uri="{FF2B5EF4-FFF2-40B4-BE49-F238E27FC236}">
                    <a16:creationId xmlns:a16="http://schemas.microsoft.com/office/drawing/2014/main" id="{94958448-7D34-0473-ECA7-9728D100F3BF}"/>
                  </a:ext>
                </a:extLst>
              </p:cNvPr>
              <p:cNvSpPr txBox="1"/>
              <p:nvPr/>
            </p:nvSpPr>
            <p:spPr>
              <a:xfrm>
                <a:off x="3191480" y="2333339"/>
                <a:ext cx="954107"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kumimoji="1" lang="ja-JP" altLang="en-US" sz="2000" dirty="0">
                    <a:effectLst>
                      <a:glow rad="127000">
                        <a:schemeClr val="bg1"/>
                      </a:glow>
                    </a:effectLst>
                    <a:latin typeface="Segoe UI" panose="020B0502040204020203" pitchFamily="34" charset="0"/>
                    <a:ea typeface="Meiryo UI" panose="020B0604030504040204" pitchFamily="50" charset="-128"/>
                  </a:rPr>
                  <a:t>学習者</a:t>
                </a:r>
              </a:p>
            </p:txBody>
          </p:sp>
          <p:sp>
            <p:nvSpPr>
              <p:cNvPr id="44" name="テキスト ボックス 43">
                <a:extLst>
                  <a:ext uri="{FF2B5EF4-FFF2-40B4-BE49-F238E27FC236}">
                    <a16:creationId xmlns:a16="http://schemas.microsoft.com/office/drawing/2014/main" id="{8849D9E1-E5FB-1D64-ECFF-8F63EFA004EB}"/>
                  </a:ext>
                </a:extLst>
              </p:cNvPr>
              <p:cNvSpPr txBox="1"/>
              <p:nvPr/>
            </p:nvSpPr>
            <p:spPr>
              <a:xfrm>
                <a:off x="4168420" y="1305641"/>
                <a:ext cx="989372"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lang="ja-JP" altLang="en-US" sz="2000" dirty="0">
                    <a:effectLst>
                      <a:glow rad="127000">
                        <a:schemeClr val="bg1"/>
                      </a:glow>
                    </a:effectLst>
                    <a:latin typeface="Segoe UI" panose="020B0502040204020203" pitchFamily="34" charset="0"/>
                    <a:ea typeface="Meiryo UI" panose="020B0604030504040204" pitchFamily="50" charset="-128"/>
                  </a:rPr>
                  <a:t>マネキン</a:t>
                </a:r>
                <a:endParaRPr kumimoji="1" lang="ja-JP" altLang="en-US" sz="2000" dirty="0">
                  <a:effectLst>
                    <a:glow rad="127000">
                      <a:schemeClr val="bg1"/>
                    </a:glow>
                  </a:effectLst>
                  <a:latin typeface="Segoe UI" panose="020B0502040204020203" pitchFamily="34" charset="0"/>
                  <a:ea typeface="Meiryo UI" panose="020B0604030504040204" pitchFamily="50" charset="-128"/>
                </a:endParaRPr>
              </a:p>
            </p:txBody>
          </p:sp>
          <p:sp>
            <p:nvSpPr>
              <p:cNvPr id="49" name="テキスト ボックス 48">
                <a:extLst>
                  <a:ext uri="{FF2B5EF4-FFF2-40B4-BE49-F238E27FC236}">
                    <a16:creationId xmlns:a16="http://schemas.microsoft.com/office/drawing/2014/main" id="{D3BEDDB1-2408-D532-081D-6474587B4612}"/>
                  </a:ext>
                </a:extLst>
              </p:cNvPr>
              <p:cNvSpPr txBox="1"/>
              <p:nvPr/>
            </p:nvSpPr>
            <p:spPr>
              <a:xfrm>
                <a:off x="3213475" y="2705228"/>
                <a:ext cx="1922322" cy="426079"/>
              </a:xfrm>
              <a:prstGeom prst="rect">
                <a:avLst/>
              </a:prstGeom>
              <a:noFill/>
            </p:spPr>
            <p:txBody>
              <a:bodyPr wrap="none" rtlCol="0">
                <a:spAutoFit/>
              </a:bodyPr>
              <a:lstStyle/>
              <a:p>
                <a:pPr algn="ctr">
                  <a:lnSpc>
                    <a:spcPct val="120000"/>
                  </a:lnSpc>
                  <a:spcBef>
                    <a:spcPts val="1200"/>
                  </a:spcBef>
                  <a:buClr>
                    <a:schemeClr val="tx1"/>
                  </a:buClr>
                </a:pPr>
                <a:r>
                  <a:rPr kumimoji="1" lang="ja-JP" altLang="en-US" sz="2000" dirty="0">
                    <a:latin typeface="Segoe UI" panose="020B0502040204020203" pitchFamily="34" charset="0"/>
                    <a:ea typeface="Meiryo UI" panose="020B0604030504040204" pitchFamily="50" charset="-128"/>
                  </a:rPr>
                  <a:t>マネキンへの聴診</a:t>
                </a:r>
              </a:p>
            </p:txBody>
          </p:sp>
        </p:grpSp>
      </p:grpSp>
      <p:grpSp>
        <p:nvGrpSpPr>
          <p:cNvPr id="10" name="グループ化 9">
            <a:extLst>
              <a:ext uri="{FF2B5EF4-FFF2-40B4-BE49-F238E27FC236}">
                <a16:creationId xmlns:a16="http://schemas.microsoft.com/office/drawing/2014/main" id="{9F827202-BF65-F15F-364D-C359103C8021}"/>
              </a:ext>
            </a:extLst>
          </p:cNvPr>
          <p:cNvGrpSpPr/>
          <p:nvPr/>
        </p:nvGrpSpPr>
        <p:grpSpPr>
          <a:xfrm>
            <a:off x="5557566" y="1303633"/>
            <a:ext cx="6285666" cy="1720249"/>
            <a:chOff x="5557566" y="1303633"/>
            <a:chExt cx="6285666" cy="1720249"/>
          </a:xfrm>
        </p:grpSpPr>
        <p:sp>
          <p:nvSpPr>
            <p:cNvPr id="53" name="テキスト ボックス 52">
              <a:extLst>
                <a:ext uri="{FF2B5EF4-FFF2-40B4-BE49-F238E27FC236}">
                  <a16:creationId xmlns:a16="http://schemas.microsoft.com/office/drawing/2014/main" id="{4D0A954A-EDE2-AD7E-FC66-B888F6D66EE6}"/>
                </a:ext>
              </a:extLst>
            </p:cNvPr>
            <p:cNvSpPr txBox="1"/>
            <p:nvPr/>
          </p:nvSpPr>
          <p:spPr>
            <a:xfrm>
              <a:off x="6876808" y="1397201"/>
              <a:ext cx="4966424" cy="1533112"/>
            </a:xfrm>
            <a:prstGeom prst="rect">
              <a:avLst/>
            </a:prstGeom>
            <a:noFill/>
          </p:spPr>
          <p:txBody>
            <a:bodyPr wrap="none" rtlCol="0">
              <a:spAutoFit/>
            </a:bodyPr>
            <a:lstStyle/>
            <a:p>
              <a:pPr>
                <a:lnSpc>
                  <a:spcPct val="120000"/>
                </a:lnSpc>
                <a:spcAft>
                  <a:spcPts val="600"/>
                </a:spcAft>
                <a:buClr>
                  <a:schemeClr val="tx1"/>
                </a:buClr>
              </a:pPr>
              <a:r>
                <a:rPr kumimoji="1" lang="ja-JP" altLang="en-US" sz="2400" dirty="0">
                  <a:latin typeface="Segoe UI" panose="020B0502040204020203" pitchFamily="34" charset="0"/>
                  <a:ea typeface="Meiryo UI" panose="020B0604030504040204" pitchFamily="50" charset="-128"/>
                </a:rPr>
                <a:t>コミュニケーション訓練，評価が非効率</a:t>
              </a:r>
              <a:endParaRPr kumimoji="1" lang="en-US" altLang="ja-JP" sz="2400" dirty="0">
                <a:latin typeface="Segoe UI" panose="020B0502040204020203" pitchFamily="34" charset="0"/>
                <a:ea typeface="Meiryo UI" panose="020B0604030504040204" pitchFamily="50" charset="-128"/>
              </a:endParaRPr>
            </a:p>
            <a:p>
              <a:pPr>
                <a:lnSpc>
                  <a:spcPct val="120000"/>
                </a:lnSpc>
                <a:spcAft>
                  <a:spcPts val="600"/>
                </a:spcAft>
                <a:buClr>
                  <a:schemeClr val="tx1"/>
                </a:buClr>
              </a:pPr>
              <a:r>
                <a:rPr lang="ja-JP" altLang="en-US" sz="2400" dirty="0">
                  <a:latin typeface="Segoe UI" panose="020B0502040204020203" pitchFamily="34" charset="0"/>
                  <a:ea typeface="Meiryo UI" panose="020B0604030504040204" pitchFamily="50" charset="-128"/>
                </a:rPr>
                <a:t>リアリティが欠如</a:t>
              </a:r>
            </a:p>
            <a:p>
              <a:pPr>
                <a:lnSpc>
                  <a:spcPct val="120000"/>
                </a:lnSpc>
                <a:spcAft>
                  <a:spcPts val="600"/>
                </a:spcAft>
                <a:buClr>
                  <a:schemeClr val="tx1"/>
                </a:buClr>
              </a:pPr>
              <a:r>
                <a:rPr kumimoji="1" lang="ja-JP" altLang="en-US" sz="2400" dirty="0">
                  <a:latin typeface="Segoe UI" panose="020B0502040204020203" pitchFamily="34" charset="0"/>
                  <a:ea typeface="Meiryo UI" panose="020B0604030504040204" pitchFamily="50" charset="-128"/>
                </a:rPr>
                <a:t>システム導入や移動が困難</a:t>
              </a:r>
            </a:p>
          </p:txBody>
        </p:sp>
        <p:sp>
          <p:nvSpPr>
            <p:cNvPr id="54" name="正方形/長方形 53">
              <a:extLst>
                <a:ext uri="{FF2B5EF4-FFF2-40B4-BE49-F238E27FC236}">
                  <a16:creationId xmlns:a16="http://schemas.microsoft.com/office/drawing/2014/main" id="{3D57B9F0-C27C-C3A4-995B-1EED47C9E63F}"/>
                </a:ext>
              </a:extLst>
            </p:cNvPr>
            <p:cNvSpPr/>
            <p:nvPr/>
          </p:nvSpPr>
          <p:spPr>
            <a:xfrm>
              <a:off x="5557566" y="1303633"/>
              <a:ext cx="1161108" cy="1720249"/>
            </a:xfrm>
            <a:prstGeom prst="rect">
              <a:avLst/>
            </a:prstGeom>
            <a:solidFill>
              <a:srgbClr val="002060"/>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Segoe UI" panose="020B0502040204020203" pitchFamily="34" charset="0"/>
                  <a:ea typeface="Meiryo UI" panose="020B0604030504040204" pitchFamily="50" charset="-128"/>
                </a:rPr>
                <a:t>課題点</a:t>
              </a:r>
              <a:endParaRPr kumimoji="1" lang="ja-JP" altLang="en-US" sz="2400" b="1" dirty="0">
                <a:solidFill>
                  <a:schemeClr val="bg1"/>
                </a:solidFill>
                <a:latin typeface="Segoe UI" panose="020B0502040204020203" pitchFamily="34" charset="0"/>
                <a:ea typeface="Meiryo UI" panose="020B0604030504040204" pitchFamily="50" charset="-128"/>
              </a:endParaRPr>
            </a:p>
          </p:txBody>
        </p:sp>
        <p:sp>
          <p:nvSpPr>
            <p:cNvPr id="56" name="正方形/長方形 55">
              <a:extLst>
                <a:ext uri="{FF2B5EF4-FFF2-40B4-BE49-F238E27FC236}">
                  <a16:creationId xmlns:a16="http://schemas.microsoft.com/office/drawing/2014/main" id="{21B83D33-A379-AF9E-0BEC-4FACB06BA3E7}"/>
                </a:ext>
              </a:extLst>
            </p:cNvPr>
            <p:cNvSpPr/>
            <p:nvPr/>
          </p:nvSpPr>
          <p:spPr>
            <a:xfrm>
              <a:off x="6754814" y="1303655"/>
              <a:ext cx="5050972" cy="1720205"/>
            </a:xfrm>
            <a:prstGeom prst="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dirty="0">
                <a:noFill/>
                <a:latin typeface="Segoe UI" panose="020B0502040204020203" pitchFamily="34" charset="0"/>
                <a:ea typeface="Meiryo UI" panose="020B0604030504040204" pitchFamily="50" charset="-128"/>
              </a:endParaRPr>
            </a:p>
          </p:txBody>
        </p:sp>
      </p:grpSp>
      <p:sp>
        <p:nvSpPr>
          <p:cNvPr id="57" name="テキスト ボックス 56">
            <a:extLst>
              <a:ext uri="{FF2B5EF4-FFF2-40B4-BE49-F238E27FC236}">
                <a16:creationId xmlns:a16="http://schemas.microsoft.com/office/drawing/2014/main" id="{C4EF8416-FCE8-4E11-9D56-4595A4B9197E}"/>
              </a:ext>
            </a:extLst>
          </p:cNvPr>
          <p:cNvSpPr txBox="1"/>
          <p:nvPr/>
        </p:nvSpPr>
        <p:spPr>
          <a:xfrm>
            <a:off x="215030" y="3240639"/>
            <a:ext cx="5478936" cy="492827"/>
          </a:xfrm>
          <a:prstGeom prst="rect">
            <a:avLst/>
          </a:prstGeom>
          <a:noFill/>
        </p:spPr>
        <p:txBody>
          <a:bodyPr wrap="none" rtlCol="0">
            <a:spAutoFit/>
          </a:bodyPr>
          <a:lstStyle/>
          <a:p>
            <a:pPr>
              <a:lnSpc>
                <a:spcPct val="120000"/>
              </a:lnSpc>
              <a:spcBef>
                <a:spcPts val="1200"/>
              </a:spcBef>
              <a:buClr>
                <a:schemeClr val="tx1"/>
              </a:buClr>
            </a:pPr>
            <a:r>
              <a:rPr kumimoji="1" lang="ja-JP" altLang="en-US" sz="2400" b="1" dirty="0">
                <a:latin typeface="Segoe UI" panose="020B0502040204020203" pitchFamily="34" charset="0"/>
                <a:ea typeface="Meiryo UI" panose="020B0604030504040204" pitchFamily="50" charset="-128"/>
              </a:rPr>
              <a:t>拡張現実型聴診訓練システム｜</a:t>
            </a:r>
            <a:r>
              <a:rPr kumimoji="1" lang="en-US" altLang="ja-JP" sz="2400" b="1" dirty="0">
                <a:latin typeface="Segoe UI" panose="020B0502040204020203" pitchFamily="34" charset="0"/>
                <a:ea typeface="Meiryo UI" panose="020B0604030504040204" pitchFamily="50" charset="-128"/>
              </a:rPr>
              <a:t>EARS</a:t>
            </a:r>
            <a:r>
              <a:rPr lang="en-US" altLang="ja-JP" sz="2400" b="1" baseline="30000" dirty="0">
                <a:latin typeface="Segoe UI" panose="020B0502040204020203" pitchFamily="34" charset="0"/>
                <a:ea typeface="Meiryo UI" panose="020B0604030504040204" pitchFamily="50" charset="-128"/>
              </a:rPr>
              <a:t> </a:t>
            </a:r>
            <a:r>
              <a:rPr lang="en-US" altLang="ja-JP" sz="2200" b="1" baseline="30000" dirty="0">
                <a:latin typeface="Segoe UI" panose="020B0502040204020203" pitchFamily="34" charset="0"/>
                <a:ea typeface="Meiryo UI" panose="020B0604030504040204" pitchFamily="50" charset="-128"/>
              </a:rPr>
              <a:t>[1, 2]</a:t>
            </a:r>
            <a:endParaRPr kumimoji="1" lang="ja-JP" altLang="en-US" sz="2200" b="1" dirty="0">
              <a:latin typeface="Segoe UI" panose="020B0502040204020203" pitchFamily="34" charset="0"/>
              <a:ea typeface="Meiryo UI" panose="020B0604030504040204" pitchFamily="50" charset="-128"/>
            </a:endParaRPr>
          </a:p>
        </p:txBody>
      </p:sp>
      <p:sp>
        <p:nvSpPr>
          <p:cNvPr id="9" name="テキスト ボックス 8">
            <a:extLst>
              <a:ext uri="{FF2B5EF4-FFF2-40B4-BE49-F238E27FC236}">
                <a16:creationId xmlns:a16="http://schemas.microsoft.com/office/drawing/2014/main" id="{719AE875-228D-B1A8-0283-96D128B615D0}"/>
              </a:ext>
            </a:extLst>
          </p:cNvPr>
          <p:cNvSpPr txBox="1"/>
          <p:nvPr/>
        </p:nvSpPr>
        <p:spPr>
          <a:xfrm>
            <a:off x="3949579" y="6271668"/>
            <a:ext cx="4292842" cy="426079"/>
          </a:xfrm>
          <a:prstGeom prst="rect">
            <a:avLst/>
          </a:prstGeom>
          <a:noFill/>
        </p:spPr>
        <p:txBody>
          <a:bodyPr wrap="none" rtlCol="0">
            <a:spAutoFit/>
          </a:bodyPr>
          <a:lstStyle/>
          <a:p>
            <a:pPr algn="ctr">
              <a:lnSpc>
                <a:spcPct val="120000"/>
              </a:lnSpc>
              <a:spcBef>
                <a:spcPts val="1200"/>
              </a:spcBef>
              <a:buClr>
                <a:schemeClr val="tx1"/>
              </a:buClr>
            </a:pPr>
            <a:r>
              <a:rPr kumimoji="1" lang="en-US" altLang="ja-JP" sz="2000" dirty="0">
                <a:latin typeface="Segoe UI" panose="020B0502040204020203" pitchFamily="34" charset="0"/>
                <a:ea typeface="Meiryo UI" panose="020B0604030504040204" pitchFamily="50" charset="-128"/>
              </a:rPr>
              <a:t>EARS</a:t>
            </a:r>
            <a:r>
              <a:rPr kumimoji="1" lang="ja-JP" altLang="en-US" sz="2000" dirty="0">
                <a:latin typeface="Segoe UI" panose="020B0502040204020203" pitchFamily="34" charset="0"/>
                <a:ea typeface="Meiryo UI" panose="020B0604030504040204" pitchFamily="50" charset="-128"/>
              </a:rPr>
              <a:t>を用いて聴診訓練を実施する</a:t>
            </a:r>
            <a:r>
              <a:rPr lang="ja-JP" altLang="en-US" sz="2000" dirty="0">
                <a:latin typeface="Segoe UI" panose="020B0502040204020203" pitchFamily="34" charset="0"/>
                <a:ea typeface="Meiryo UI" panose="020B0604030504040204" pitchFamily="50" charset="-128"/>
              </a:rPr>
              <a:t>様子</a:t>
            </a:r>
            <a:endParaRPr kumimoji="1" lang="ja-JP" altLang="en-US" sz="2000" dirty="0">
              <a:latin typeface="Segoe UI" panose="020B0502040204020203" pitchFamily="34" charset="0"/>
              <a:ea typeface="Meiryo UI" panose="020B0604030504040204" pitchFamily="50" charset="-128"/>
            </a:endParaRPr>
          </a:p>
        </p:txBody>
      </p:sp>
      <p:pic>
        <p:nvPicPr>
          <p:cNvPr id="6" name="IMG_4707">
            <a:hlinkClick r:id="" action="ppaction://media"/>
            <a:extLst>
              <a:ext uri="{FF2B5EF4-FFF2-40B4-BE49-F238E27FC236}">
                <a16:creationId xmlns:a16="http://schemas.microsoft.com/office/drawing/2014/main" id="{15672ED4-EE47-CF79-659F-2E64772E4429}"/>
              </a:ext>
            </a:extLst>
          </p:cNvPr>
          <p:cNvPicPr>
            <a:picLocks noChangeAspect="1"/>
          </p:cNvPicPr>
          <p:nvPr>
            <a:videoFile r:link="rId1"/>
            <p:extLst>
              <p:ext uri="{DAA4B4D4-6D71-4841-9C94-3DE7FCFB9230}">
                <p14:media xmlns:p14="http://schemas.microsoft.com/office/powerpoint/2010/main" r:embed="rId3">
                  <p14:trim end="7.7845"/>
                </p14:media>
              </p:ext>
            </p:extLst>
          </p:nvPr>
        </p:nvPicPr>
        <p:blipFill>
          <a:blip r:embed="rId9"/>
          <a:srcRect l="11355" t="7683" r="4747" b="27607"/>
          <a:stretch>
            <a:fillRect/>
          </a:stretch>
        </p:blipFill>
        <p:spPr>
          <a:xfrm>
            <a:off x="6101748" y="3770335"/>
            <a:ext cx="5799600" cy="2516165"/>
          </a:xfrm>
          <a:prstGeom prst="rect">
            <a:avLst/>
          </a:prstGeom>
        </p:spPr>
      </p:pic>
      <p:sp>
        <p:nvSpPr>
          <p:cNvPr id="14" name="テキスト ボックス 13">
            <a:extLst>
              <a:ext uri="{FF2B5EF4-FFF2-40B4-BE49-F238E27FC236}">
                <a16:creationId xmlns:a16="http://schemas.microsoft.com/office/drawing/2014/main" id="{E66FA727-89D0-2790-9579-1FB79294E6BD}"/>
              </a:ext>
            </a:extLst>
          </p:cNvPr>
          <p:cNvSpPr txBox="1"/>
          <p:nvPr/>
        </p:nvSpPr>
        <p:spPr>
          <a:xfrm>
            <a:off x="10583401" y="5803497"/>
            <a:ext cx="1210588"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kumimoji="1" lang="ja-JP" altLang="en-US" sz="2000" dirty="0">
                <a:effectLst>
                  <a:glow rad="127000">
                    <a:schemeClr val="bg1"/>
                  </a:glow>
                </a:effectLst>
                <a:latin typeface="Segoe UI" panose="020B0502040204020203" pitchFamily="34" charset="0"/>
                <a:ea typeface="Meiryo UI" panose="020B0604030504040204" pitchFamily="50" charset="-128"/>
              </a:rPr>
              <a:t>模擬患者</a:t>
            </a:r>
          </a:p>
        </p:txBody>
      </p:sp>
      <p:sp>
        <p:nvSpPr>
          <p:cNvPr id="15" name="テキスト ボックス 14">
            <a:extLst>
              <a:ext uri="{FF2B5EF4-FFF2-40B4-BE49-F238E27FC236}">
                <a16:creationId xmlns:a16="http://schemas.microsoft.com/office/drawing/2014/main" id="{726D5D20-5BE4-4EAF-65B7-0C8ADCECC497}"/>
              </a:ext>
            </a:extLst>
          </p:cNvPr>
          <p:cNvSpPr txBox="1"/>
          <p:nvPr/>
        </p:nvSpPr>
        <p:spPr>
          <a:xfrm>
            <a:off x="6186361" y="5790448"/>
            <a:ext cx="954107"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kumimoji="1" lang="ja-JP" altLang="en-US" sz="2000" dirty="0">
                <a:effectLst>
                  <a:glow rad="127000">
                    <a:schemeClr val="bg1"/>
                  </a:glow>
                </a:effectLst>
                <a:latin typeface="Segoe UI" panose="020B0502040204020203" pitchFamily="34" charset="0"/>
                <a:ea typeface="Meiryo UI" panose="020B0604030504040204" pitchFamily="50" charset="-128"/>
              </a:rPr>
              <a:t>学習者</a:t>
            </a:r>
          </a:p>
        </p:txBody>
      </p:sp>
      <p:sp>
        <p:nvSpPr>
          <p:cNvPr id="61" name="テキスト ボックス 60">
            <a:extLst>
              <a:ext uri="{FF2B5EF4-FFF2-40B4-BE49-F238E27FC236}">
                <a16:creationId xmlns:a16="http://schemas.microsoft.com/office/drawing/2014/main" id="{18EC3D9F-E19C-8CCA-E5D8-3C33C1A0DFF3}"/>
              </a:ext>
            </a:extLst>
          </p:cNvPr>
          <p:cNvSpPr txBox="1"/>
          <p:nvPr/>
        </p:nvSpPr>
        <p:spPr>
          <a:xfrm>
            <a:off x="6479349" y="418136"/>
            <a:ext cx="4179349" cy="359329"/>
          </a:xfrm>
          <a:prstGeom prst="rect">
            <a:avLst/>
          </a:prstGeom>
          <a:noFill/>
        </p:spPr>
        <p:txBody>
          <a:bodyPr wrap="none" rtlCol="0">
            <a:spAutoFit/>
          </a:bodyPr>
          <a:lstStyle/>
          <a:p>
            <a:pPr lvl="0">
              <a:lnSpc>
                <a:spcPct val="120000"/>
              </a:lnSpc>
              <a:spcAft>
                <a:spcPts val="1200"/>
              </a:spcAft>
              <a:defRPr/>
            </a:pPr>
            <a:r>
              <a:rPr lang="en-US" altLang="ja-JP" sz="1600" dirty="0">
                <a:latin typeface="Segoe UI" panose="020B0502040204020203" pitchFamily="34" charset="0"/>
                <a:ea typeface="Meiryo UI" panose="020B0604030504040204" pitchFamily="50" charset="-128"/>
              </a:rPr>
              <a:t>[2] </a:t>
            </a:r>
            <a:r>
              <a:rPr lang="ja-JP" altLang="en-US" sz="1600" dirty="0">
                <a:latin typeface="Segoe UI" panose="020B0502040204020203" pitchFamily="34" charset="0"/>
                <a:ea typeface="Meiryo UI" panose="020B0604030504040204" pitchFamily="50" charset="-128"/>
              </a:rPr>
              <a:t>関口ら</a:t>
            </a:r>
            <a:r>
              <a:rPr lang="en-US" altLang="ja-JP" sz="1600" dirty="0">
                <a:latin typeface="Segoe UI" panose="020B0502040204020203" pitchFamily="34" charset="0"/>
                <a:ea typeface="Meiryo UI" panose="020B0604030504040204" pitchFamily="50" charset="-128"/>
              </a:rPr>
              <a:t>, </a:t>
            </a:r>
            <a:r>
              <a:rPr lang="ja-JP" altLang="en-US" sz="1600" dirty="0">
                <a:latin typeface="Segoe UI" panose="020B0502040204020203" pitchFamily="34" charset="0"/>
                <a:ea typeface="Meiryo UI" panose="020B0604030504040204" pitchFamily="50" charset="-128"/>
              </a:rPr>
              <a:t>日本バーチャルリアリティ学会誌</a:t>
            </a:r>
            <a:r>
              <a:rPr lang="en-US" altLang="ja-JP" sz="1600" dirty="0">
                <a:latin typeface="Segoe UI" panose="020B0502040204020203" pitchFamily="34" charset="0"/>
                <a:ea typeface="Meiryo UI" panose="020B0604030504040204" pitchFamily="50" charset="-128"/>
              </a:rPr>
              <a:t>, 2019</a:t>
            </a:r>
          </a:p>
        </p:txBody>
      </p:sp>
      <p:sp>
        <p:nvSpPr>
          <p:cNvPr id="62" name="テキスト ボックス 61">
            <a:extLst>
              <a:ext uri="{FF2B5EF4-FFF2-40B4-BE49-F238E27FC236}">
                <a16:creationId xmlns:a16="http://schemas.microsoft.com/office/drawing/2014/main" id="{E44652DC-5A1B-E29D-B41D-CD6A0A5A4FB4}"/>
              </a:ext>
            </a:extLst>
          </p:cNvPr>
          <p:cNvSpPr txBox="1"/>
          <p:nvPr/>
        </p:nvSpPr>
        <p:spPr>
          <a:xfrm>
            <a:off x="6479349" y="185681"/>
            <a:ext cx="4459875" cy="359329"/>
          </a:xfrm>
          <a:prstGeom prst="rect">
            <a:avLst/>
          </a:prstGeom>
          <a:noFill/>
        </p:spPr>
        <p:txBody>
          <a:bodyPr wrap="none" rtlCol="0">
            <a:spAutoFit/>
          </a:bodyPr>
          <a:lstStyle/>
          <a:p>
            <a:pPr lvl="0">
              <a:lnSpc>
                <a:spcPct val="120000"/>
              </a:lnSpc>
              <a:spcAft>
                <a:spcPts val="1200"/>
              </a:spcAft>
              <a:defRPr/>
            </a:pPr>
            <a:r>
              <a:rPr lang="en-US" altLang="ja-JP" sz="1600" dirty="0">
                <a:latin typeface="Segoe UI" panose="020B0502040204020203" pitchFamily="34" charset="0"/>
                <a:ea typeface="Meiryo UI" panose="020B0604030504040204" pitchFamily="50" charset="-128"/>
              </a:rPr>
              <a:t>[1] </a:t>
            </a:r>
            <a:r>
              <a:rPr lang="ja-JP" altLang="en-US" sz="1600" dirty="0">
                <a:latin typeface="Segoe UI" panose="020B0502040204020203" pitchFamily="34" charset="0"/>
                <a:ea typeface="Meiryo UI" panose="020B0604030504040204" pitchFamily="50" charset="-128"/>
              </a:rPr>
              <a:t>上野ら</a:t>
            </a:r>
            <a:r>
              <a:rPr lang="en-US" altLang="ja-JP" sz="1600" dirty="0">
                <a:latin typeface="Segoe UI" panose="020B0502040204020203" pitchFamily="34" charset="0"/>
                <a:ea typeface="Meiryo UI" panose="020B0604030504040204" pitchFamily="50" charset="-128"/>
              </a:rPr>
              <a:t>, </a:t>
            </a:r>
            <a:r>
              <a:rPr lang="ja-JP" altLang="en-US" sz="1600" dirty="0">
                <a:latin typeface="Segoe UI" panose="020B0502040204020203" pitchFamily="34" charset="0"/>
                <a:ea typeface="Meiryo UI" panose="020B0604030504040204" pitchFamily="50" charset="-128"/>
              </a:rPr>
              <a:t>第</a:t>
            </a:r>
            <a:r>
              <a:rPr lang="en-US" altLang="ja-JP" sz="1600" dirty="0">
                <a:latin typeface="Segoe UI" panose="020B0502040204020203" pitchFamily="34" charset="0"/>
                <a:ea typeface="Meiryo UI" panose="020B0604030504040204" pitchFamily="50" charset="-128"/>
              </a:rPr>
              <a:t>12</a:t>
            </a:r>
            <a:r>
              <a:rPr lang="ja-JP" altLang="en-US" sz="1600" dirty="0">
                <a:latin typeface="Segoe UI" panose="020B0502040204020203" pitchFamily="34" charset="0"/>
                <a:ea typeface="Meiryo UI" panose="020B0604030504040204" pitchFamily="50" charset="-128"/>
              </a:rPr>
              <a:t>回 日本</a:t>
            </a:r>
            <a:r>
              <a:rPr lang="en-US" altLang="ja-JP" sz="1600" dirty="0">
                <a:latin typeface="Segoe UI" panose="020B0502040204020203" pitchFamily="34" charset="0"/>
                <a:ea typeface="Meiryo UI" panose="020B0604030504040204" pitchFamily="50" charset="-128"/>
              </a:rPr>
              <a:t>VR</a:t>
            </a:r>
            <a:r>
              <a:rPr lang="ja-JP" altLang="en-US" sz="1600" dirty="0">
                <a:latin typeface="Segoe UI" panose="020B0502040204020203" pitchFamily="34" charset="0"/>
                <a:ea typeface="Meiryo UI" panose="020B0604030504040204" pitchFamily="50" charset="-128"/>
              </a:rPr>
              <a:t>医学会学術大会</a:t>
            </a:r>
            <a:r>
              <a:rPr lang="en-US" altLang="ja-JP" sz="1600" dirty="0">
                <a:latin typeface="Segoe UI" panose="020B0502040204020203" pitchFamily="34" charset="0"/>
                <a:ea typeface="Meiryo UI" panose="020B0604030504040204" pitchFamily="50" charset="-128"/>
              </a:rPr>
              <a:t>, 2012</a:t>
            </a:r>
          </a:p>
        </p:txBody>
      </p:sp>
      <p:sp>
        <p:nvSpPr>
          <p:cNvPr id="18" name="正方形/長方形 17">
            <a:extLst>
              <a:ext uri="{FF2B5EF4-FFF2-40B4-BE49-F238E27FC236}">
                <a16:creationId xmlns:a16="http://schemas.microsoft.com/office/drawing/2014/main" id="{1316E5FE-DC0C-F6C6-03BC-7E981F7F2CF3}"/>
              </a:ext>
            </a:extLst>
          </p:cNvPr>
          <p:cNvSpPr/>
          <p:nvPr/>
        </p:nvSpPr>
        <p:spPr>
          <a:xfrm>
            <a:off x="2452688" y="3862387"/>
            <a:ext cx="1490662" cy="22383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761A49F7-65A4-4C0C-9EBC-7122A2E63FB0}"/>
              </a:ext>
            </a:extLst>
          </p:cNvPr>
          <p:cNvSpPr txBox="1"/>
          <p:nvPr/>
        </p:nvSpPr>
        <p:spPr>
          <a:xfrm>
            <a:off x="2021658" y="3719074"/>
            <a:ext cx="2339102" cy="492827"/>
          </a:xfrm>
          <a:prstGeom prst="rect">
            <a:avLst/>
          </a:prstGeom>
          <a:noFill/>
          <a:ln w="19050">
            <a:noFill/>
          </a:ln>
        </p:spPr>
        <p:txBody>
          <a:bodyPr wrap="none" rtlCol="0" anchor="ctr">
            <a:spAutoFit/>
          </a:bodyPr>
          <a:lstStyle/>
          <a:p>
            <a:pPr algn="ctr">
              <a:lnSpc>
                <a:spcPct val="120000"/>
              </a:lnSpc>
              <a:spcBef>
                <a:spcPts val="1200"/>
              </a:spcBef>
              <a:buClr>
                <a:schemeClr val="tx1"/>
              </a:buClr>
            </a:pPr>
            <a:r>
              <a:rPr lang="ja-JP" altLang="en-US" sz="2400" dirty="0">
                <a:effectLst/>
                <a:latin typeface="Segoe UI" panose="020B0502040204020203" pitchFamily="34" charset="0"/>
                <a:ea typeface="Meiryo UI" panose="020B0604030504040204" pitchFamily="50" charset="-128"/>
              </a:rPr>
              <a:t>大動脈弁狭窄症</a:t>
            </a:r>
            <a:endParaRPr kumimoji="1" lang="ja-JP" altLang="en-US" sz="2400" dirty="0">
              <a:effectLst/>
              <a:latin typeface="Segoe UI" panose="020B0502040204020203" pitchFamily="34" charset="0"/>
              <a:ea typeface="Meiryo UI" panose="020B0604030504040204" pitchFamily="50" charset="-128"/>
            </a:endParaRPr>
          </a:p>
        </p:txBody>
      </p:sp>
      <p:sp>
        <p:nvSpPr>
          <p:cNvPr id="19" name="テキスト ボックス 18">
            <a:extLst>
              <a:ext uri="{FF2B5EF4-FFF2-40B4-BE49-F238E27FC236}">
                <a16:creationId xmlns:a16="http://schemas.microsoft.com/office/drawing/2014/main" id="{BF901EC9-54B7-CB7B-DFFD-8E843F699E48}"/>
              </a:ext>
            </a:extLst>
          </p:cNvPr>
          <p:cNvSpPr txBox="1"/>
          <p:nvPr/>
        </p:nvSpPr>
        <p:spPr>
          <a:xfrm>
            <a:off x="890273" y="4146943"/>
            <a:ext cx="1236236"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kumimoji="1" lang="ja-JP" altLang="en-US" sz="2000" dirty="0">
                <a:effectLst>
                  <a:glow rad="127000">
                    <a:schemeClr val="bg1"/>
                  </a:glow>
                </a:effectLst>
                <a:latin typeface="Segoe UI" panose="020B0502040204020203" pitchFamily="34" charset="0"/>
                <a:ea typeface="Meiryo UI" panose="020B0604030504040204" pitchFamily="50" charset="-128"/>
              </a:rPr>
              <a:t>カメラ映像</a:t>
            </a:r>
          </a:p>
        </p:txBody>
      </p:sp>
      <p:sp>
        <p:nvSpPr>
          <p:cNvPr id="29" name="正方形/長方形 28">
            <a:extLst>
              <a:ext uri="{FF2B5EF4-FFF2-40B4-BE49-F238E27FC236}">
                <a16:creationId xmlns:a16="http://schemas.microsoft.com/office/drawing/2014/main" id="{FFB0A9B8-82F2-720B-707B-9D1E0B38B6F7}"/>
              </a:ext>
            </a:extLst>
          </p:cNvPr>
          <p:cNvSpPr/>
          <p:nvPr/>
        </p:nvSpPr>
        <p:spPr>
          <a:xfrm>
            <a:off x="3200399" y="4312445"/>
            <a:ext cx="1023938" cy="130968"/>
          </a:xfrm>
          <a:prstGeom prst="rect">
            <a:avLst/>
          </a:prstGeom>
          <a:solidFill>
            <a:srgbClr val="F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8AE83E98-E119-7C80-8D3C-F8179FF24BDE}"/>
              </a:ext>
            </a:extLst>
          </p:cNvPr>
          <p:cNvSpPr txBox="1"/>
          <p:nvPr/>
        </p:nvSpPr>
        <p:spPr>
          <a:xfrm>
            <a:off x="3124015" y="4146943"/>
            <a:ext cx="1210588"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kumimoji="1" lang="ja-JP" altLang="en-US" sz="2000" dirty="0">
                <a:effectLst>
                  <a:glow rad="127000">
                    <a:schemeClr val="bg1"/>
                  </a:glow>
                </a:effectLst>
                <a:latin typeface="Segoe UI" panose="020B0502040204020203" pitchFamily="34" charset="0"/>
                <a:ea typeface="Meiryo UI" panose="020B0604030504040204" pitchFamily="50" charset="-128"/>
              </a:rPr>
              <a:t>聴診位置</a:t>
            </a:r>
          </a:p>
        </p:txBody>
      </p:sp>
      <p:sp>
        <p:nvSpPr>
          <p:cNvPr id="30" name="正方形/長方形 29">
            <a:extLst>
              <a:ext uri="{FF2B5EF4-FFF2-40B4-BE49-F238E27FC236}">
                <a16:creationId xmlns:a16="http://schemas.microsoft.com/office/drawing/2014/main" id="{37470801-1A59-D28D-404C-327E2FED91F3}"/>
              </a:ext>
            </a:extLst>
          </p:cNvPr>
          <p:cNvSpPr/>
          <p:nvPr/>
        </p:nvSpPr>
        <p:spPr>
          <a:xfrm>
            <a:off x="4870449" y="4312445"/>
            <a:ext cx="1023938" cy="130968"/>
          </a:xfrm>
          <a:prstGeom prst="rect">
            <a:avLst/>
          </a:prstGeom>
          <a:solidFill>
            <a:srgbClr val="F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C444A96F-FA83-33FD-EF5E-577B56A2D31A}"/>
              </a:ext>
            </a:extLst>
          </p:cNvPr>
          <p:cNvSpPr txBox="1"/>
          <p:nvPr/>
        </p:nvSpPr>
        <p:spPr>
          <a:xfrm>
            <a:off x="4803653" y="4146943"/>
            <a:ext cx="1210588"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kumimoji="1" lang="ja-JP" altLang="en-US" sz="2000" dirty="0">
                <a:effectLst>
                  <a:glow rad="127000">
                    <a:schemeClr val="bg1"/>
                  </a:glow>
                </a:effectLst>
                <a:latin typeface="Segoe UI" panose="020B0502040204020203" pitchFamily="34" charset="0"/>
                <a:ea typeface="Meiryo UI" panose="020B0604030504040204" pitchFamily="50" charset="-128"/>
              </a:rPr>
              <a:t>心音波形</a:t>
            </a:r>
          </a:p>
        </p:txBody>
      </p:sp>
      <p:sp>
        <p:nvSpPr>
          <p:cNvPr id="32" name="正方形/長方形 31">
            <a:extLst>
              <a:ext uri="{FF2B5EF4-FFF2-40B4-BE49-F238E27FC236}">
                <a16:creationId xmlns:a16="http://schemas.microsoft.com/office/drawing/2014/main" id="{F75966AB-18E0-54EF-6E1D-EC17F2489BA9}"/>
              </a:ext>
            </a:extLst>
          </p:cNvPr>
          <p:cNvSpPr/>
          <p:nvPr/>
        </p:nvSpPr>
        <p:spPr>
          <a:xfrm>
            <a:off x="4870449" y="5333525"/>
            <a:ext cx="1023938" cy="130968"/>
          </a:xfrm>
          <a:prstGeom prst="rect">
            <a:avLst/>
          </a:prstGeom>
          <a:solidFill>
            <a:srgbClr val="F0F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テキスト ボックス 26">
            <a:extLst>
              <a:ext uri="{FF2B5EF4-FFF2-40B4-BE49-F238E27FC236}">
                <a16:creationId xmlns:a16="http://schemas.microsoft.com/office/drawing/2014/main" id="{095EF9EE-E44F-196A-AD68-B956A9E00F76}"/>
              </a:ext>
            </a:extLst>
          </p:cNvPr>
          <p:cNvSpPr txBox="1"/>
          <p:nvPr/>
        </p:nvSpPr>
        <p:spPr>
          <a:xfrm>
            <a:off x="4675413" y="5178022"/>
            <a:ext cx="1467068" cy="426079"/>
          </a:xfrm>
          <a:prstGeom prst="rect">
            <a:avLst/>
          </a:prstGeom>
          <a:noFill/>
          <a:ln w="19050">
            <a:noFill/>
          </a:ln>
        </p:spPr>
        <p:txBody>
          <a:bodyPr wrap="none" rtlCol="0" anchor="ctr">
            <a:spAutoFit/>
          </a:bodyPr>
          <a:lstStyle/>
          <a:p>
            <a:pPr algn="ctr">
              <a:lnSpc>
                <a:spcPct val="120000"/>
              </a:lnSpc>
              <a:spcBef>
                <a:spcPts val="1200"/>
              </a:spcBef>
              <a:buClr>
                <a:schemeClr val="tx1"/>
              </a:buClr>
            </a:pPr>
            <a:r>
              <a:rPr lang="ja-JP" altLang="en-US" sz="2000" dirty="0">
                <a:effectLst>
                  <a:glow rad="127000">
                    <a:schemeClr val="bg1"/>
                  </a:glow>
                </a:effectLst>
                <a:latin typeface="Segoe UI" panose="020B0502040204020203" pitchFamily="34" charset="0"/>
                <a:ea typeface="Meiryo UI" panose="020B0604030504040204" pitchFamily="50" charset="-128"/>
              </a:rPr>
              <a:t>呼吸音</a:t>
            </a:r>
            <a:r>
              <a:rPr kumimoji="1" lang="ja-JP" altLang="en-US" sz="2000" dirty="0">
                <a:effectLst>
                  <a:glow rad="127000">
                    <a:schemeClr val="bg1"/>
                  </a:glow>
                </a:effectLst>
                <a:latin typeface="Segoe UI" panose="020B0502040204020203" pitchFamily="34" charset="0"/>
                <a:ea typeface="Meiryo UI" panose="020B0604030504040204" pitchFamily="50" charset="-128"/>
              </a:rPr>
              <a:t>波形</a:t>
            </a:r>
          </a:p>
        </p:txBody>
      </p:sp>
    </p:spTree>
    <p:extLst>
      <p:ext uri="{BB962C8B-B14F-4D97-AF65-F5344CB8AC3E}">
        <p14:creationId xmlns:p14="http://schemas.microsoft.com/office/powerpoint/2010/main" val="7680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167" fill="hold"/>
                                        <p:tgtEl>
                                          <p:spTgt spid="4"/>
                                        </p:tgtEl>
                                      </p:cBhvr>
                                    </p:cmd>
                                  </p:childTnLst>
                                </p:cTn>
                              </p:par>
                              <p:par>
                                <p:cTn id="7" presetID="1" presetClass="mediacall" presetSubtype="0" fill="hold" nodeType="withEffect">
                                  <p:stCondLst>
                                    <p:cond delay="0"/>
                                  </p:stCondLst>
                                  <p:childTnLst>
                                    <p:cmd type="call" cmd="playFrom(0.0)">
                                      <p:cBhvr>
                                        <p:cTn id="8" dur="716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9" repeatCount="indefinite" fill="remove" display="0">
                  <p:stCondLst>
                    <p:cond delay="indefinite"/>
                  </p:stCondLst>
                </p:cTn>
                <p:tgtEl>
                  <p:spTgt spid="4"/>
                </p:tgtEl>
              </p:cMediaNode>
            </p:video>
            <p:video>
              <p:cMediaNode vol="0" mute="1">
                <p:cTn id="10" repeatCount="indefinite" fill="remove" display="0">
                  <p:stCondLst>
                    <p:cond delay="indefinite"/>
                  </p:stCondLst>
                </p:cTn>
                <p:tgtEl>
                  <p:spTgt spid="6"/>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AAC90-8911-C657-9683-51E03A847E6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6EBEBC8-C32F-DBA9-3473-0B5985E9ACCC}"/>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2</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BC91EBBD-AAE9-B169-FCCA-9C2A728DA954}"/>
              </a:ext>
            </a:extLst>
          </p:cNvPr>
          <p:cNvSpPr>
            <a:spLocks noGrp="1"/>
          </p:cNvSpPr>
          <p:nvPr>
            <p:ph type="title"/>
          </p:nvPr>
        </p:nvSpPr>
        <p:spPr/>
        <p:txBody>
          <a:bodyPr>
            <a:normAutofit/>
          </a:bodyPr>
          <a:lstStyle/>
          <a:p>
            <a:r>
              <a:rPr lang="ja-JP" altLang="en-US" dirty="0"/>
              <a:t>研究目的</a:t>
            </a:r>
            <a:endParaRPr lang="en-JP" altLang="ja-JP" dirty="0"/>
          </a:p>
        </p:txBody>
      </p:sp>
      <p:sp>
        <p:nvSpPr>
          <p:cNvPr id="45" name="TextBox 7">
            <a:extLst>
              <a:ext uri="{FF2B5EF4-FFF2-40B4-BE49-F238E27FC236}">
                <a16:creationId xmlns:a16="http://schemas.microsoft.com/office/drawing/2014/main" id="{491A28C6-E137-682B-8E8B-3E7609A1FDD6}"/>
              </a:ext>
            </a:extLst>
          </p:cNvPr>
          <p:cNvSpPr txBox="1"/>
          <p:nvPr/>
        </p:nvSpPr>
        <p:spPr>
          <a:xfrm>
            <a:off x="6008609" y="808121"/>
            <a:ext cx="5131533" cy="461665"/>
          </a:xfrm>
          <a:prstGeom prst="rect">
            <a:avLst/>
          </a:prstGeom>
          <a:noFill/>
        </p:spPr>
        <p:txBody>
          <a:bodyPr wrap="square" rtlCol="0">
            <a:spAutoFit/>
          </a:bodyPr>
          <a:lstStyle/>
          <a:p>
            <a:r>
              <a:rPr lang="en-US" altLang="ja-JP" sz="2400" b="1" dirty="0">
                <a:solidFill>
                  <a:sysClr val="windowText" lastClr="000000"/>
                </a:solidFill>
                <a:latin typeface="Segoe UI" panose="020B0502040204020203" pitchFamily="34" charset="0"/>
                <a:ea typeface="Meiryo UI" panose="020B0604030504040204" pitchFamily="50" charset="-128"/>
              </a:rPr>
              <a:t>EARS</a:t>
            </a:r>
            <a:r>
              <a:rPr lang="ja-JP" altLang="en-US" sz="2400" b="1" dirty="0">
                <a:solidFill>
                  <a:sysClr val="windowText" lastClr="000000"/>
                </a:solidFill>
                <a:latin typeface="Segoe UI" panose="020B0502040204020203" pitchFamily="34" charset="0"/>
                <a:ea typeface="Meiryo UI" panose="020B0604030504040204" pitchFamily="50" charset="-128"/>
              </a:rPr>
              <a:t>における呼吸音同期再生方法</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27" name="テキスト ボックス 26">
            <a:extLst>
              <a:ext uri="{FF2B5EF4-FFF2-40B4-BE49-F238E27FC236}">
                <a16:creationId xmlns:a16="http://schemas.microsoft.com/office/drawing/2014/main" id="{C3A54554-B37F-18FE-4965-1F759F211B98}"/>
              </a:ext>
            </a:extLst>
          </p:cNvPr>
          <p:cNvSpPr txBox="1"/>
          <p:nvPr/>
        </p:nvSpPr>
        <p:spPr>
          <a:xfrm>
            <a:off x="6008609" y="1222728"/>
            <a:ext cx="6040436" cy="936025"/>
          </a:xfrm>
          <a:prstGeom prst="rect">
            <a:avLst/>
          </a:prstGeom>
          <a:noFill/>
        </p:spPr>
        <p:txBody>
          <a:bodyPr wrap="none">
            <a:spAutoFit/>
          </a:bodyPr>
          <a:lstStyle/>
          <a:p>
            <a:pPr lvl="0">
              <a:lnSpc>
                <a:spcPct val="120000"/>
              </a:lnSpc>
              <a:defRPr/>
            </a:pPr>
            <a:r>
              <a:rPr lang="ja-JP" altLang="en-US" sz="2400" dirty="0">
                <a:solidFill>
                  <a:prstClr val="black"/>
                </a:solidFill>
                <a:latin typeface="Segoe UI" panose="020B0502040204020203" pitchFamily="34" charset="0"/>
                <a:ea typeface="Meiryo UI" panose="020B0604030504040204" pitchFamily="50" charset="-128"/>
              </a:rPr>
              <a:t>聴診器デバイスと模擬患者の呼吸音同期のため</a:t>
            </a:r>
            <a:br>
              <a:rPr lang="en-US" altLang="ja-JP" sz="2400" dirty="0">
                <a:solidFill>
                  <a:prstClr val="black"/>
                </a:solidFill>
                <a:latin typeface="Segoe UI" panose="020B0502040204020203" pitchFamily="34" charset="0"/>
                <a:ea typeface="Meiryo UI" panose="020B0604030504040204" pitchFamily="50" charset="-128"/>
              </a:rPr>
            </a:br>
            <a:r>
              <a:rPr lang="ja-JP" altLang="en-US" sz="2400" dirty="0">
                <a:solidFill>
                  <a:prstClr val="black"/>
                </a:solidFill>
                <a:latin typeface="Segoe UI" panose="020B0502040204020203" pitchFamily="34" charset="0"/>
                <a:ea typeface="Meiryo UI" panose="020B0604030504040204" pitchFamily="50" charset="-128"/>
              </a:rPr>
              <a:t>デバイスの提示に合わせて模擬患者は呼吸</a:t>
            </a:r>
          </a:p>
        </p:txBody>
      </p:sp>
      <p:grpSp>
        <p:nvGrpSpPr>
          <p:cNvPr id="6" name="グループ化 5">
            <a:extLst>
              <a:ext uri="{FF2B5EF4-FFF2-40B4-BE49-F238E27FC236}">
                <a16:creationId xmlns:a16="http://schemas.microsoft.com/office/drawing/2014/main" id="{1EE190FA-0C3C-FAFF-0CA5-C0939394BDA4}"/>
              </a:ext>
            </a:extLst>
          </p:cNvPr>
          <p:cNvGrpSpPr/>
          <p:nvPr/>
        </p:nvGrpSpPr>
        <p:grpSpPr>
          <a:xfrm>
            <a:off x="408259" y="5409984"/>
            <a:ext cx="11375482" cy="1162982"/>
            <a:chOff x="57883" y="5409984"/>
            <a:chExt cx="11375482" cy="1162982"/>
          </a:xfrm>
        </p:grpSpPr>
        <p:sp>
          <p:nvSpPr>
            <p:cNvPr id="60" name="テキスト ボックス 59">
              <a:extLst>
                <a:ext uri="{FF2B5EF4-FFF2-40B4-BE49-F238E27FC236}">
                  <a16:creationId xmlns:a16="http://schemas.microsoft.com/office/drawing/2014/main" id="{11DB649A-083F-99E3-40E9-698E27CACBC3}"/>
                </a:ext>
              </a:extLst>
            </p:cNvPr>
            <p:cNvSpPr txBox="1"/>
            <p:nvPr/>
          </p:nvSpPr>
          <p:spPr>
            <a:xfrm>
              <a:off x="2650249" y="6059840"/>
              <a:ext cx="7713970" cy="492827"/>
            </a:xfrm>
            <a:prstGeom prst="rect">
              <a:avLst/>
            </a:prstGeom>
            <a:noFill/>
            <a:ln>
              <a:noFill/>
            </a:ln>
          </p:spPr>
          <p:txBody>
            <a:bodyPr wrap="none" rtlCol="0" anchor="ctr">
              <a:spAutoFit/>
            </a:bodyPr>
            <a:lstStyle/>
            <a:p>
              <a:pPr algn="ctr">
                <a:lnSpc>
                  <a:spcPct val="120000"/>
                </a:lnSpc>
                <a:spcBef>
                  <a:spcPts val="1200"/>
                </a:spcBef>
                <a:buSzPts val="1800"/>
              </a:pPr>
              <a:r>
                <a:rPr lang="ja-JP" altLang="en-US" sz="2400" b="1" dirty="0">
                  <a:solidFill>
                    <a:srgbClr val="000000"/>
                  </a:solidFill>
                  <a:latin typeface="Segoe UI" panose="020B0502040204020203" pitchFamily="34" charset="0"/>
                  <a:ea typeface="Meiryo UI" panose="020B0604030504040204" pitchFamily="50" charset="-128"/>
                  <a:cs typeface="Arial" panose="020B0604020202020204" pitchFamily="34" charset="0"/>
                </a:rPr>
                <a:t>模擬患者の自発呼吸に同期した呼吸音再生システムの構築</a:t>
              </a:r>
              <a:endParaRPr kumimoji="1" lang="ja-JP" altLang="en-US" sz="2400" b="1" i="0" strike="noStrike" spc="0" baseline="0" dirty="0">
                <a:ln>
                  <a:noFill/>
                </a:ln>
                <a:solidFill>
                  <a:srgbClr val="000000"/>
                </a:solidFill>
                <a:effectLst/>
                <a:latin typeface="Segoe UI" panose="020B0502040204020203" pitchFamily="34" charset="0"/>
                <a:ea typeface="Meiryo UI" panose="020B0604030504040204" pitchFamily="50" charset="-128"/>
                <a:cs typeface="Arial" panose="020B0604020202020204" pitchFamily="34" charset="0"/>
              </a:endParaRPr>
            </a:p>
          </p:txBody>
        </p:sp>
        <p:sp>
          <p:nvSpPr>
            <p:cNvPr id="61" name="正方形/長方形 60">
              <a:extLst>
                <a:ext uri="{FF2B5EF4-FFF2-40B4-BE49-F238E27FC236}">
                  <a16:creationId xmlns:a16="http://schemas.microsoft.com/office/drawing/2014/main" id="{3A933B0C-5532-E7DE-457C-59FFDE71107C}"/>
                </a:ext>
              </a:extLst>
            </p:cNvPr>
            <p:cNvSpPr/>
            <p:nvPr/>
          </p:nvSpPr>
          <p:spPr>
            <a:xfrm>
              <a:off x="57883" y="6039541"/>
              <a:ext cx="1522365" cy="533425"/>
            </a:xfrm>
            <a:prstGeom prst="rect">
              <a:avLst/>
            </a:prstGeom>
            <a:solidFill>
              <a:srgbClr val="C00000"/>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latin typeface="Segoe UI" panose="020B0502040204020203" pitchFamily="34" charset="0"/>
                  <a:ea typeface="Meiryo UI" panose="020B0604030504040204" pitchFamily="50" charset="-128"/>
                </a:rPr>
                <a:t>研究目的</a:t>
              </a:r>
            </a:p>
          </p:txBody>
        </p:sp>
        <p:sp>
          <p:nvSpPr>
            <p:cNvPr id="62" name="正方形/長方形 61">
              <a:extLst>
                <a:ext uri="{FF2B5EF4-FFF2-40B4-BE49-F238E27FC236}">
                  <a16:creationId xmlns:a16="http://schemas.microsoft.com/office/drawing/2014/main" id="{7BF07363-E4B6-791E-82DD-30F31E4FFDF3}"/>
                </a:ext>
              </a:extLst>
            </p:cNvPr>
            <p:cNvSpPr/>
            <p:nvPr/>
          </p:nvSpPr>
          <p:spPr>
            <a:xfrm>
              <a:off x="1581104" y="6039541"/>
              <a:ext cx="9852261" cy="53342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noFill/>
                <a:latin typeface="Segoe UI" panose="020B0502040204020203" pitchFamily="34" charset="0"/>
                <a:ea typeface="Meiryo UI" panose="020B0604030504040204" pitchFamily="50" charset="-128"/>
              </a:endParaRPr>
            </a:p>
          </p:txBody>
        </p:sp>
        <p:sp>
          <p:nvSpPr>
            <p:cNvPr id="36" name="テキスト ボックス 35">
              <a:extLst>
                <a:ext uri="{FF2B5EF4-FFF2-40B4-BE49-F238E27FC236}">
                  <a16:creationId xmlns:a16="http://schemas.microsoft.com/office/drawing/2014/main" id="{8BECDD84-DA65-FBE4-751D-04C7F881B5BF}"/>
                </a:ext>
              </a:extLst>
            </p:cNvPr>
            <p:cNvSpPr txBox="1"/>
            <p:nvPr/>
          </p:nvSpPr>
          <p:spPr>
            <a:xfrm>
              <a:off x="1589926" y="5430283"/>
              <a:ext cx="9834616" cy="492827"/>
            </a:xfrm>
            <a:prstGeom prst="rect">
              <a:avLst/>
            </a:prstGeom>
            <a:noFill/>
          </p:spPr>
          <p:txBody>
            <a:bodyPr wrap="none" rtlCol="0" anchor="ctr">
              <a:spAutoFit/>
            </a:bodyPr>
            <a:lstStyle/>
            <a:p>
              <a:pPr algn="ctr">
                <a:lnSpc>
                  <a:spcPct val="120000"/>
                </a:lnSpc>
                <a:spcBef>
                  <a:spcPts val="1200"/>
                </a:spcBef>
                <a:buSzPts val="1800"/>
              </a:pPr>
              <a:r>
                <a:rPr lang="en-US" altLang="ja-JP" sz="2400" dirty="0">
                  <a:solidFill>
                    <a:srgbClr val="000000"/>
                  </a:solidFill>
                  <a:latin typeface="Segoe UI" panose="020B0502040204020203" pitchFamily="34" charset="0"/>
                  <a:ea typeface="Meiryo UI" panose="020B0604030504040204" pitchFamily="50" charset="-128"/>
                  <a:cs typeface="Arial" panose="020B0604020202020204" pitchFamily="34" charset="0"/>
                </a:rPr>
                <a:t>EARS</a:t>
              </a:r>
              <a:r>
                <a:rPr lang="ja-JP" altLang="en-US" sz="2400" dirty="0">
                  <a:solidFill>
                    <a:srgbClr val="000000"/>
                  </a:solidFill>
                  <a:latin typeface="Segoe UI" panose="020B0502040204020203" pitchFamily="34" charset="0"/>
                  <a:ea typeface="Meiryo UI" panose="020B0604030504040204" pitchFamily="50" charset="-128"/>
                  <a:cs typeface="Arial" panose="020B0604020202020204" pitchFamily="34" charset="0"/>
                </a:rPr>
                <a:t>において，模擬患者に呼吸タイミングの指示をして行う聴診訓練が不可能</a:t>
              </a:r>
              <a:endParaRPr kumimoji="1" lang="ja-JP" altLang="en-US" sz="2400" i="0" strike="noStrike" spc="0" baseline="0" dirty="0">
                <a:ln>
                  <a:noFill/>
                </a:ln>
                <a:solidFill>
                  <a:srgbClr val="000000"/>
                </a:solidFill>
                <a:effectLst/>
                <a:latin typeface="Segoe UI" panose="020B0502040204020203" pitchFamily="34" charset="0"/>
                <a:ea typeface="Meiryo UI" panose="020B0604030504040204" pitchFamily="50" charset="-128"/>
                <a:cs typeface="Arial" panose="020B0604020202020204" pitchFamily="34" charset="0"/>
              </a:endParaRPr>
            </a:p>
          </p:txBody>
        </p:sp>
        <p:sp>
          <p:nvSpPr>
            <p:cNvPr id="31" name="正方形/長方形 30">
              <a:extLst>
                <a:ext uri="{FF2B5EF4-FFF2-40B4-BE49-F238E27FC236}">
                  <a16:creationId xmlns:a16="http://schemas.microsoft.com/office/drawing/2014/main" id="{E6FD2CC8-2845-6DFC-9348-1C185A4E47D5}"/>
                </a:ext>
              </a:extLst>
            </p:cNvPr>
            <p:cNvSpPr/>
            <p:nvPr/>
          </p:nvSpPr>
          <p:spPr>
            <a:xfrm>
              <a:off x="57883" y="5409984"/>
              <a:ext cx="1522365" cy="533425"/>
            </a:xfrm>
            <a:prstGeom prst="rect">
              <a:avLst/>
            </a:prstGeom>
            <a:solidFill>
              <a:srgbClr val="002060"/>
            </a:solid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Segoe UI" panose="020B0502040204020203" pitchFamily="34" charset="0"/>
                  <a:ea typeface="Meiryo UI" panose="020B0604030504040204" pitchFamily="50" charset="-128"/>
                </a:rPr>
                <a:t>課題点</a:t>
              </a:r>
              <a:endParaRPr kumimoji="1" lang="ja-JP" altLang="en-US" sz="2400" b="1" dirty="0">
                <a:solidFill>
                  <a:schemeClr val="bg1"/>
                </a:solidFill>
                <a:latin typeface="Segoe UI" panose="020B0502040204020203" pitchFamily="34" charset="0"/>
                <a:ea typeface="Meiryo UI" panose="020B0604030504040204" pitchFamily="50" charset="-128"/>
              </a:endParaRPr>
            </a:p>
          </p:txBody>
        </p:sp>
        <p:sp>
          <p:nvSpPr>
            <p:cNvPr id="32" name="正方形/長方形 31">
              <a:extLst>
                <a:ext uri="{FF2B5EF4-FFF2-40B4-BE49-F238E27FC236}">
                  <a16:creationId xmlns:a16="http://schemas.microsoft.com/office/drawing/2014/main" id="{1DF96FEB-B1A0-1F2F-D507-6B6D79548B31}"/>
                </a:ext>
              </a:extLst>
            </p:cNvPr>
            <p:cNvSpPr/>
            <p:nvPr/>
          </p:nvSpPr>
          <p:spPr>
            <a:xfrm>
              <a:off x="1581104" y="5409984"/>
              <a:ext cx="9852261" cy="533425"/>
            </a:xfrm>
            <a:prstGeom prst="rect">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dirty="0">
                <a:noFill/>
                <a:latin typeface="Segoe UI" panose="020B0502040204020203" pitchFamily="34" charset="0"/>
                <a:ea typeface="Meiryo UI" panose="020B0604030504040204" pitchFamily="50" charset="-128"/>
              </a:endParaRPr>
            </a:p>
          </p:txBody>
        </p:sp>
      </p:grpSp>
      <p:sp>
        <p:nvSpPr>
          <p:cNvPr id="48" name="テキスト ボックス 47">
            <a:extLst>
              <a:ext uri="{FF2B5EF4-FFF2-40B4-BE49-F238E27FC236}">
                <a16:creationId xmlns:a16="http://schemas.microsoft.com/office/drawing/2014/main" id="{4552F990-2871-B1AF-DF69-ED7C229E6079}"/>
              </a:ext>
            </a:extLst>
          </p:cNvPr>
          <p:cNvSpPr txBox="1"/>
          <p:nvPr/>
        </p:nvSpPr>
        <p:spPr>
          <a:xfrm>
            <a:off x="6408719" y="4757375"/>
            <a:ext cx="5240217" cy="426079"/>
          </a:xfrm>
          <a:prstGeom prst="rect">
            <a:avLst/>
          </a:prstGeom>
          <a:noFill/>
        </p:spPr>
        <p:txBody>
          <a:bodyPr wrap="none" rtlCol="0">
            <a:spAutoFit/>
          </a:bodyPr>
          <a:lstStyle/>
          <a:p>
            <a:pPr algn="ctr">
              <a:lnSpc>
                <a:spcPct val="120000"/>
              </a:lnSpc>
              <a:spcBef>
                <a:spcPts val="1200"/>
              </a:spcBef>
              <a:buClr>
                <a:schemeClr val="tx1"/>
              </a:buClr>
            </a:pPr>
            <a:r>
              <a:rPr kumimoji="1" lang="en-US" altLang="ja-JP" sz="2000" dirty="0">
                <a:latin typeface="Segoe UI" panose="020B0502040204020203" pitchFamily="34" charset="0"/>
                <a:ea typeface="Meiryo UI" panose="020B0604030504040204" pitchFamily="50" charset="-128"/>
              </a:rPr>
              <a:t>EARS</a:t>
            </a:r>
            <a:r>
              <a:rPr kumimoji="1" lang="ja-JP" altLang="en-US" sz="2000" dirty="0">
                <a:latin typeface="Segoe UI" panose="020B0502040204020203" pitchFamily="34" charset="0"/>
                <a:ea typeface="Meiryo UI" panose="020B0604030504040204" pitchFamily="50" charset="-128"/>
              </a:rPr>
              <a:t>聴診器デバイスによる呼吸タイミングの提示</a:t>
            </a:r>
          </a:p>
        </p:txBody>
      </p:sp>
      <p:pic>
        <p:nvPicPr>
          <p:cNvPr id="72" name="図 71" descr="屋内, 座る, 小さい, ペア が含まれている画像&#10;&#10;AI 生成コンテンツは誤りを含む可能性があります。">
            <a:extLst>
              <a:ext uri="{FF2B5EF4-FFF2-40B4-BE49-F238E27FC236}">
                <a16:creationId xmlns:a16="http://schemas.microsoft.com/office/drawing/2014/main" id="{C0015479-F228-22E7-CBA8-459C89C3393D}"/>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20000"/>
                    </a14:imgEffect>
                  </a14:imgLayer>
                </a14:imgProps>
              </a:ext>
              <a:ext uri="{28A0092B-C50C-407E-A947-70E740481C1C}">
                <a14:useLocalDpi xmlns:a14="http://schemas.microsoft.com/office/drawing/2010/main" val="0"/>
              </a:ext>
            </a:extLst>
          </a:blip>
          <a:srcRect l="5067" t="39845" r="4679" b="13488"/>
          <a:stretch>
            <a:fillRect/>
          </a:stretch>
        </p:blipFill>
        <p:spPr>
          <a:xfrm rot="16200000">
            <a:off x="6229681" y="3031144"/>
            <a:ext cx="2469600" cy="957925"/>
          </a:xfrm>
          <a:prstGeom prst="rect">
            <a:avLst/>
          </a:prstGeom>
        </p:spPr>
      </p:pic>
      <p:sp>
        <p:nvSpPr>
          <p:cNvPr id="40" name="フリーフォーム: 図形 39">
            <a:extLst>
              <a:ext uri="{FF2B5EF4-FFF2-40B4-BE49-F238E27FC236}">
                <a16:creationId xmlns:a16="http://schemas.microsoft.com/office/drawing/2014/main" id="{FE08112F-53C7-4461-50C4-BCB196BDE49C}"/>
              </a:ext>
            </a:extLst>
          </p:cNvPr>
          <p:cNvSpPr/>
          <p:nvPr/>
        </p:nvSpPr>
        <p:spPr>
          <a:xfrm rot="16200000">
            <a:off x="8988635" y="1993211"/>
            <a:ext cx="990601" cy="3176400"/>
          </a:xfrm>
          <a:custGeom>
            <a:avLst/>
            <a:gdLst>
              <a:gd name="csX0" fmla="*/ 990601 w 990601"/>
              <a:gd name="csY0" fmla="*/ 286497 h 3176400"/>
              <a:gd name="csX1" fmla="*/ 990601 w 990601"/>
              <a:gd name="csY1" fmla="*/ 3176400 h 3176400"/>
              <a:gd name="csX2" fmla="*/ 0 w 990601"/>
              <a:gd name="csY2" fmla="*/ 3176400 h 3176400"/>
              <a:gd name="csX3" fmla="*/ 0 w 990601"/>
              <a:gd name="csY3" fmla="*/ 286497 h 3176400"/>
              <a:gd name="csX4" fmla="*/ 412557 w 990601"/>
              <a:gd name="csY4" fmla="*/ 286497 h 3176400"/>
              <a:gd name="csX5" fmla="*/ 495300 w 990601"/>
              <a:gd name="csY5" fmla="*/ 0 h 3176400"/>
              <a:gd name="csX6" fmla="*/ 578043 w 990601"/>
              <a:gd name="csY6" fmla="*/ 286497 h 3176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990601" h="3176400">
                <a:moveTo>
                  <a:pt x="990601" y="286497"/>
                </a:moveTo>
                <a:lnTo>
                  <a:pt x="990601" y="3176400"/>
                </a:lnTo>
                <a:lnTo>
                  <a:pt x="0" y="3176400"/>
                </a:lnTo>
                <a:lnTo>
                  <a:pt x="0" y="286497"/>
                </a:lnTo>
                <a:lnTo>
                  <a:pt x="412557" y="286497"/>
                </a:lnTo>
                <a:lnTo>
                  <a:pt x="495300" y="0"/>
                </a:lnTo>
                <a:lnTo>
                  <a:pt x="578043" y="286497"/>
                </a:lnTo>
                <a:close/>
              </a:path>
            </a:pathLst>
          </a:cu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000"/>
          </a:p>
        </p:txBody>
      </p:sp>
      <p:sp>
        <p:nvSpPr>
          <p:cNvPr id="73" name="四角形: 角を丸くする 72">
            <a:extLst>
              <a:ext uri="{FF2B5EF4-FFF2-40B4-BE49-F238E27FC236}">
                <a16:creationId xmlns:a16="http://schemas.microsoft.com/office/drawing/2014/main" id="{D4861809-FD02-E030-1EFC-846D7BBBF1CC}"/>
              </a:ext>
            </a:extLst>
          </p:cNvPr>
          <p:cNvSpPr/>
          <p:nvPr/>
        </p:nvSpPr>
        <p:spPr>
          <a:xfrm rot="16200000" flipH="1">
            <a:off x="7576140" y="3493204"/>
            <a:ext cx="122649" cy="176412"/>
          </a:xfrm>
          <a:prstGeom prst="roundRect">
            <a:avLst>
              <a:gd name="adj" fmla="val 1133"/>
            </a:avLst>
          </a:prstGeom>
          <a:noFill/>
          <a:ln w="38100">
            <a:solidFill>
              <a:schemeClr val="bg1"/>
            </a:solidFill>
          </a:ln>
          <a:effectLst>
            <a:glow rad="38100">
              <a:schemeClr val="tx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000" dirty="0">
              <a:solidFill>
                <a:sysClr val="windowText" lastClr="000000"/>
              </a:solidFill>
              <a:latin typeface="Segoe UI" panose="020B0502040204020203" pitchFamily="34" charset="0"/>
              <a:ea typeface="Meiryo UI" panose="020B0604030504040204" pitchFamily="50" charset="-128"/>
            </a:endParaRPr>
          </a:p>
        </p:txBody>
      </p:sp>
      <p:sp>
        <p:nvSpPr>
          <p:cNvPr id="19" name="テキスト ボックス 18">
            <a:extLst>
              <a:ext uri="{FF2B5EF4-FFF2-40B4-BE49-F238E27FC236}">
                <a16:creationId xmlns:a16="http://schemas.microsoft.com/office/drawing/2014/main" id="{E060C580-AE16-3212-020F-A953532C8263}"/>
              </a:ext>
            </a:extLst>
          </p:cNvPr>
          <p:cNvSpPr txBox="1"/>
          <p:nvPr/>
        </p:nvSpPr>
        <p:spPr>
          <a:xfrm>
            <a:off x="8253866" y="3381356"/>
            <a:ext cx="697627" cy="400110"/>
          </a:xfrm>
          <a:prstGeom prst="rect">
            <a:avLst/>
          </a:prstGeom>
          <a:solidFill>
            <a:schemeClr val="bg1"/>
          </a:solidFill>
        </p:spPr>
        <p:txBody>
          <a:bodyPr wrap="none" rtlCol="0">
            <a:spAutoFit/>
          </a:bodyPr>
          <a:lstStyle/>
          <a:p>
            <a:r>
              <a:rPr lang="ja-JP" altLang="en-US" sz="2000" dirty="0">
                <a:latin typeface="Segoe UI" panose="020B0502040204020203" pitchFamily="34" charset="0"/>
                <a:ea typeface="Meiryo UI" panose="020B0604030504040204" pitchFamily="50" charset="-128"/>
              </a:rPr>
              <a:t>吸気</a:t>
            </a:r>
            <a:endParaRPr lang="en-US" altLang="ja-JP" sz="2000" dirty="0">
              <a:latin typeface="Segoe UI" panose="020B0502040204020203" pitchFamily="34" charset="0"/>
              <a:ea typeface="Meiryo UI" panose="020B0604030504040204" pitchFamily="50" charset="-128"/>
            </a:endParaRPr>
          </a:p>
        </p:txBody>
      </p:sp>
      <p:sp>
        <p:nvSpPr>
          <p:cNvPr id="20" name="テキスト ボックス 19">
            <a:extLst>
              <a:ext uri="{FF2B5EF4-FFF2-40B4-BE49-F238E27FC236}">
                <a16:creationId xmlns:a16="http://schemas.microsoft.com/office/drawing/2014/main" id="{1DF57A4D-1122-FB6A-B302-B8609B6BD618}"/>
              </a:ext>
            </a:extLst>
          </p:cNvPr>
          <p:cNvSpPr txBox="1"/>
          <p:nvPr/>
        </p:nvSpPr>
        <p:spPr>
          <a:xfrm>
            <a:off x="10354169" y="3381356"/>
            <a:ext cx="697627" cy="400110"/>
          </a:xfrm>
          <a:prstGeom prst="rect">
            <a:avLst/>
          </a:prstGeom>
          <a:solidFill>
            <a:schemeClr val="bg1"/>
          </a:solidFill>
        </p:spPr>
        <p:txBody>
          <a:bodyPr wrap="none" rtlCol="0">
            <a:spAutoFit/>
          </a:bodyPr>
          <a:lstStyle/>
          <a:p>
            <a:r>
              <a:rPr lang="ja-JP" altLang="en-US" sz="2000" dirty="0">
                <a:latin typeface="Segoe UI" panose="020B0502040204020203" pitchFamily="34" charset="0"/>
                <a:ea typeface="Meiryo UI" panose="020B0604030504040204" pitchFamily="50" charset="-128"/>
              </a:rPr>
              <a:t>呼気</a:t>
            </a:r>
            <a:endParaRPr lang="en-US" altLang="ja-JP" sz="2000" dirty="0">
              <a:latin typeface="Segoe UI" panose="020B0502040204020203" pitchFamily="34" charset="0"/>
              <a:ea typeface="Meiryo UI" panose="020B0604030504040204" pitchFamily="50" charset="-128"/>
            </a:endParaRPr>
          </a:p>
        </p:txBody>
      </p:sp>
      <p:cxnSp>
        <p:nvCxnSpPr>
          <p:cNvPr id="24" name="直線矢印コネクタ 23">
            <a:extLst>
              <a:ext uri="{FF2B5EF4-FFF2-40B4-BE49-F238E27FC236}">
                <a16:creationId xmlns:a16="http://schemas.microsoft.com/office/drawing/2014/main" id="{3CD5E3E7-D340-72E4-327B-616BF3C5CBEB}"/>
              </a:ext>
            </a:extLst>
          </p:cNvPr>
          <p:cNvCxnSpPr>
            <a:cxnSpLocks/>
          </p:cNvCxnSpPr>
          <p:nvPr/>
        </p:nvCxnSpPr>
        <p:spPr>
          <a:xfrm>
            <a:off x="10266763" y="3401411"/>
            <a:ext cx="8335" cy="360000"/>
          </a:xfrm>
          <a:prstGeom prst="straightConnector1">
            <a:avLst/>
          </a:prstGeom>
          <a:solidFill>
            <a:schemeClr val="bg1"/>
          </a:solidFill>
          <a:ln w="57150">
            <a:solidFill>
              <a:schemeClr val="accent4">
                <a:lumMod val="75000"/>
              </a:schemeClr>
            </a:solidFill>
            <a:tailEnd type="triangle"/>
          </a:ln>
          <a:effectLst>
            <a:glow rad="63500">
              <a:schemeClr val="bg1"/>
            </a:glow>
          </a:effectLst>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F40E9ADD-B205-A0D6-8C73-0E29F7EBB1EE}"/>
              </a:ext>
            </a:extLst>
          </p:cNvPr>
          <p:cNvCxnSpPr>
            <a:cxnSpLocks/>
          </p:cNvCxnSpPr>
          <p:nvPr/>
        </p:nvCxnSpPr>
        <p:spPr>
          <a:xfrm flipV="1">
            <a:off x="9030565" y="3401411"/>
            <a:ext cx="0" cy="360000"/>
          </a:xfrm>
          <a:prstGeom prst="straightConnector1">
            <a:avLst/>
          </a:prstGeom>
          <a:solidFill>
            <a:schemeClr val="bg1"/>
          </a:solidFill>
          <a:ln w="57150">
            <a:solidFill>
              <a:schemeClr val="accent1">
                <a:lumMod val="75000"/>
              </a:schemeClr>
            </a:solidFill>
            <a:tailEnd type="triangle"/>
          </a:ln>
          <a:effectLst>
            <a:glow rad="63500">
              <a:schemeClr val="bg1"/>
            </a:glow>
          </a:effectLst>
        </p:spPr>
        <p:style>
          <a:lnRef idx="1">
            <a:schemeClr val="accent1"/>
          </a:lnRef>
          <a:fillRef idx="0">
            <a:schemeClr val="accent1"/>
          </a:fillRef>
          <a:effectRef idx="0">
            <a:schemeClr val="accent1"/>
          </a:effectRef>
          <a:fontRef idx="minor">
            <a:schemeClr val="tx1"/>
          </a:fontRef>
        </p:style>
      </p:cxnSp>
      <p:pic>
        <p:nvPicPr>
          <p:cNvPr id="26" name="MVI_4526">
            <a:hlinkClick r:id="" action="ppaction://media"/>
            <a:extLst>
              <a:ext uri="{FF2B5EF4-FFF2-40B4-BE49-F238E27FC236}">
                <a16:creationId xmlns:a16="http://schemas.microsoft.com/office/drawing/2014/main" id="{E895A08E-4F2C-F103-16BF-37AF016346D5}"/>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9"/>
          <a:srcRect l="44416" t="44976" r="36752" b="34737"/>
          <a:stretch/>
        </p:blipFill>
        <p:spPr>
          <a:xfrm>
            <a:off x="9254417" y="3408425"/>
            <a:ext cx="788494" cy="345973"/>
          </a:xfrm>
          <a:prstGeom prst="rect">
            <a:avLst/>
          </a:prstGeom>
          <a:solidFill>
            <a:schemeClr val="bg1"/>
          </a:solidFill>
          <a:ln w="57150">
            <a:solidFill>
              <a:schemeClr val="bg1"/>
            </a:solidFill>
          </a:ln>
          <a:effectLst>
            <a:glow rad="38100">
              <a:schemeClr val="tx1"/>
            </a:glow>
          </a:effectLst>
        </p:spPr>
      </p:pic>
      <p:sp>
        <p:nvSpPr>
          <p:cNvPr id="42" name="TextBox 7">
            <a:extLst>
              <a:ext uri="{FF2B5EF4-FFF2-40B4-BE49-F238E27FC236}">
                <a16:creationId xmlns:a16="http://schemas.microsoft.com/office/drawing/2014/main" id="{21AD9CD7-C9AE-587F-3120-5E308DA9D6CF}"/>
              </a:ext>
            </a:extLst>
          </p:cNvPr>
          <p:cNvSpPr txBox="1"/>
          <p:nvPr/>
        </p:nvSpPr>
        <p:spPr>
          <a:xfrm>
            <a:off x="215030" y="808121"/>
            <a:ext cx="4507965"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実臨床における患者への呼吸指示</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43" name="テキスト ボックス 42">
            <a:extLst>
              <a:ext uri="{FF2B5EF4-FFF2-40B4-BE49-F238E27FC236}">
                <a16:creationId xmlns:a16="http://schemas.microsoft.com/office/drawing/2014/main" id="{76E6B257-AA5E-C0A3-16C1-3654A7F53E20}"/>
              </a:ext>
            </a:extLst>
          </p:cNvPr>
          <p:cNvSpPr txBox="1"/>
          <p:nvPr/>
        </p:nvSpPr>
        <p:spPr>
          <a:xfrm>
            <a:off x="215030" y="1222728"/>
            <a:ext cx="5379999" cy="936025"/>
          </a:xfrm>
          <a:prstGeom prst="rect">
            <a:avLst/>
          </a:prstGeom>
          <a:noFill/>
        </p:spPr>
        <p:txBody>
          <a:bodyPr wrap="none">
            <a:spAutoFit/>
          </a:bodyPr>
          <a:lstStyle/>
          <a:p>
            <a:pPr>
              <a:lnSpc>
                <a:spcPct val="120000"/>
              </a:lnSpc>
              <a:spcAft>
                <a:spcPts val="1200"/>
              </a:spcAft>
            </a:pPr>
            <a:r>
              <a:rPr lang="ja-JP" altLang="en-US" sz="2400" dirty="0">
                <a:solidFill>
                  <a:srgbClr val="111111"/>
                </a:solidFill>
                <a:latin typeface="Segoe UI" panose="020B0502040204020203" pitchFamily="34" charset="0"/>
                <a:ea typeface="Meiryo UI" panose="020B0604030504040204" pitchFamily="50" charset="-128"/>
                <a:cs typeface="Arial" panose="020B0604020202020204" pitchFamily="34" charset="0"/>
              </a:rPr>
              <a:t>異常呼吸音の聴取のため，医師は患者に</a:t>
            </a:r>
            <a:br>
              <a:rPr lang="en-US" altLang="ja-JP" sz="2400" dirty="0">
                <a:solidFill>
                  <a:srgbClr val="111111"/>
                </a:solidFill>
                <a:latin typeface="Segoe UI" panose="020B0502040204020203" pitchFamily="34" charset="0"/>
                <a:ea typeface="Meiryo UI" panose="020B0604030504040204" pitchFamily="50" charset="-128"/>
                <a:cs typeface="Arial" panose="020B0604020202020204" pitchFamily="34" charset="0"/>
              </a:rPr>
            </a:br>
            <a:r>
              <a:rPr lang="ja-JP" altLang="en-US" sz="2400" dirty="0">
                <a:solidFill>
                  <a:srgbClr val="111111"/>
                </a:solidFill>
                <a:latin typeface="Segoe UI" panose="020B0502040204020203" pitchFamily="34" charset="0"/>
                <a:ea typeface="Meiryo UI" panose="020B0604030504040204" pitchFamily="50" charset="-128"/>
                <a:cs typeface="Arial" panose="020B0604020202020204" pitchFamily="34" charset="0"/>
              </a:rPr>
              <a:t>呼吸タイミングを指示する場合がある</a:t>
            </a:r>
            <a:endParaRPr lang="en-US" altLang="ja-JP" sz="2400" dirty="0">
              <a:solidFill>
                <a:srgbClr val="111111"/>
              </a:solidFill>
              <a:latin typeface="Segoe UI" panose="020B0502040204020203" pitchFamily="34" charset="0"/>
              <a:ea typeface="Meiryo UI" panose="020B0604030504040204" pitchFamily="50" charset="-128"/>
              <a:cs typeface="Arial" panose="020B0604020202020204" pitchFamily="34" charset="0"/>
            </a:endParaRPr>
          </a:p>
        </p:txBody>
      </p:sp>
      <p:sp>
        <p:nvSpPr>
          <p:cNvPr id="29" name="TextBox 7">
            <a:extLst>
              <a:ext uri="{FF2B5EF4-FFF2-40B4-BE49-F238E27FC236}">
                <a16:creationId xmlns:a16="http://schemas.microsoft.com/office/drawing/2014/main" id="{22377341-EC35-9FD0-AE6E-1E84C4CAA218}"/>
              </a:ext>
            </a:extLst>
          </p:cNvPr>
          <p:cNvSpPr txBox="1"/>
          <p:nvPr/>
        </p:nvSpPr>
        <p:spPr>
          <a:xfrm>
            <a:off x="634215" y="4783344"/>
            <a:ext cx="4541628" cy="400110"/>
          </a:xfrm>
          <a:prstGeom prst="rect">
            <a:avLst/>
          </a:prstGeom>
          <a:noFill/>
        </p:spPr>
        <p:txBody>
          <a:bodyPr wrap="none" rtlCol="0">
            <a:spAutoFit/>
          </a:bodyPr>
          <a:lstStyle/>
          <a:p>
            <a:pPr algn="ctr"/>
            <a:r>
              <a:rPr lang="ja-JP" altLang="en-US" sz="2000" dirty="0">
                <a:solidFill>
                  <a:sysClr val="windowText" lastClr="000000"/>
                </a:solidFill>
                <a:latin typeface="Segoe UI" panose="020B0502040204020203" pitchFamily="34" charset="0"/>
                <a:ea typeface="Meiryo UI" panose="020B0604030504040204" pitchFamily="50" charset="-128"/>
              </a:rPr>
              <a:t>呼吸タイミングの指示をして聴診をする様子</a:t>
            </a:r>
          </a:p>
        </p:txBody>
      </p:sp>
      <p:pic>
        <p:nvPicPr>
          <p:cNvPr id="69" name="段落テキスト">
            <a:hlinkClick r:id="" action="ppaction://media"/>
            <a:extLst>
              <a:ext uri="{FF2B5EF4-FFF2-40B4-BE49-F238E27FC236}">
                <a16:creationId xmlns:a16="http://schemas.microsoft.com/office/drawing/2014/main" id="{5152F29C-1250-2DF7-7A64-AFAF589C7DF5}"/>
              </a:ext>
            </a:extLst>
          </p:cNvPr>
          <p:cNvPicPr>
            <a:picLocks noChangeAspect="1"/>
          </p:cNvPicPr>
          <p:nvPr>
            <a:videoFile r:link="rId4"/>
            <p:extLst>
              <p:ext uri="{DAA4B4D4-6D71-4841-9C94-3DE7FCFB9230}">
                <p14:media xmlns:p14="http://schemas.microsoft.com/office/powerpoint/2010/main" r:embed="rId3"/>
              </p:ext>
            </p:extLst>
          </p:nvPr>
        </p:nvPicPr>
        <p:blipFill>
          <a:blip r:embed="rId10"/>
          <a:srcRect l="6640" t="15325" r="19714" b="4491"/>
          <a:stretch>
            <a:fillRect/>
          </a:stretch>
        </p:blipFill>
        <p:spPr>
          <a:xfrm>
            <a:off x="888854" y="2275306"/>
            <a:ext cx="4032350" cy="2469600"/>
          </a:xfrm>
          <a:prstGeom prst="rect">
            <a:avLst/>
          </a:prstGeom>
        </p:spPr>
      </p:pic>
    </p:spTree>
    <p:extLst>
      <p:ext uri="{BB962C8B-B14F-4D97-AF65-F5344CB8AC3E}">
        <p14:creationId xmlns:p14="http://schemas.microsoft.com/office/powerpoint/2010/main" val="2133646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00" fill="hold"/>
                                        <p:tgtEl>
                                          <p:spTgt spid="69"/>
                                        </p:tgtEl>
                                      </p:cBhvr>
                                    </p:cmd>
                                  </p:childTnLst>
                                </p:cTn>
                              </p:par>
                            </p:childTnLst>
                          </p:cTn>
                        </p:par>
                      </p:childTnLst>
                    </p:cTn>
                  </p:par>
                  <p:par>
                    <p:cTn id="7" fill="hold">
                      <p:stCondLst>
                        <p:cond delay="indefinite"/>
                      </p:stCondLst>
                      <p:childTnLst>
                        <p:par>
                          <p:cTn id="8" fill="hold">
                            <p:stCondLst>
                              <p:cond delay="0"/>
                            </p:stCondLst>
                            <p:childTnLst>
                              <p:par>
                                <p:cTn id="9" presetID="2" presetClass="mediacall" presetSubtype="0" fill="hold" nodeType="clickEffect">
                                  <p:stCondLst>
                                    <p:cond delay="0"/>
                                  </p:stCondLst>
                                  <p:childTnLst>
                                    <p:cmd type="call" cmd="togglePause">
                                      <p:cBhvr>
                                        <p:cTn id="10" dur="1" fill="hold"/>
                                        <p:tgtEl>
                                          <p:spTgt spid="69"/>
                                        </p:tgtEl>
                                      </p:cBhvr>
                                    </p:cmd>
                                  </p:childTnLst>
                                </p:cTn>
                              </p:par>
                              <p:par>
                                <p:cTn id="11" presetID="1" presetClass="mediacall" presetSubtype="0" fill="hold" nodeType="withEffect">
                                  <p:stCondLst>
                                    <p:cond delay="0"/>
                                  </p:stCondLst>
                                  <p:childTnLst>
                                    <p:cmd type="call" cmd="playFrom(0.0)">
                                      <p:cBhvr>
                                        <p:cTn id="12" dur="2773"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13" repeatCount="indefinite" fill="remove" display="0">
                  <p:stCondLst>
                    <p:cond delay="indefinite"/>
                  </p:stCondLst>
                </p:cTn>
                <p:tgtEl>
                  <p:spTgt spid="26"/>
                </p:tgtEl>
              </p:cMediaNode>
            </p:video>
            <p:video>
              <p:cMediaNode vol="80000" mute="1">
                <p:cTn id="14" repeatCount="indefinite" fill="remove" display="0">
                  <p:stCondLst>
                    <p:cond delay="indefinite"/>
                  </p:stCondLst>
                </p:cTn>
                <p:tgtEl>
                  <p:spTgt spid="69"/>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F88FF-3435-4404-E2DD-02066EC114BA}"/>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067DBBE-13F6-609F-DDF8-7FE197764E17}"/>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3</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4632C205-CA74-ED42-CCC0-691CF235D2A6}"/>
              </a:ext>
            </a:extLst>
          </p:cNvPr>
          <p:cNvSpPr>
            <a:spLocks noGrp="1"/>
          </p:cNvSpPr>
          <p:nvPr>
            <p:ph type="title"/>
          </p:nvPr>
        </p:nvSpPr>
        <p:spPr/>
        <p:txBody>
          <a:bodyPr>
            <a:normAutofit/>
          </a:bodyPr>
          <a:lstStyle/>
          <a:p>
            <a:r>
              <a:rPr lang="ja-JP" altLang="en-US" dirty="0"/>
              <a:t>呼吸音同期再生システムの提案</a:t>
            </a:r>
            <a:endParaRPr lang="en-JP" altLang="ja-JP" dirty="0"/>
          </a:p>
        </p:txBody>
      </p:sp>
      <p:sp>
        <p:nvSpPr>
          <p:cNvPr id="42" name="TextBox 7">
            <a:extLst>
              <a:ext uri="{FF2B5EF4-FFF2-40B4-BE49-F238E27FC236}">
                <a16:creationId xmlns:a16="http://schemas.microsoft.com/office/drawing/2014/main" id="{27643229-E4E9-5500-B697-7E0C5F5BC323}"/>
              </a:ext>
            </a:extLst>
          </p:cNvPr>
          <p:cNvSpPr txBox="1"/>
          <p:nvPr/>
        </p:nvSpPr>
        <p:spPr>
          <a:xfrm>
            <a:off x="215030" y="808121"/>
            <a:ext cx="3336170"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呼吸音同期再生システム</a:t>
            </a:r>
          </a:p>
        </p:txBody>
      </p:sp>
      <p:sp>
        <p:nvSpPr>
          <p:cNvPr id="43" name="テキスト ボックス 42">
            <a:extLst>
              <a:ext uri="{FF2B5EF4-FFF2-40B4-BE49-F238E27FC236}">
                <a16:creationId xmlns:a16="http://schemas.microsoft.com/office/drawing/2014/main" id="{29FB0373-66AF-881A-8615-668BA69244FD}"/>
              </a:ext>
            </a:extLst>
          </p:cNvPr>
          <p:cNvSpPr txBox="1"/>
          <p:nvPr/>
        </p:nvSpPr>
        <p:spPr>
          <a:xfrm>
            <a:off x="215030" y="1222728"/>
            <a:ext cx="10701969" cy="492827"/>
          </a:xfrm>
          <a:prstGeom prst="rect">
            <a:avLst/>
          </a:prstGeom>
          <a:noFill/>
        </p:spPr>
        <p:txBody>
          <a:bodyPr wrap="none">
            <a:spAutoFit/>
          </a:bodyPr>
          <a:lstStyle/>
          <a:p>
            <a:pPr>
              <a:lnSpc>
                <a:spcPct val="120000"/>
              </a:lnSpc>
              <a:spcAft>
                <a:spcPts val="1200"/>
              </a:spcAft>
            </a:pPr>
            <a:r>
              <a:rPr lang="ja-JP" altLang="en-US" sz="2400" dirty="0">
                <a:solidFill>
                  <a:srgbClr val="111111"/>
                </a:solidFill>
                <a:latin typeface="Segoe UI" panose="020B0502040204020203" pitchFamily="34" charset="0"/>
                <a:ea typeface="Meiryo UI" panose="020B0604030504040204" pitchFamily="50" charset="-128"/>
                <a:cs typeface="Arial" panose="020B0604020202020204" pitchFamily="34" charset="0"/>
              </a:rPr>
              <a:t>模擬患者の呼吸状態・残り呼吸時間を逐次推定し，それに基づき呼吸音を伸縮再生</a:t>
            </a:r>
            <a:endParaRPr lang="en-US" altLang="ja-JP" sz="2400" dirty="0">
              <a:solidFill>
                <a:srgbClr val="111111"/>
              </a:solidFill>
              <a:latin typeface="Segoe UI" panose="020B0502040204020203" pitchFamily="34" charset="0"/>
              <a:ea typeface="Meiryo UI" panose="020B0604030504040204" pitchFamily="50" charset="-128"/>
              <a:cs typeface="Arial" panose="020B0604020202020204" pitchFamily="34" charset="0"/>
            </a:endParaRPr>
          </a:p>
        </p:txBody>
      </p:sp>
      <p:sp>
        <p:nvSpPr>
          <p:cNvPr id="128" name="TextBox 7">
            <a:extLst>
              <a:ext uri="{FF2B5EF4-FFF2-40B4-BE49-F238E27FC236}">
                <a16:creationId xmlns:a16="http://schemas.microsoft.com/office/drawing/2014/main" id="{DBE45BEB-155A-A8D6-EC29-6EA46BE25E7C}"/>
              </a:ext>
            </a:extLst>
          </p:cNvPr>
          <p:cNvSpPr txBox="1"/>
          <p:nvPr/>
        </p:nvSpPr>
        <p:spPr>
          <a:xfrm>
            <a:off x="3648054" y="5526231"/>
            <a:ext cx="4895892" cy="400110"/>
          </a:xfrm>
          <a:prstGeom prst="rect">
            <a:avLst/>
          </a:prstGeom>
          <a:noFill/>
        </p:spPr>
        <p:txBody>
          <a:bodyPr wrap="none" rtlCol="0">
            <a:spAutoFit/>
          </a:bodyPr>
          <a:lstStyle/>
          <a:p>
            <a:pPr algn="ctr"/>
            <a:r>
              <a:rPr lang="ja-JP" altLang="en-US" sz="2000" dirty="0">
                <a:latin typeface="Segoe UI" panose="020B0502040204020203" pitchFamily="34" charset="0"/>
                <a:ea typeface="Meiryo UI" panose="020B0604030504040204" pitchFamily="50" charset="-128"/>
              </a:rPr>
              <a:t>推定結果に基づく呼吸音ファイルの選択と伸縮</a:t>
            </a:r>
            <a:endParaRPr lang="en-JP" altLang="ja-JP" sz="2000" dirty="0">
              <a:solidFill>
                <a:sysClr val="windowText" lastClr="000000"/>
              </a:solidFill>
              <a:latin typeface="Segoe UI" panose="020B0502040204020203" pitchFamily="34" charset="0"/>
              <a:ea typeface="Meiryo UI" panose="020B0604030504040204" pitchFamily="50" charset="-128"/>
            </a:endParaRPr>
          </a:p>
        </p:txBody>
      </p:sp>
      <p:grpSp>
        <p:nvGrpSpPr>
          <p:cNvPr id="5" name="グループ化 4">
            <a:extLst>
              <a:ext uri="{FF2B5EF4-FFF2-40B4-BE49-F238E27FC236}">
                <a16:creationId xmlns:a16="http://schemas.microsoft.com/office/drawing/2014/main" id="{F6DAA616-0AE6-46B8-BBF4-D4CEA9E6A9AE}"/>
              </a:ext>
            </a:extLst>
          </p:cNvPr>
          <p:cNvGrpSpPr/>
          <p:nvPr/>
        </p:nvGrpSpPr>
        <p:grpSpPr>
          <a:xfrm>
            <a:off x="1285792" y="6039541"/>
            <a:ext cx="9620416" cy="533425"/>
            <a:chOff x="1285792" y="6039541"/>
            <a:chExt cx="9620416" cy="533425"/>
          </a:xfrm>
        </p:grpSpPr>
        <p:sp>
          <p:nvSpPr>
            <p:cNvPr id="12" name="テキスト ボックス 11">
              <a:extLst>
                <a:ext uri="{FF2B5EF4-FFF2-40B4-BE49-F238E27FC236}">
                  <a16:creationId xmlns:a16="http://schemas.microsoft.com/office/drawing/2014/main" id="{F6C73312-43C1-9641-A80E-ECF674E8190A}"/>
                </a:ext>
              </a:extLst>
            </p:cNvPr>
            <p:cNvSpPr txBox="1"/>
            <p:nvPr/>
          </p:nvSpPr>
          <p:spPr>
            <a:xfrm>
              <a:off x="3642103" y="6059840"/>
              <a:ext cx="7031092" cy="492827"/>
            </a:xfrm>
            <a:prstGeom prst="rect">
              <a:avLst/>
            </a:prstGeom>
            <a:noFill/>
            <a:ln>
              <a:noFill/>
            </a:ln>
          </p:spPr>
          <p:txBody>
            <a:bodyPr wrap="none" rtlCol="0" anchor="ctr">
              <a:spAutoFit/>
            </a:bodyPr>
            <a:lstStyle/>
            <a:p>
              <a:pPr algn="ctr">
                <a:lnSpc>
                  <a:spcPct val="120000"/>
                </a:lnSpc>
                <a:spcBef>
                  <a:spcPts val="1200"/>
                </a:spcBef>
                <a:buSzPts val="1800"/>
              </a:pPr>
              <a:r>
                <a:rPr lang="ja-JP" altLang="en-US" sz="2400" b="1" dirty="0">
                  <a:solidFill>
                    <a:srgbClr val="000000"/>
                  </a:solidFill>
                  <a:latin typeface="Segoe UI" panose="020B0502040204020203" pitchFamily="34" charset="0"/>
                  <a:ea typeface="Meiryo UI" panose="020B0604030504040204" pitchFamily="50" charset="-128"/>
                  <a:cs typeface="Arial" panose="020B0604020202020204" pitchFamily="34" charset="0"/>
                </a:rPr>
                <a:t>リアルタイム呼吸状態判別・呼吸時間推定手法の検討</a:t>
              </a:r>
            </a:p>
          </p:txBody>
        </p:sp>
        <p:sp>
          <p:nvSpPr>
            <p:cNvPr id="13" name="正方形/長方形 12">
              <a:extLst>
                <a:ext uri="{FF2B5EF4-FFF2-40B4-BE49-F238E27FC236}">
                  <a16:creationId xmlns:a16="http://schemas.microsoft.com/office/drawing/2014/main" id="{17F6EE0D-4C5F-B46D-00DB-052D0BBA62C5}"/>
                </a:ext>
              </a:extLst>
            </p:cNvPr>
            <p:cNvSpPr/>
            <p:nvPr/>
          </p:nvSpPr>
          <p:spPr>
            <a:xfrm>
              <a:off x="1285792" y="6039541"/>
              <a:ext cx="2107422" cy="533425"/>
            </a:xfrm>
            <a:prstGeom prst="rect">
              <a:avLst/>
            </a:prstGeom>
            <a:solidFill>
              <a:srgbClr val="C00000"/>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Segoe UI" panose="020B0502040204020203" pitchFamily="34" charset="0"/>
                  <a:ea typeface="Meiryo UI" panose="020B0604030504040204" pitchFamily="50" charset="-128"/>
                </a:rPr>
                <a:t>本発表の目的</a:t>
              </a:r>
            </a:p>
          </p:txBody>
        </p:sp>
        <p:sp>
          <p:nvSpPr>
            <p:cNvPr id="15" name="正方形/長方形 14">
              <a:extLst>
                <a:ext uri="{FF2B5EF4-FFF2-40B4-BE49-F238E27FC236}">
                  <a16:creationId xmlns:a16="http://schemas.microsoft.com/office/drawing/2014/main" id="{8E55755D-1FBD-B354-7D83-B36247424931}"/>
                </a:ext>
              </a:extLst>
            </p:cNvPr>
            <p:cNvSpPr/>
            <p:nvPr/>
          </p:nvSpPr>
          <p:spPr>
            <a:xfrm>
              <a:off x="3409090" y="6039541"/>
              <a:ext cx="7497118" cy="53342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noFill/>
                <a:latin typeface="Segoe UI" panose="020B0502040204020203" pitchFamily="34" charset="0"/>
                <a:ea typeface="Meiryo UI" panose="020B0604030504040204" pitchFamily="50" charset="-128"/>
              </a:endParaRPr>
            </a:p>
          </p:txBody>
        </p:sp>
      </p:grpSp>
      <p:pic>
        <p:nvPicPr>
          <p:cNvPr id="55" name="図 54" descr="グラフ&#10;&#10;AI 生成コンテンツは誤りを含む可能性があります。">
            <a:extLst>
              <a:ext uri="{FF2B5EF4-FFF2-40B4-BE49-F238E27FC236}">
                <a16:creationId xmlns:a16="http://schemas.microsoft.com/office/drawing/2014/main" id="{44AE6516-7D69-FAAF-6C5F-233CA94EC94A}"/>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artisticPaintStrokes/>
                    </a14:imgEffect>
                    <a14:imgEffect>
                      <a14:colorTemperature colorTemp="11200"/>
                    </a14:imgEffect>
                  </a14:imgLayer>
                </a14:imgProps>
              </a:ext>
              <a:ext uri="{28A0092B-C50C-407E-A947-70E740481C1C}">
                <a14:useLocalDpi xmlns:a14="http://schemas.microsoft.com/office/drawing/2010/main" val="0"/>
              </a:ext>
            </a:extLst>
          </a:blip>
          <a:srcRect t="19579" r="69951" b="29621"/>
          <a:stretch>
            <a:fillRect/>
          </a:stretch>
        </p:blipFill>
        <p:spPr>
          <a:xfrm flipH="1">
            <a:off x="4896562" y="4271264"/>
            <a:ext cx="291204" cy="814825"/>
          </a:xfrm>
          <a:prstGeom prst="rect">
            <a:avLst/>
          </a:prstGeom>
        </p:spPr>
      </p:pic>
      <p:sp>
        <p:nvSpPr>
          <p:cNvPr id="59" name="テキスト ボックス 58">
            <a:extLst>
              <a:ext uri="{FF2B5EF4-FFF2-40B4-BE49-F238E27FC236}">
                <a16:creationId xmlns:a16="http://schemas.microsoft.com/office/drawing/2014/main" id="{AA259A21-ADE9-D56C-DBE1-AF791BEAF7A7}"/>
              </a:ext>
            </a:extLst>
          </p:cNvPr>
          <p:cNvSpPr txBox="1"/>
          <p:nvPr/>
        </p:nvSpPr>
        <p:spPr>
          <a:xfrm>
            <a:off x="3120057" y="4465637"/>
            <a:ext cx="1467068" cy="426079"/>
          </a:xfrm>
          <a:prstGeom prst="rect">
            <a:avLst/>
          </a:prstGeom>
          <a:noFill/>
        </p:spPr>
        <p:txBody>
          <a:bodyPr vert="horz" wrap="none" rtlCol="0">
            <a:spAutoFit/>
          </a:bodyPr>
          <a:lstStyle/>
          <a:p>
            <a:pPr marR="0" algn="ctr" rtl="0" eaLnBrk="1" fontAlgn="auto" latinLnBrk="0" hangingPunct="1">
              <a:lnSpc>
                <a:spcPct val="120000"/>
              </a:lnSpc>
              <a:spcBef>
                <a:spcPts val="1200"/>
              </a:spcBef>
              <a:buClrTx/>
              <a:buSzPts val="1800"/>
            </a:pPr>
            <a:r>
              <a:rPr lang="ja-JP" altLang="en-US" sz="2000" dirty="0">
                <a:solidFill>
                  <a:srgbClr val="000000"/>
                </a:solidFill>
                <a:latin typeface="Segoe UI" panose="020B0502040204020203" pitchFamily="34" charset="0"/>
                <a:ea typeface="Meiryo UI" panose="020B0604030504040204" pitchFamily="50" charset="-128"/>
                <a:cs typeface="Arial" panose="020B0604020202020204" pitchFamily="34" charset="0"/>
              </a:rPr>
              <a:t>再生呼吸音</a:t>
            </a:r>
            <a:endParaRPr kumimoji="1" lang="ja-JP" altLang="en-US" sz="2000" b="0" i="0" u="none" strike="noStrike" spc="0" dirty="0">
              <a:ln>
                <a:noFill/>
              </a:ln>
              <a:solidFill>
                <a:srgbClr val="000000"/>
              </a:solidFill>
              <a:effectLst/>
              <a:latin typeface="Segoe UI" panose="020B0502040204020203" pitchFamily="34" charset="0"/>
              <a:ea typeface="Meiryo UI" panose="020B0604030504040204" pitchFamily="50" charset="-128"/>
              <a:cs typeface="Arial" panose="020B0604020202020204" pitchFamily="34" charset="0"/>
            </a:endParaRPr>
          </a:p>
        </p:txBody>
      </p:sp>
      <p:pic>
        <p:nvPicPr>
          <p:cNvPr id="62" name="図 61" descr="グラフ が含まれている画像&#10;&#10;AI 生成コンテンツは誤りを含む可能性があります。">
            <a:extLst>
              <a:ext uri="{FF2B5EF4-FFF2-40B4-BE49-F238E27FC236}">
                <a16:creationId xmlns:a16="http://schemas.microsoft.com/office/drawing/2014/main" id="{6657255E-0D71-AA03-5F66-F1C2785B0549}"/>
              </a:ext>
            </a:extLst>
          </p:cNvPr>
          <p:cNvPicPr>
            <a:picLocks noChangeAspect="1"/>
          </p:cNvPicPr>
          <p:nvPr/>
        </p:nvPicPr>
        <p:blipFill>
          <a:blip r:embed="rId5">
            <a:duotone>
              <a:prstClr val="black"/>
              <a:schemeClr val="accent4">
                <a:tint val="45000"/>
                <a:satMod val="400000"/>
              </a:schemeClr>
            </a:duotone>
            <a:extLst>
              <a:ext uri="{BEBA8EAE-BF5A-486C-A8C5-ECC9F3942E4B}">
                <a14:imgProps xmlns:a14="http://schemas.microsoft.com/office/drawing/2010/main">
                  <a14:imgLayer r:embed="rId6">
                    <a14:imgEffect>
                      <a14:artisticPaintStrokes/>
                    </a14:imgEffect>
                  </a14:imgLayer>
                </a14:imgProps>
              </a:ext>
              <a:ext uri="{28A0092B-C50C-407E-A947-70E740481C1C}">
                <a14:useLocalDpi xmlns:a14="http://schemas.microsoft.com/office/drawing/2010/main" val="0"/>
              </a:ext>
            </a:extLst>
          </a:blip>
          <a:srcRect t="19580" b="29621"/>
          <a:stretch>
            <a:fillRect/>
          </a:stretch>
        </p:blipFill>
        <p:spPr>
          <a:xfrm flipH="1">
            <a:off x="5177724" y="4271264"/>
            <a:ext cx="733031" cy="814825"/>
          </a:xfrm>
          <a:prstGeom prst="rect">
            <a:avLst/>
          </a:prstGeom>
        </p:spPr>
      </p:pic>
      <p:pic>
        <p:nvPicPr>
          <p:cNvPr id="40" name="図 39" descr="グラフ&#10;&#10;AI 生成コンテンツは誤りを含む可能性があります。">
            <a:extLst>
              <a:ext uri="{FF2B5EF4-FFF2-40B4-BE49-F238E27FC236}">
                <a16:creationId xmlns:a16="http://schemas.microsoft.com/office/drawing/2014/main" id="{30A9B7A5-F6F8-11BA-5FFF-3C03EE9A0616}"/>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artisticPaintStrokes/>
                    </a14:imgEffect>
                    <a14:imgEffect>
                      <a14:colorTemperature colorTemp="11200"/>
                    </a14:imgEffect>
                  </a14:imgLayer>
                </a14:imgProps>
              </a:ext>
              <a:ext uri="{28A0092B-C50C-407E-A947-70E740481C1C}">
                <a14:useLocalDpi xmlns:a14="http://schemas.microsoft.com/office/drawing/2010/main" val="0"/>
              </a:ext>
            </a:extLst>
          </a:blip>
          <a:srcRect t="19579" b="29621"/>
          <a:stretch>
            <a:fillRect/>
          </a:stretch>
        </p:blipFill>
        <p:spPr>
          <a:xfrm flipH="1">
            <a:off x="5905734" y="4271264"/>
            <a:ext cx="1230085" cy="814825"/>
          </a:xfrm>
          <a:prstGeom prst="rect">
            <a:avLst/>
          </a:prstGeom>
        </p:spPr>
      </p:pic>
      <p:sp>
        <p:nvSpPr>
          <p:cNvPr id="53" name="テキスト ボックス 52">
            <a:extLst>
              <a:ext uri="{FF2B5EF4-FFF2-40B4-BE49-F238E27FC236}">
                <a16:creationId xmlns:a16="http://schemas.microsoft.com/office/drawing/2014/main" id="{46C44326-D861-7DEB-2C30-DE1CA9C9FE90}"/>
              </a:ext>
            </a:extLst>
          </p:cNvPr>
          <p:cNvSpPr txBox="1"/>
          <p:nvPr/>
        </p:nvSpPr>
        <p:spPr>
          <a:xfrm>
            <a:off x="8021655" y="5082896"/>
            <a:ext cx="1178528" cy="426079"/>
          </a:xfrm>
          <a:prstGeom prst="rect">
            <a:avLst/>
          </a:prstGeom>
          <a:noFill/>
        </p:spPr>
        <p:txBody>
          <a:bodyPr wrap="none" rtlCol="0">
            <a:spAutoFit/>
          </a:bodyPr>
          <a:lstStyle/>
          <a:p>
            <a:pPr marR="0" algn="ctr" rtl="0" eaLnBrk="1" fontAlgn="auto" latinLnBrk="0" hangingPunct="1">
              <a:lnSpc>
                <a:spcPct val="120000"/>
              </a:lnSpc>
              <a:spcBef>
                <a:spcPts val="1200"/>
              </a:spcBef>
              <a:buClrTx/>
              <a:buSzPts val="1800"/>
            </a:pPr>
            <a:r>
              <a:rPr lang="ja-JP" altLang="en-US" sz="2000" dirty="0">
                <a:solidFill>
                  <a:srgbClr val="000000"/>
                </a:solidFill>
                <a:latin typeface="Segoe UI" panose="020B0502040204020203" pitchFamily="34" charset="0"/>
                <a:ea typeface="Meiryo UI" panose="020B0604030504040204" pitchFamily="50" charset="-128"/>
                <a:cs typeface="Arial" panose="020B0604020202020204" pitchFamily="34" charset="0"/>
              </a:rPr>
              <a:t>時間</a:t>
            </a:r>
            <a:r>
              <a:rPr lang="en-US" altLang="ja-JP" sz="2000" dirty="0">
                <a:solidFill>
                  <a:srgbClr val="000000"/>
                </a:solidFill>
                <a:latin typeface="Segoe UI" panose="020B0502040204020203" pitchFamily="34" charset="0"/>
                <a:ea typeface="Meiryo UI" panose="020B0604030504040204" pitchFamily="50" charset="-128"/>
                <a:cs typeface="Arial" panose="020B0604020202020204" pitchFamily="34" charset="0"/>
              </a:rPr>
              <a:t> [</a:t>
            </a:r>
            <a:r>
              <a:rPr lang="ja-JP" altLang="en-US" sz="2000" dirty="0">
                <a:solidFill>
                  <a:srgbClr val="000000"/>
                </a:solidFill>
                <a:latin typeface="Segoe UI" panose="020B0502040204020203" pitchFamily="34" charset="0"/>
                <a:ea typeface="Meiryo UI" panose="020B0604030504040204" pitchFamily="50" charset="-128"/>
                <a:cs typeface="Arial" panose="020B0604020202020204" pitchFamily="34" charset="0"/>
              </a:rPr>
              <a:t>秒</a:t>
            </a:r>
            <a:r>
              <a:rPr lang="en-US" altLang="ja-JP" sz="2000" dirty="0">
                <a:solidFill>
                  <a:srgbClr val="000000"/>
                </a:solidFill>
                <a:latin typeface="Segoe UI" panose="020B0502040204020203" pitchFamily="34" charset="0"/>
                <a:ea typeface="Meiryo UI" panose="020B0604030504040204" pitchFamily="50" charset="-128"/>
                <a:cs typeface="Arial" panose="020B0604020202020204" pitchFamily="34" charset="0"/>
              </a:rPr>
              <a:t>]</a:t>
            </a:r>
            <a:endParaRPr kumimoji="1" lang="ja-JP" altLang="en-US" sz="2000" b="0" i="0" u="none" strike="noStrike" spc="0" dirty="0">
              <a:ln>
                <a:noFill/>
              </a:ln>
              <a:solidFill>
                <a:srgbClr val="000000"/>
              </a:solidFill>
              <a:effectLst/>
              <a:latin typeface="Segoe UI" panose="020B0502040204020203" pitchFamily="34" charset="0"/>
              <a:ea typeface="Meiryo UI" panose="020B0604030504040204" pitchFamily="50" charset="-128"/>
              <a:cs typeface="Arial" panose="020B0604020202020204" pitchFamily="34" charset="0"/>
            </a:endParaRPr>
          </a:p>
        </p:txBody>
      </p:sp>
      <p:sp>
        <p:nvSpPr>
          <p:cNvPr id="58" name="テキスト ボックス 57">
            <a:extLst>
              <a:ext uri="{FF2B5EF4-FFF2-40B4-BE49-F238E27FC236}">
                <a16:creationId xmlns:a16="http://schemas.microsoft.com/office/drawing/2014/main" id="{FFE5ABF9-999F-A01B-DC4A-AD6B99A0AE3C}"/>
              </a:ext>
            </a:extLst>
          </p:cNvPr>
          <p:cNvSpPr txBox="1"/>
          <p:nvPr/>
        </p:nvSpPr>
        <p:spPr>
          <a:xfrm>
            <a:off x="2991818" y="3388806"/>
            <a:ext cx="1723550" cy="426079"/>
          </a:xfrm>
          <a:prstGeom prst="rect">
            <a:avLst/>
          </a:prstGeom>
          <a:noFill/>
        </p:spPr>
        <p:txBody>
          <a:bodyPr vert="horz" wrap="none" rtlCol="0">
            <a:spAutoFit/>
          </a:bodyPr>
          <a:lstStyle/>
          <a:p>
            <a:pPr marR="0" algn="ctr" rtl="0" eaLnBrk="1" fontAlgn="auto" latinLnBrk="0" hangingPunct="1">
              <a:lnSpc>
                <a:spcPct val="120000"/>
              </a:lnSpc>
              <a:spcBef>
                <a:spcPts val="1200"/>
              </a:spcBef>
              <a:buClrTx/>
              <a:buSzPts val="1800"/>
            </a:pPr>
            <a:r>
              <a:rPr kumimoji="1" lang="ja-JP" altLang="en-US" sz="2000" b="0" i="0" u="none" strike="noStrike" spc="0" dirty="0">
                <a:ln>
                  <a:noFill/>
                </a:ln>
                <a:solidFill>
                  <a:srgbClr val="000000"/>
                </a:solidFill>
                <a:effectLst/>
                <a:latin typeface="Segoe UI" panose="020B0502040204020203" pitchFamily="34" charset="0"/>
                <a:ea typeface="Meiryo UI" panose="020B0604030504040204" pitchFamily="50" charset="-128"/>
                <a:cs typeface="Arial" panose="020B0604020202020204" pitchFamily="34" charset="0"/>
              </a:rPr>
              <a:t>呼吸計測結果</a:t>
            </a:r>
          </a:p>
        </p:txBody>
      </p:sp>
      <p:sp>
        <p:nvSpPr>
          <p:cNvPr id="34" name="フリーフォーム: 図形 33">
            <a:extLst>
              <a:ext uri="{FF2B5EF4-FFF2-40B4-BE49-F238E27FC236}">
                <a16:creationId xmlns:a16="http://schemas.microsoft.com/office/drawing/2014/main" id="{103C2019-0A58-700A-6FA2-ECE0DE2A3ED4}"/>
              </a:ext>
            </a:extLst>
          </p:cNvPr>
          <p:cNvSpPr/>
          <p:nvPr/>
        </p:nvSpPr>
        <p:spPr>
          <a:xfrm>
            <a:off x="4924896" y="3157637"/>
            <a:ext cx="4089613" cy="888417"/>
          </a:xfrm>
          <a:custGeom>
            <a:avLst/>
            <a:gdLst>
              <a:gd name="csX0" fmla="*/ 0 w 3730028"/>
              <a:gd name="csY0" fmla="*/ 339434 h 1373019"/>
              <a:gd name="csX1" fmla="*/ 181070 w 3730028"/>
              <a:gd name="csY1" fmla="*/ 49723 h 1373019"/>
              <a:gd name="csX2" fmla="*/ 923454 w 3730028"/>
              <a:gd name="csY2" fmla="*/ 1244780 h 1373019"/>
              <a:gd name="csX3" fmla="*/ 2100404 w 3730028"/>
              <a:gd name="csY3" fmla="*/ 85937 h 1373019"/>
              <a:gd name="csX4" fmla="*/ 3340729 w 3730028"/>
              <a:gd name="csY4" fmla="*/ 1353422 h 1373019"/>
              <a:gd name="csX5" fmla="*/ 3730028 w 3730028"/>
              <a:gd name="csY5" fmla="*/ 737786 h 1373019"/>
              <a:gd name="csX0" fmla="*/ 0 w 3730028"/>
              <a:gd name="csY0" fmla="*/ 335318 h 1368903"/>
              <a:gd name="csX1" fmla="*/ 295370 w 3730028"/>
              <a:gd name="csY1" fmla="*/ 50369 h 1368903"/>
              <a:gd name="csX2" fmla="*/ 923454 w 3730028"/>
              <a:gd name="csY2" fmla="*/ 1240664 h 1368903"/>
              <a:gd name="csX3" fmla="*/ 2100404 w 3730028"/>
              <a:gd name="csY3" fmla="*/ 81821 h 1368903"/>
              <a:gd name="csX4" fmla="*/ 3340729 w 3730028"/>
              <a:gd name="csY4" fmla="*/ 1349306 h 1368903"/>
              <a:gd name="csX5" fmla="*/ 3730028 w 3730028"/>
              <a:gd name="csY5" fmla="*/ 733670 h 1368903"/>
              <a:gd name="csX0" fmla="*/ 0 w 3730028"/>
              <a:gd name="csY0" fmla="*/ 345175 h 1378760"/>
              <a:gd name="csX1" fmla="*/ 295370 w 3730028"/>
              <a:gd name="csY1" fmla="*/ 60226 h 1378760"/>
              <a:gd name="csX2" fmla="*/ 923454 w 3730028"/>
              <a:gd name="csY2" fmla="*/ 1250521 h 1378760"/>
              <a:gd name="csX3" fmla="*/ 2100404 w 3730028"/>
              <a:gd name="csY3" fmla="*/ 91678 h 1378760"/>
              <a:gd name="csX4" fmla="*/ 3340729 w 3730028"/>
              <a:gd name="csY4" fmla="*/ 1359163 h 1378760"/>
              <a:gd name="csX5" fmla="*/ 3730028 w 3730028"/>
              <a:gd name="csY5" fmla="*/ 743527 h 1378760"/>
              <a:gd name="csX0" fmla="*/ 0 w 3730028"/>
              <a:gd name="csY0" fmla="*/ 330770 h 1364355"/>
              <a:gd name="csX1" fmla="*/ 295370 w 3730028"/>
              <a:gd name="csY1" fmla="*/ 45821 h 1364355"/>
              <a:gd name="csX2" fmla="*/ 923454 w 3730028"/>
              <a:gd name="csY2" fmla="*/ 1236116 h 1364355"/>
              <a:gd name="csX3" fmla="*/ 2100404 w 3730028"/>
              <a:gd name="csY3" fmla="*/ 77273 h 1364355"/>
              <a:gd name="csX4" fmla="*/ 3340729 w 3730028"/>
              <a:gd name="csY4" fmla="*/ 1344758 h 1364355"/>
              <a:gd name="csX5" fmla="*/ 3730028 w 3730028"/>
              <a:gd name="csY5" fmla="*/ 729122 h 1364355"/>
              <a:gd name="csX0" fmla="*/ 0 w 3730028"/>
              <a:gd name="csY0" fmla="*/ 311850 h 1345435"/>
              <a:gd name="csX1" fmla="*/ 295370 w 3730028"/>
              <a:gd name="csY1" fmla="*/ 26901 h 1345435"/>
              <a:gd name="csX2" fmla="*/ 923454 w 3730028"/>
              <a:gd name="csY2" fmla="*/ 1217196 h 1345435"/>
              <a:gd name="csX3" fmla="*/ 2100404 w 3730028"/>
              <a:gd name="csY3" fmla="*/ 58353 h 1345435"/>
              <a:gd name="csX4" fmla="*/ 3340729 w 3730028"/>
              <a:gd name="csY4" fmla="*/ 1325838 h 1345435"/>
              <a:gd name="csX5" fmla="*/ 3730028 w 3730028"/>
              <a:gd name="csY5" fmla="*/ 710202 h 1345435"/>
              <a:gd name="csX0" fmla="*/ 0 w 3730028"/>
              <a:gd name="csY0" fmla="*/ 314302 h 1347887"/>
              <a:gd name="csX1" fmla="*/ 295370 w 3730028"/>
              <a:gd name="csY1" fmla="*/ 29353 h 1347887"/>
              <a:gd name="csX2" fmla="*/ 923454 w 3730028"/>
              <a:gd name="csY2" fmla="*/ 1219648 h 1347887"/>
              <a:gd name="csX3" fmla="*/ 2100404 w 3730028"/>
              <a:gd name="csY3" fmla="*/ 60805 h 1347887"/>
              <a:gd name="csX4" fmla="*/ 3340729 w 3730028"/>
              <a:gd name="csY4" fmla="*/ 1328290 h 1347887"/>
              <a:gd name="csX5" fmla="*/ 3730028 w 3730028"/>
              <a:gd name="csY5" fmla="*/ 712654 h 1347887"/>
              <a:gd name="csX0" fmla="*/ 0 w 3730028"/>
              <a:gd name="csY0" fmla="*/ 325681 h 1359266"/>
              <a:gd name="csX1" fmla="*/ 327120 w 3730028"/>
              <a:gd name="csY1" fmla="*/ 28032 h 1359266"/>
              <a:gd name="csX2" fmla="*/ 923454 w 3730028"/>
              <a:gd name="csY2" fmla="*/ 1231027 h 1359266"/>
              <a:gd name="csX3" fmla="*/ 2100404 w 3730028"/>
              <a:gd name="csY3" fmla="*/ 72184 h 1359266"/>
              <a:gd name="csX4" fmla="*/ 3340729 w 3730028"/>
              <a:gd name="csY4" fmla="*/ 1339669 h 1359266"/>
              <a:gd name="csX5" fmla="*/ 3730028 w 3730028"/>
              <a:gd name="csY5" fmla="*/ 724033 h 1359266"/>
              <a:gd name="csX0" fmla="*/ 0 w 3730028"/>
              <a:gd name="csY0" fmla="*/ 325681 h 1359266"/>
              <a:gd name="csX1" fmla="*/ 250920 w 3730028"/>
              <a:gd name="csY1" fmla="*/ 28032 h 1359266"/>
              <a:gd name="csX2" fmla="*/ 923454 w 3730028"/>
              <a:gd name="csY2" fmla="*/ 1231027 h 1359266"/>
              <a:gd name="csX3" fmla="*/ 2100404 w 3730028"/>
              <a:gd name="csY3" fmla="*/ 72184 h 1359266"/>
              <a:gd name="csX4" fmla="*/ 3340729 w 3730028"/>
              <a:gd name="csY4" fmla="*/ 1339669 h 1359266"/>
              <a:gd name="csX5" fmla="*/ 3730028 w 3730028"/>
              <a:gd name="csY5" fmla="*/ 724033 h 1359266"/>
              <a:gd name="csX0" fmla="*/ 0 w 3730028"/>
              <a:gd name="csY0" fmla="*/ 316314 h 1349899"/>
              <a:gd name="csX1" fmla="*/ 250920 w 3730028"/>
              <a:gd name="csY1" fmla="*/ 18665 h 1349899"/>
              <a:gd name="csX2" fmla="*/ 923454 w 3730028"/>
              <a:gd name="csY2" fmla="*/ 1221660 h 1349899"/>
              <a:gd name="csX3" fmla="*/ 2100404 w 3730028"/>
              <a:gd name="csY3" fmla="*/ 62817 h 1349899"/>
              <a:gd name="csX4" fmla="*/ 3340729 w 3730028"/>
              <a:gd name="csY4" fmla="*/ 1330302 h 1349899"/>
              <a:gd name="csX5" fmla="*/ 3730028 w 3730028"/>
              <a:gd name="csY5" fmla="*/ 714666 h 1349899"/>
              <a:gd name="csX0" fmla="*/ 0 w 3730028"/>
              <a:gd name="csY0" fmla="*/ 314766 h 1348351"/>
              <a:gd name="csX1" fmla="*/ 250920 w 3730028"/>
              <a:gd name="csY1" fmla="*/ 17117 h 1348351"/>
              <a:gd name="csX2" fmla="*/ 923454 w 3730028"/>
              <a:gd name="csY2" fmla="*/ 1220112 h 1348351"/>
              <a:gd name="csX3" fmla="*/ 2100404 w 3730028"/>
              <a:gd name="csY3" fmla="*/ 61269 h 1348351"/>
              <a:gd name="csX4" fmla="*/ 3340729 w 3730028"/>
              <a:gd name="csY4" fmla="*/ 1328754 h 1348351"/>
              <a:gd name="csX5" fmla="*/ 3730028 w 3730028"/>
              <a:gd name="csY5" fmla="*/ 713118 h 1348351"/>
              <a:gd name="csX0" fmla="*/ 0 w 3730028"/>
              <a:gd name="csY0" fmla="*/ 314766 h 1348351"/>
              <a:gd name="csX1" fmla="*/ 250920 w 3730028"/>
              <a:gd name="csY1" fmla="*/ 17117 h 1348351"/>
              <a:gd name="csX2" fmla="*/ 923454 w 3730028"/>
              <a:gd name="csY2" fmla="*/ 1220112 h 1348351"/>
              <a:gd name="csX3" fmla="*/ 2100404 w 3730028"/>
              <a:gd name="csY3" fmla="*/ 61269 h 1348351"/>
              <a:gd name="csX4" fmla="*/ 3340729 w 3730028"/>
              <a:gd name="csY4" fmla="*/ 1328754 h 1348351"/>
              <a:gd name="csX5" fmla="*/ 3730028 w 3730028"/>
              <a:gd name="csY5" fmla="*/ 713118 h 1348351"/>
              <a:gd name="csX0" fmla="*/ 0 w 3730028"/>
              <a:gd name="csY0" fmla="*/ 314766 h 1348351"/>
              <a:gd name="csX1" fmla="*/ 250920 w 3730028"/>
              <a:gd name="csY1" fmla="*/ 17117 h 1348351"/>
              <a:gd name="csX2" fmla="*/ 923454 w 3730028"/>
              <a:gd name="csY2" fmla="*/ 1220112 h 1348351"/>
              <a:gd name="csX3" fmla="*/ 2100404 w 3730028"/>
              <a:gd name="csY3" fmla="*/ 61269 h 1348351"/>
              <a:gd name="csX4" fmla="*/ 3340729 w 3730028"/>
              <a:gd name="csY4" fmla="*/ 1328754 h 1348351"/>
              <a:gd name="csX5" fmla="*/ 3730028 w 3730028"/>
              <a:gd name="csY5" fmla="*/ 713118 h 1348351"/>
              <a:gd name="csX0" fmla="*/ 0 w 3730028"/>
              <a:gd name="csY0" fmla="*/ 314766 h 1348351"/>
              <a:gd name="csX1" fmla="*/ 250920 w 3730028"/>
              <a:gd name="csY1" fmla="*/ 17117 h 1348351"/>
              <a:gd name="csX2" fmla="*/ 923454 w 3730028"/>
              <a:gd name="csY2" fmla="*/ 1220112 h 1348351"/>
              <a:gd name="csX3" fmla="*/ 2100404 w 3730028"/>
              <a:gd name="csY3" fmla="*/ 61269 h 1348351"/>
              <a:gd name="csX4" fmla="*/ 3340729 w 3730028"/>
              <a:gd name="csY4" fmla="*/ 1328754 h 1348351"/>
              <a:gd name="csX5" fmla="*/ 3730028 w 3730028"/>
              <a:gd name="csY5" fmla="*/ 713118 h 1348351"/>
              <a:gd name="csX0" fmla="*/ 0 w 3730028"/>
              <a:gd name="csY0" fmla="*/ 314766 h 1348351"/>
              <a:gd name="csX1" fmla="*/ 250920 w 3730028"/>
              <a:gd name="csY1" fmla="*/ 17117 h 1348351"/>
              <a:gd name="csX2" fmla="*/ 923454 w 3730028"/>
              <a:gd name="csY2" fmla="*/ 1220112 h 1348351"/>
              <a:gd name="csX3" fmla="*/ 2100404 w 3730028"/>
              <a:gd name="csY3" fmla="*/ 61269 h 1348351"/>
              <a:gd name="csX4" fmla="*/ 3340729 w 3730028"/>
              <a:gd name="csY4" fmla="*/ 1328754 h 1348351"/>
              <a:gd name="csX5" fmla="*/ 3730028 w 3730028"/>
              <a:gd name="csY5" fmla="*/ 713118 h 1348351"/>
              <a:gd name="csX0" fmla="*/ 0 w 3730028"/>
              <a:gd name="csY0" fmla="*/ 314766 h 1348351"/>
              <a:gd name="csX1" fmla="*/ 250920 w 3730028"/>
              <a:gd name="csY1" fmla="*/ 17117 h 1348351"/>
              <a:gd name="csX2" fmla="*/ 923454 w 3730028"/>
              <a:gd name="csY2" fmla="*/ 1220112 h 1348351"/>
              <a:gd name="csX3" fmla="*/ 2100404 w 3730028"/>
              <a:gd name="csY3" fmla="*/ 61269 h 1348351"/>
              <a:gd name="csX4" fmla="*/ 3340729 w 3730028"/>
              <a:gd name="csY4" fmla="*/ 1328754 h 1348351"/>
              <a:gd name="csX5" fmla="*/ 3730028 w 3730028"/>
              <a:gd name="csY5" fmla="*/ 713118 h 1348351"/>
              <a:gd name="csX0" fmla="*/ 0 w 3730028"/>
              <a:gd name="csY0" fmla="*/ 314766 h 1331726"/>
              <a:gd name="csX1" fmla="*/ 250920 w 3730028"/>
              <a:gd name="csY1" fmla="*/ 17117 h 1331726"/>
              <a:gd name="csX2" fmla="*/ 923454 w 3730028"/>
              <a:gd name="csY2" fmla="*/ 1220112 h 1331726"/>
              <a:gd name="csX3" fmla="*/ 2100404 w 3730028"/>
              <a:gd name="csY3" fmla="*/ 61269 h 1331726"/>
              <a:gd name="csX4" fmla="*/ 3340729 w 3730028"/>
              <a:gd name="csY4" fmla="*/ 1328754 h 1331726"/>
              <a:gd name="csX5" fmla="*/ 3730028 w 3730028"/>
              <a:gd name="csY5" fmla="*/ 713118 h 1331726"/>
              <a:gd name="csX0" fmla="*/ 0 w 3730028"/>
              <a:gd name="csY0" fmla="*/ 314766 h 1331726"/>
              <a:gd name="csX1" fmla="*/ 250920 w 3730028"/>
              <a:gd name="csY1" fmla="*/ 17117 h 1331726"/>
              <a:gd name="csX2" fmla="*/ 923454 w 3730028"/>
              <a:gd name="csY2" fmla="*/ 1220112 h 1331726"/>
              <a:gd name="csX3" fmla="*/ 2100404 w 3730028"/>
              <a:gd name="csY3" fmla="*/ 61269 h 1331726"/>
              <a:gd name="csX4" fmla="*/ 3340729 w 3730028"/>
              <a:gd name="csY4" fmla="*/ 1328754 h 1331726"/>
              <a:gd name="csX5" fmla="*/ 3730028 w 3730028"/>
              <a:gd name="csY5" fmla="*/ 713118 h 1331726"/>
              <a:gd name="csX0" fmla="*/ 0 w 3730028"/>
              <a:gd name="csY0" fmla="*/ 314766 h 1328754"/>
              <a:gd name="csX1" fmla="*/ 250920 w 3730028"/>
              <a:gd name="csY1" fmla="*/ 17117 h 1328754"/>
              <a:gd name="csX2" fmla="*/ 923454 w 3730028"/>
              <a:gd name="csY2" fmla="*/ 1220112 h 1328754"/>
              <a:gd name="csX3" fmla="*/ 2100404 w 3730028"/>
              <a:gd name="csY3" fmla="*/ 61269 h 1328754"/>
              <a:gd name="csX4" fmla="*/ 3340729 w 3730028"/>
              <a:gd name="csY4" fmla="*/ 1328754 h 1328754"/>
              <a:gd name="csX5" fmla="*/ 3730028 w 3730028"/>
              <a:gd name="csY5" fmla="*/ 713118 h 1328754"/>
              <a:gd name="csX0" fmla="*/ 0 w 3730028"/>
              <a:gd name="csY0" fmla="*/ 314766 h 1328754"/>
              <a:gd name="csX1" fmla="*/ 250920 w 3730028"/>
              <a:gd name="csY1" fmla="*/ 17117 h 1328754"/>
              <a:gd name="csX2" fmla="*/ 923454 w 3730028"/>
              <a:gd name="csY2" fmla="*/ 1220112 h 1328754"/>
              <a:gd name="csX3" fmla="*/ 2100404 w 3730028"/>
              <a:gd name="csY3" fmla="*/ 61269 h 1328754"/>
              <a:gd name="csX4" fmla="*/ 3340729 w 3730028"/>
              <a:gd name="csY4" fmla="*/ 1328754 h 1328754"/>
              <a:gd name="csX5" fmla="*/ 3730028 w 3730028"/>
              <a:gd name="csY5" fmla="*/ 713118 h 1328754"/>
              <a:gd name="csX0" fmla="*/ 0 w 3730028"/>
              <a:gd name="csY0" fmla="*/ 314766 h 1328754"/>
              <a:gd name="csX1" fmla="*/ 250920 w 3730028"/>
              <a:gd name="csY1" fmla="*/ 17117 h 1328754"/>
              <a:gd name="csX2" fmla="*/ 923454 w 3730028"/>
              <a:gd name="csY2" fmla="*/ 1220112 h 1328754"/>
              <a:gd name="csX3" fmla="*/ 2100404 w 3730028"/>
              <a:gd name="csY3" fmla="*/ 61269 h 1328754"/>
              <a:gd name="csX4" fmla="*/ 3340729 w 3730028"/>
              <a:gd name="csY4" fmla="*/ 1328754 h 1328754"/>
              <a:gd name="csX5" fmla="*/ 3730028 w 3730028"/>
              <a:gd name="csY5" fmla="*/ 713118 h 1328754"/>
              <a:gd name="csX0" fmla="*/ 0 w 3730028"/>
              <a:gd name="csY0" fmla="*/ 314766 h 1328754"/>
              <a:gd name="csX1" fmla="*/ 250920 w 3730028"/>
              <a:gd name="csY1" fmla="*/ 17117 h 1328754"/>
              <a:gd name="csX2" fmla="*/ 923454 w 3730028"/>
              <a:gd name="csY2" fmla="*/ 1220112 h 1328754"/>
              <a:gd name="csX3" fmla="*/ 2100404 w 3730028"/>
              <a:gd name="csY3" fmla="*/ 61269 h 1328754"/>
              <a:gd name="csX4" fmla="*/ 3340729 w 3730028"/>
              <a:gd name="csY4" fmla="*/ 1328754 h 1328754"/>
              <a:gd name="csX5" fmla="*/ 3730028 w 3730028"/>
              <a:gd name="csY5" fmla="*/ 713118 h 1328754"/>
              <a:gd name="csX0" fmla="*/ 0 w 3730028"/>
              <a:gd name="csY0" fmla="*/ 314766 h 1328754"/>
              <a:gd name="csX1" fmla="*/ 250920 w 3730028"/>
              <a:gd name="csY1" fmla="*/ 17117 h 1328754"/>
              <a:gd name="csX2" fmla="*/ 923454 w 3730028"/>
              <a:gd name="csY2" fmla="*/ 1220112 h 1328754"/>
              <a:gd name="csX3" fmla="*/ 2100404 w 3730028"/>
              <a:gd name="csY3" fmla="*/ 61269 h 1328754"/>
              <a:gd name="csX4" fmla="*/ 3340729 w 3730028"/>
              <a:gd name="csY4" fmla="*/ 1328754 h 1328754"/>
              <a:gd name="csX5" fmla="*/ 3730028 w 3730028"/>
              <a:gd name="csY5" fmla="*/ 713118 h 1328754"/>
              <a:gd name="csX0" fmla="*/ 0 w 3730028"/>
              <a:gd name="csY0" fmla="*/ 314766 h 1328754"/>
              <a:gd name="csX1" fmla="*/ 250920 w 3730028"/>
              <a:gd name="csY1" fmla="*/ 17117 h 1328754"/>
              <a:gd name="csX2" fmla="*/ 923454 w 3730028"/>
              <a:gd name="csY2" fmla="*/ 1220112 h 1328754"/>
              <a:gd name="csX3" fmla="*/ 2100404 w 3730028"/>
              <a:gd name="csY3" fmla="*/ 61269 h 1328754"/>
              <a:gd name="csX4" fmla="*/ 3340729 w 3730028"/>
              <a:gd name="csY4" fmla="*/ 1328754 h 1328754"/>
              <a:gd name="csX5" fmla="*/ 3730028 w 3730028"/>
              <a:gd name="csY5" fmla="*/ 713118 h 1328754"/>
              <a:gd name="csX0" fmla="*/ 0 w 3688753"/>
              <a:gd name="csY0" fmla="*/ 314766 h 1328754"/>
              <a:gd name="csX1" fmla="*/ 250920 w 3688753"/>
              <a:gd name="csY1" fmla="*/ 17117 h 1328754"/>
              <a:gd name="csX2" fmla="*/ 923454 w 3688753"/>
              <a:gd name="csY2" fmla="*/ 1220112 h 1328754"/>
              <a:gd name="csX3" fmla="*/ 2100404 w 3688753"/>
              <a:gd name="csY3" fmla="*/ 61269 h 1328754"/>
              <a:gd name="csX4" fmla="*/ 3340729 w 3688753"/>
              <a:gd name="csY4" fmla="*/ 1328754 h 1328754"/>
              <a:gd name="csX5" fmla="*/ 3688753 w 3688753"/>
              <a:gd name="csY5" fmla="*/ 703593 h 1328754"/>
              <a:gd name="csX0" fmla="*/ 0 w 3689581"/>
              <a:gd name="csY0" fmla="*/ 314766 h 1328754"/>
              <a:gd name="csX1" fmla="*/ 250920 w 3689581"/>
              <a:gd name="csY1" fmla="*/ 17117 h 1328754"/>
              <a:gd name="csX2" fmla="*/ 923454 w 3689581"/>
              <a:gd name="csY2" fmla="*/ 1220112 h 1328754"/>
              <a:gd name="csX3" fmla="*/ 2100404 w 3689581"/>
              <a:gd name="csY3" fmla="*/ 61269 h 1328754"/>
              <a:gd name="csX4" fmla="*/ 3340729 w 3689581"/>
              <a:gd name="csY4" fmla="*/ 1328754 h 1328754"/>
              <a:gd name="csX5" fmla="*/ 3688753 w 3689581"/>
              <a:gd name="csY5" fmla="*/ 703593 h 1328754"/>
              <a:gd name="csX0" fmla="*/ 0 w 3688753"/>
              <a:gd name="csY0" fmla="*/ 314766 h 1328754"/>
              <a:gd name="csX1" fmla="*/ 250920 w 3688753"/>
              <a:gd name="csY1" fmla="*/ 17117 h 1328754"/>
              <a:gd name="csX2" fmla="*/ 923454 w 3688753"/>
              <a:gd name="csY2" fmla="*/ 1220112 h 1328754"/>
              <a:gd name="csX3" fmla="*/ 2100404 w 3688753"/>
              <a:gd name="csY3" fmla="*/ 61269 h 1328754"/>
              <a:gd name="csX4" fmla="*/ 3340729 w 3688753"/>
              <a:gd name="csY4" fmla="*/ 1328754 h 1328754"/>
              <a:gd name="csX5" fmla="*/ 3688753 w 3688753"/>
              <a:gd name="csY5" fmla="*/ 703593 h 1328754"/>
              <a:gd name="csX0" fmla="*/ 0 w 3688753"/>
              <a:gd name="csY0" fmla="*/ 314766 h 1328754"/>
              <a:gd name="csX1" fmla="*/ 250920 w 3688753"/>
              <a:gd name="csY1" fmla="*/ 17117 h 1328754"/>
              <a:gd name="csX2" fmla="*/ 923454 w 3688753"/>
              <a:gd name="csY2" fmla="*/ 1220112 h 1328754"/>
              <a:gd name="csX3" fmla="*/ 2100404 w 3688753"/>
              <a:gd name="csY3" fmla="*/ 61269 h 1328754"/>
              <a:gd name="csX4" fmla="*/ 3340729 w 3688753"/>
              <a:gd name="csY4" fmla="*/ 1328754 h 1328754"/>
              <a:gd name="csX5" fmla="*/ 3688753 w 3688753"/>
              <a:gd name="csY5" fmla="*/ 703593 h 1328754"/>
              <a:gd name="csX0" fmla="*/ 0 w 3688753"/>
              <a:gd name="csY0" fmla="*/ 314766 h 1328754"/>
              <a:gd name="csX1" fmla="*/ 250920 w 3688753"/>
              <a:gd name="csY1" fmla="*/ 17117 h 1328754"/>
              <a:gd name="csX2" fmla="*/ 923454 w 3688753"/>
              <a:gd name="csY2" fmla="*/ 1220112 h 1328754"/>
              <a:gd name="csX3" fmla="*/ 2100404 w 3688753"/>
              <a:gd name="csY3" fmla="*/ 61269 h 1328754"/>
              <a:gd name="csX4" fmla="*/ 3340729 w 3688753"/>
              <a:gd name="csY4" fmla="*/ 1328754 h 1328754"/>
              <a:gd name="csX5" fmla="*/ 3688753 w 3688753"/>
              <a:gd name="csY5" fmla="*/ 703593 h 1328754"/>
              <a:gd name="csX0" fmla="*/ 0 w 3688753"/>
              <a:gd name="csY0" fmla="*/ 314766 h 1328754"/>
              <a:gd name="csX1" fmla="*/ 250920 w 3688753"/>
              <a:gd name="csY1" fmla="*/ 17117 h 1328754"/>
              <a:gd name="csX2" fmla="*/ 923454 w 3688753"/>
              <a:gd name="csY2" fmla="*/ 1220112 h 1328754"/>
              <a:gd name="csX3" fmla="*/ 2100404 w 3688753"/>
              <a:gd name="csY3" fmla="*/ 61269 h 1328754"/>
              <a:gd name="csX4" fmla="*/ 3340729 w 3688753"/>
              <a:gd name="csY4" fmla="*/ 1328754 h 1328754"/>
              <a:gd name="csX5" fmla="*/ 3688753 w 3688753"/>
              <a:gd name="csY5" fmla="*/ 703593 h 1328754"/>
              <a:gd name="csX0" fmla="*/ 0 w 3663353"/>
              <a:gd name="csY0" fmla="*/ 314766 h 1328754"/>
              <a:gd name="csX1" fmla="*/ 250920 w 3663353"/>
              <a:gd name="csY1" fmla="*/ 17117 h 1328754"/>
              <a:gd name="csX2" fmla="*/ 923454 w 3663353"/>
              <a:gd name="csY2" fmla="*/ 1220112 h 1328754"/>
              <a:gd name="csX3" fmla="*/ 2100404 w 3663353"/>
              <a:gd name="csY3" fmla="*/ 61269 h 1328754"/>
              <a:gd name="csX4" fmla="*/ 3340729 w 3663353"/>
              <a:gd name="csY4" fmla="*/ 1328754 h 1328754"/>
              <a:gd name="csX5" fmla="*/ 3663353 w 3663353"/>
              <a:gd name="csY5" fmla="*/ 697243 h 1328754"/>
              <a:gd name="csX0" fmla="*/ 0 w 3663353"/>
              <a:gd name="csY0" fmla="*/ 314766 h 1328754"/>
              <a:gd name="csX1" fmla="*/ 250920 w 3663353"/>
              <a:gd name="csY1" fmla="*/ 17117 h 1328754"/>
              <a:gd name="csX2" fmla="*/ 923454 w 3663353"/>
              <a:gd name="csY2" fmla="*/ 1220112 h 1328754"/>
              <a:gd name="csX3" fmla="*/ 2100404 w 3663353"/>
              <a:gd name="csY3" fmla="*/ 61269 h 1328754"/>
              <a:gd name="csX4" fmla="*/ 3340729 w 3663353"/>
              <a:gd name="csY4" fmla="*/ 1328754 h 1328754"/>
              <a:gd name="csX5" fmla="*/ 3663353 w 3663353"/>
              <a:gd name="csY5" fmla="*/ 697243 h 1328754"/>
              <a:gd name="csX0" fmla="*/ 0 w 3663353"/>
              <a:gd name="csY0" fmla="*/ 314766 h 1328754"/>
              <a:gd name="csX1" fmla="*/ 250920 w 3663353"/>
              <a:gd name="csY1" fmla="*/ 17117 h 1328754"/>
              <a:gd name="csX2" fmla="*/ 923454 w 3663353"/>
              <a:gd name="csY2" fmla="*/ 1220112 h 1328754"/>
              <a:gd name="csX3" fmla="*/ 2100404 w 3663353"/>
              <a:gd name="csY3" fmla="*/ 61269 h 1328754"/>
              <a:gd name="csX4" fmla="*/ 3340729 w 3663353"/>
              <a:gd name="csY4" fmla="*/ 1328754 h 1328754"/>
              <a:gd name="csX5" fmla="*/ 3663353 w 3663353"/>
              <a:gd name="csY5" fmla="*/ 697243 h 1328754"/>
              <a:gd name="csX0" fmla="*/ 0 w 3663353"/>
              <a:gd name="csY0" fmla="*/ 314766 h 1328754"/>
              <a:gd name="csX1" fmla="*/ 250920 w 3663353"/>
              <a:gd name="csY1" fmla="*/ 17117 h 1328754"/>
              <a:gd name="csX2" fmla="*/ 923454 w 3663353"/>
              <a:gd name="csY2" fmla="*/ 1220112 h 1328754"/>
              <a:gd name="csX3" fmla="*/ 2100404 w 3663353"/>
              <a:gd name="csY3" fmla="*/ 61269 h 1328754"/>
              <a:gd name="csX4" fmla="*/ 3340729 w 3663353"/>
              <a:gd name="csY4" fmla="*/ 1328754 h 1328754"/>
              <a:gd name="csX5" fmla="*/ 3663353 w 3663353"/>
              <a:gd name="csY5" fmla="*/ 697243 h 1328754"/>
              <a:gd name="csX0" fmla="*/ 0 w 3663353"/>
              <a:gd name="csY0" fmla="*/ 314766 h 1328754"/>
              <a:gd name="csX1" fmla="*/ 250920 w 3663353"/>
              <a:gd name="csY1" fmla="*/ 17117 h 1328754"/>
              <a:gd name="csX2" fmla="*/ 923454 w 3663353"/>
              <a:gd name="csY2" fmla="*/ 1220112 h 1328754"/>
              <a:gd name="csX3" fmla="*/ 2100404 w 3663353"/>
              <a:gd name="csY3" fmla="*/ 61269 h 1328754"/>
              <a:gd name="csX4" fmla="*/ 3340729 w 3663353"/>
              <a:gd name="csY4" fmla="*/ 1328754 h 1328754"/>
              <a:gd name="csX5" fmla="*/ 3663353 w 3663353"/>
              <a:gd name="csY5" fmla="*/ 697243 h 1328754"/>
              <a:gd name="csX0" fmla="*/ 0 w 3663353"/>
              <a:gd name="csY0" fmla="*/ 314766 h 1257316"/>
              <a:gd name="csX1" fmla="*/ 250920 w 3663353"/>
              <a:gd name="csY1" fmla="*/ 17117 h 1257316"/>
              <a:gd name="csX2" fmla="*/ 923454 w 3663353"/>
              <a:gd name="csY2" fmla="*/ 1220112 h 1257316"/>
              <a:gd name="csX3" fmla="*/ 2100404 w 3663353"/>
              <a:gd name="csY3" fmla="*/ 61269 h 1257316"/>
              <a:gd name="csX4" fmla="*/ 3355016 w 3663353"/>
              <a:gd name="csY4" fmla="*/ 1257316 h 1257316"/>
              <a:gd name="csX5" fmla="*/ 3663353 w 3663353"/>
              <a:gd name="csY5" fmla="*/ 697243 h 1257316"/>
              <a:gd name="csX0" fmla="*/ 0 w 3663353"/>
              <a:gd name="csY0" fmla="*/ 314766 h 1257316"/>
              <a:gd name="csX1" fmla="*/ 250920 w 3663353"/>
              <a:gd name="csY1" fmla="*/ 17117 h 1257316"/>
              <a:gd name="csX2" fmla="*/ 923454 w 3663353"/>
              <a:gd name="csY2" fmla="*/ 1220112 h 1257316"/>
              <a:gd name="csX3" fmla="*/ 2100404 w 3663353"/>
              <a:gd name="csY3" fmla="*/ 61269 h 1257316"/>
              <a:gd name="csX4" fmla="*/ 3355016 w 3663353"/>
              <a:gd name="csY4" fmla="*/ 1257316 h 1257316"/>
              <a:gd name="csX5" fmla="*/ 3663353 w 3663353"/>
              <a:gd name="csY5" fmla="*/ 697243 h 1257316"/>
              <a:gd name="csX0" fmla="*/ 0 w 3663353"/>
              <a:gd name="csY0" fmla="*/ 314766 h 1257316"/>
              <a:gd name="csX1" fmla="*/ 250920 w 3663353"/>
              <a:gd name="csY1" fmla="*/ 17117 h 1257316"/>
              <a:gd name="csX2" fmla="*/ 923454 w 3663353"/>
              <a:gd name="csY2" fmla="*/ 1220112 h 1257316"/>
              <a:gd name="csX3" fmla="*/ 2100404 w 3663353"/>
              <a:gd name="csY3" fmla="*/ 61269 h 1257316"/>
              <a:gd name="csX4" fmla="*/ 3355016 w 3663353"/>
              <a:gd name="csY4" fmla="*/ 1257316 h 1257316"/>
              <a:gd name="csX5" fmla="*/ 3663353 w 3663353"/>
              <a:gd name="csY5" fmla="*/ 697243 h 1257316"/>
              <a:gd name="csX0" fmla="*/ 0 w 3663353"/>
              <a:gd name="csY0" fmla="*/ 314766 h 1257316"/>
              <a:gd name="csX1" fmla="*/ 250920 w 3663353"/>
              <a:gd name="csY1" fmla="*/ 17117 h 1257316"/>
              <a:gd name="csX2" fmla="*/ 923454 w 3663353"/>
              <a:gd name="csY2" fmla="*/ 1220112 h 1257316"/>
              <a:gd name="csX3" fmla="*/ 2100404 w 3663353"/>
              <a:gd name="csY3" fmla="*/ 61269 h 1257316"/>
              <a:gd name="csX4" fmla="*/ 3355016 w 3663353"/>
              <a:gd name="csY4" fmla="*/ 1257316 h 1257316"/>
              <a:gd name="csX5" fmla="*/ 3663353 w 3663353"/>
              <a:gd name="csY5" fmla="*/ 697243 h 1257316"/>
              <a:gd name="csX0" fmla="*/ 0 w 3664188"/>
              <a:gd name="csY0" fmla="*/ 314766 h 1257316"/>
              <a:gd name="csX1" fmla="*/ 250920 w 3664188"/>
              <a:gd name="csY1" fmla="*/ 17117 h 1257316"/>
              <a:gd name="csX2" fmla="*/ 923454 w 3664188"/>
              <a:gd name="csY2" fmla="*/ 1220112 h 1257316"/>
              <a:gd name="csX3" fmla="*/ 2100404 w 3664188"/>
              <a:gd name="csY3" fmla="*/ 61269 h 1257316"/>
              <a:gd name="csX4" fmla="*/ 3355016 w 3664188"/>
              <a:gd name="csY4" fmla="*/ 1257316 h 1257316"/>
              <a:gd name="csX5" fmla="*/ 3663353 w 3664188"/>
              <a:gd name="csY5" fmla="*/ 697243 h 1257316"/>
              <a:gd name="csX0" fmla="*/ 0 w 3663353"/>
              <a:gd name="csY0" fmla="*/ 314766 h 1257316"/>
              <a:gd name="csX1" fmla="*/ 250920 w 3663353"/>
              <a:gd name="csY1" fmla="*/ 17117 h 1257316"/>
              <a:gd name="csX2" fmla="*/ 923454 w 3663353"/>
              <a:gd name="csY2" fmla="*/ 1220112 h 1257316"/>
              <a:gd name="csX3" fmla="*/ 2100404 w 3663353"/>
              <a:gd name="csY3" fmla="*/ 61269 h 1257316"/>
              <a:gd name="csX4" fmla="*/ 3355016 w 3663353"/>
              <a:gd name="csY4" fmla="*/ 1257316 h 1257316"/>
              <a:gd name="csX5" fmla="*/ 3663353 w 3663353"/>
              <a:gd name="csY5" fmla="*/ 697243 h 1257316"/>
              <a:gd name="csX0" fmla="*/ 0 w 3695103"/>
              <a:gd name="csY0" fmla="*/ 314766 h 1257316"/>
              <a:gd name="csX1" fmla="*/ 250920 w 3695103"/>
              <a:gd name="csY1" fmla="*/ 17117 h 1257316"/>
              <a:gd name="csX2" fmla="*/ 923454 w 3695103"/>
              <a:gd name="csY2" fmla="*/ 1220112 h 1257316"/>
              <a:gd name="csX3" fmla="*/ 2100404 w 3695103"/>
              <a:gd name="csY3" fmla="*/ 61269 h 1257316"/>
              <a:gd name="csX4" fmla="*/ 3355016 w 3695103"/>
              <a:gd name="csY4" fmla="*/ 1257316 h 1257316"/>
              <a:gd name="csX5" fmla="*/ 3695103 w 3695103"/>
              <a:gd name="csY5" fmla="*/ 684543 h 1257316"/>
              <a:gd name="csX0" fmla="*/ 0 w 3707803"/>
              <a:gd name="csY0" fmla="*/ 314766 h 1257316"/>
              <a:gd name="csX1" fmla="*/ 250920 w 3707803"/>
              <a:gd name="csY1" fmla="*/ 17117 h 1257316"/>
              <a:gd name="csX2" fmla="*/ 923454 w 3707803"/>
              <a:gd name="csY2" fmla="*/ 1220112 h 1257316"/>
              <a:gd name="csX3" fmla="*/ 2100404 w 3707803"/>
              <a:gd name="csY3" fmla="*/ 61269 h 1257316"/>
              <a:gd name="csX4" fmla="*/ 3355016 w 3707803"/>
              <a:gd name="csY4" fmla="*/ 1257316 h 1257316"/>
              <a:gd name="csX5" fmla="*/ 3707803 w 3707803"/>
              <a:gd name="csY5" fmla="*/ 690893 h 1257316"/>
              <a:gd name="csX0" fmla="*/ 0 w 3707803"/>
              <a:gd name="csY0" fmla="*/ 314766 h 1257316"/>
              <a:gd name="csX1" fmla="*/ 250920 w 3707803"/>
              <a:gd name="csY1" fmla="*/ 17117 h 1257316"/>
              <a:gd name="csX2" fmla="*/ 923454 w 3707803"/>
              <a:gd name="csY2" fmla="*/ 1220112 h 1257316"/>
              <a:gd name="csX3" fmla="*/ 2100404 w 3707803"/>
              <a:gd name="csY3" fmla="*/ 61269 h 1257316"/>
              <a:gd name="csX4" fmla="*/ 3355016 w 3707803"/>
              <a:gd name="csY4" fmla="*/ 1257316 h 1257316"/>
              <a:gd name="csX5" fmla="*/ 3707803 w 3707803"/>
              <a:gd name="csY5" fmla="*/ 690893 h 1257316"/>
              <a:gd name="csX0" fmla="*/ 0 w 3707803"/>
              <a:gd name="csY0" fmla="*/ 314766 h 1257316"/>
              <a:gd name="csX1" fmla="*/ 250920 w 3707803"/>
              <a:gd name="csY1" fmla="*/ 17117 h 1257316"/>
              <a:gd name="csX2" fmla="*/ 923454 w 3707803"/>
              <a:gd name="csY2" fmla="*/ 1220112 h 1257316"/>
              <a:gd name="csX3" fmla="*/ 2100404 w 3707803"/>
              <a:gd name="csY3" fmla="*/ 61269 h 1257316"/>
              <a:gd name="csX4" fmla="*/ 3355016 w 3707803"/>
              <a:gd name="csY4" fmla="*/ 1257316 h 1257316"/>
              <a:gd name="csX5" fmla="*/ 3707803 w 3707803"/>
              <a:gd name="csY5" fmla="*/ 690893 h 1257316"/>
              <a:gd name="csX0" fmla="*/ 0 w 3707803"/>
              <a:gd name="csY0" fmla="*/ 314766 h 1231916"/>
              <a:gd name="csX1" fmla="*/ 250920 w 3707803"/>
              <a:gd name="csY1" fmla="*/ 17117 h 1231916"/>
              <a:gd name="csX2" fmla="*/ 923454 w 3707803"/>
              <a:gd name="csY2" fmla="*/ 1220112 h 1231916"/>
              <a:gd name="csX3" fmla="*/ 2100404 w 3707803"/>
              <a:gd name="csY3" fmla="*/ 61269 h 1231916"/>
              <a:gd name="csX4" fmla="*/ 3355016 w 3707803"/>
              <a:gd name="csY4" fmla="*/ 1231916 h 1231916"/>
              <a:gd name="csX5" fmla="*/ 3707803 w 3707803"/>
              <a:gd name="csY5" fmla="*/ 690893 h 1231916"/>
              <a:gd name="csX0" fmla="*/ 0 w 4349153"/>
              <a:gd name="csY0" fmla="*/ 314766 h 1231916"/>
              <a:gd name="csX1" fmla="*/ 250920 w 4349153"/>
              <a:gd name="csY1" fmla="*/ 17117 h 1231916"/>
              <a:gd name="csX2" fmla="*/ 923454 w 4349153"/>
              <a:gd name="csY2" fmla="*/ 1220112 h 1231916"/>
              <a:gd name="csX3" fmla="*/ 2100404 w 4349153"/>
              <a:gd name="csY3" fmla="*/ 61269 h 1231916"/>
              <a:gd name="csX4" fmla="*/ 3355016 w 4349153"/>
              <a:gd name="csY4" fmla="*/ 1231916 h 1231916"/>
              <a:gd name="csX5" fmla="*/ 4349153 w 4349153"/>
              <a:gd name="csY5" fmla="*/ 303543 h 1231916"/>
              <a:gd name="csX0" fmla="*/ 0 w 4006253"/>
              <a:gd name="csY0" fmla="*/ 314766 h 1231916"/>
              <a:gd name="csX1" fmla="*/ 250920 w 4006253"/>
              <a:gd name="csY1" fmla="*/ 17117 h 1231916"/>
              <a:gd name="csX2" fmla="*/ 923454 w 4006253"/>
              <a:gd name="csY2" fmla="*/ 1220112 h 1231916"/>
              <a:gd name="csX3" fmla="*/ 2100404 w 4006253"/>
              <a:gd name="csY3" fmla="*/ 61269 h 1231916"/>
              <a:gd name="csX4" fmla="*/ 3355016 w 4006253"/>
              <a:gd name="csY4" fmla="*/ 1231916 h 1231916"/>
              <a:gd name="csX5" fmla="*/ 4006253 w 4006253"/>
              <a:gd name="csY5" fmla="*/ 646443 h 1231916"/>
              <a:gd name="csX0" fmla="*/ 0 w 4006253"/>
              <a:gd name="csY0" fmla="*/ 314766 h 1231916"/>
              <a:gd name="csX1" fmla="*/ 250920 w 4006253"/>
              <a:gd name="csY1" fmla="*/ 17117 h 1231916"/>
              <a:gd name="csX2" fmla="*/ 923454 w 4006253"/>
              <a:gd name="csY2" fmla="*/ 1220112 h 1231916"/>
              <a:gd name="csX3" fmla="*/ 2100404 w 4006253"/>
              <a:gd name="csY3" fmla="*/ 61269 h 1231916"/>
              <a:gd name="csX4" fmla="*/ 3355016 w 4006253"/>
              <a:gd name="csY4" fmla="*/ 1231916 h 1231916"/>
              <a:gd name="csX5" fmla="*/ 4006253 w 4006253"/>
              <a:gd name="csY5" fmla="*/ 646443 h 1231916"/>
              <a:gd name="csX0" fmla="*/ 0 w 3879253"/>
              <a:gd name="csY0" fmla="*/ 314766 h 1231916"/>
              <a:gd name="csX1" fmla="*/ 250920 w 3879253"/>
              <a:gd name="csY1" fmla="*/ 17117 h 1231916"/>
              <a:gd name="csX2" fmla="*/ 923454 w 3879253"/>
              <a:gd name="csY2" fmla="*/ 1220112 h 1231916"/>
              <a:gd name="csX3" fmla="*/ 2100404 w 3879253"/>
              <a:gd name="csY3" fmla="*/ 61269 h 1231916"/>
              <a:gd name="csX4" fmla="*/ 3355016 w 3879253"/>
              <a:gd name="csY4" fmla="*/ 1231916 h 1231916"/>
              <a:gd name="csX5" fmla="*/ 3879253 w 3879253"/>
              <a:gd name="csY5" fmla="*/ 697243 h 1231916"/>
              <a:gd name="csX0" fmla="*/ 0 w 3879253"/>
              <a:gd name="csY0" fmla="*/ 314766 h 1231916"/>
              <a:gd name="csX1" fmla="*/ 250920 w 3879253"/>
              <a:gd name="csY1" fmla="*/ 17117 h 1231916"/>
              <a:gd name="csX2" fmla="*/ 923454 w 3879253"/>
              <a:gd name="csY2" fmla="*/ 1220112 h 1231916"/>
              <a:gd name="csX3" fmla="*/ 2100404 w 3879253"/>
              <a:gd name="csY3" fmla="*/ 61269 h 1231916"/>
              <a:gd name="csX4" fmla="*/ 3355016 w 3879253"/>
              <a:gd name="csY4" fmla="*/ 1231916 h 1231916"/>
              <a:gd name="csX5" fmla="*/ 3879253 w 3879253"/>
              <a:gd name="csY5" fmla="*/ 697243 h 1231916"/>
            </a:gdLst>
            <a:ahLst/>
            <a:cxnLst>
              <a:cxn ang="0">
                <a:pos x="csX0" y="csY0"/>
              </a:cxn>
              <a:cxn ang="0">
                <a:pos x="csX1" y="csY1"/>
              </a:cxn>
              <a:cxn ang="0">
                <a:pos x="csX2" y="csY2"/>
              </a:cxn>
              <a:cxn ang="0">
                <a:pos x="csX3" y="csY3"/>
              </a:cxn>
              <a:cxn ang="0">
                <a:pos x="csX4" y="csY4"/>
              </a:cxn>
              <a:cxn ang="0">
                <a:pos x="csX5" y="csY5"/>
              </a:cxn>
            </a:cxnLst>
            <a:rect l="l" t="t" r="r" b="b"/>
            <a:pathLst>
              <a:path w="3879253" h="1231916">
                <a:moveTo>
                  <a:pt x="0" y="314766"/>
                </a:moveTo>
                <a:cubicBezTo>
                  <a:pt x="67555" y="116690"/>
                  <a:pt x="142255" y="-55986"/>
                  <a:pt x="250920" y="17117"/>
                </a:cubicBezTo>
                <a:cubicBezTo>
                  <a:pt x="359585" y="90220"/>
                  <a:pt x="621557" y="1123853"/>
                  <a:pt x="923454" y="1220112"/>
                </a:cubicBezTo>
                <a:cubicBezTo>
                  <a:pt x="1225351" y="1316371"/>
                  <a:pt x="1695144" y="59302"/>
                  <a:pt x="2100404" y="61269"/>
                </a:cubicBezTo>
                <a:cubicBezTo>
                  <a:pt x="2505664" y="63236"/>
                  <a:pt x="2981812" y="1199475"/>
                  <a:pt x="3355016" y="1231916"/>
                </a:cubicBezTo>
                <a:cubicBezTo>
                  <a:pt x="3628207" y="1181807"/>
                  <a:pt x="3826755" y="897456"/>
                  <a:pt x="3879253" y="697243"/>
                </a:cubicBezTo>
              </a:path>
            </a:pathLst>
          </a:cu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Meiryo UI" panose="020B0604030504040204" pitchFamily="50" charset="-128"/>
            </a:endParaRPr>
          </a:p>
        </p:txBody>
      </p:sp>
      <p:sp>
        <p:nvSpPr>
          <p:cNvPr id="135" name="正方形/長方形 134">
            <a:extLst>
              <a:ext uri="{FF2B5EF4-FFF2-40B4-BE49-F238E27FC236}">
                <a16:creationId xmlns:a16="http://schemas.microsoft.com/office/drawing/2014/main" id="{210D6AF2-379E-B1FD-FA51-65CFE46516ED}"/>
              </a:ext>
            </a:extLst>
          </p:cNvPr>
          <p:cNvSpPr/>
          <p:nvPr/>
        </p:nvSpPr>
        <p:spPr>
          <a:xfrm>
            <a:off x="7460720" y="3255886"/>
            <a:ext cx="1629847" cy="891876"/>
          </a:xfrm>
          <a:prstGeom prst="rect">
            <a:avLst/>
          </a:prstGeom>
          <a:solidFill>
            <a:schemeClr val="bg1">
              <a:alpha val="5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Segoe UI" panose="020B0502040204020203" pitchFamily="34" charset="0"/>
              <a:ea typeface="Meiryo UI" panose="020B0604030504040204" pitchFamily="50" charset="-128"/>
            </a:endParaRPr>
          </a:p>
        </p:txBody>
      </p:sp>
      <p:grpSp>
        <p:nvGrpSpPr>
          <p:cNvPr id="79" name="グループ化 78">
            <a:extLst>
              <a:ext uri="{FF2B5EF4-FFF2-40B4-BE49-F238E27FC236}">
                <a16:creationId xmlns:a16="http://schemas.microsoft.com/office/drawing/2014/main" id="{9E3571FE-4A95-B4D6-363B-5B5D9FEC224F}"/>
              </a:ext>
            </a:extLst>
          </p:cNvPr>
          <p:cNvGrpSpPr/>
          <p:nvPr/>
        </p:nvGrpSpPr>
        <p:grpSpPr>
          <a:xfrm>
            <a:off x="6371350" y="2608554"/>
            <a:ext cx="2031326" cy="765462"/>
            <a:chOff x="3055015" y="2132473"/>
            <a:chExt cx="1926836" cy="726087"/>
          </a:xfrm>
        </p:grpSpPr>
        <p:sp>
          <p:nvSpPr>
            <p:cNvPr id="25" name="楕円 24">
              <a:extLst>
                <a:ext uri="{FF2B5EF4-FFF2-40B4-BE49-F238E27FC236}">
                  <a16:creationId xmlns:a16="http://schemas.microsoft.com/office/drawing/2014/main" id="{4D832EB7-FDCE-2515-8713-BE60DFB308A9}"/>
                </a:ext>
              </a:extLst>
            </p:cNvPr>
            <p:cNvSpPr/>
            <p:nvPr/>
          </p:nvSpPr>
          <p:spPr>
            <a:xfrm>
              <a:off x="3914033" y="2648742"/>
              <a:ext cx="208800" cy="209818"/>
            </a:xfrm>
            <a:prstGeom prst="ellipse">
              <a:avLst/>
            </a:prstGeom>
            <a:solidFill>
              <a:srgbClr val="9CE0F3"/>
            </a:solidFill>
            <a:ln w="38100">
              <a:noFill/>
            </a:ln>
            <a:effectLst>
              <a:glow rad="63500">
                <a:schemeClr val="tx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47" name="テキスト ボックス 46">
              <a:extLst>
                <a:ext uri="{FF2B5EF4-FFF2-40B4-BE49-F238E27FC236}">
                  <a16:creationId xmlns:a16="http://schemas.microsoft.com/office/drawing/2014/main" id="{38DF7EF9-5F6D-9475-79D6-860CD00037B9}"/>
                </a:ext>
              </a:extLst>
            </p:cNvPr>
            <p:cNvSpPr txBox="1"/>
            <p:nvPr/>
          </p:nvSpPr>
          <p:spPr>
            <a:xfrm>
              <a:off x="3055015" y="2132473"/>
              <a:ext cx="1926836" cy="467476"/>
            </a:xfrm>
            <a:prstGeom prst="rect">
              <a:avLst/>
            </a:prstGeom>
            <a:noFill/>
          </p:spPr>
          <p:txBody>
            <a:bodyPr wrap="none" rtlCol="0">
              <a:spAutoFit/>
            </a:bodyPr>
            <a:lstStyle/>
            <a:p>
              <a:pPr algn="ctr">
                <a:lnSpc>
                  <a:spcPct val="120000"/>
                </a:lnSpc>
                <a:spcAft>
                  <a:spcPts val="1200"/>
                </a:spcAft>
              </a:pPr>
              <a:r>
                <a:rPr lang="ja-JP" altLang="en-US" sz="2400" dirty="0">
                  <a:effectLst>
                    <a:glow rad="127000">
                      <a:schemeClr val="bg1"/>
                    </a:glow>
                  </a:effectLst>
                  <a:latin typeface="Segoe UI" panose="020B0502040204020203" pitchFamily="34" charset="0"/>
                  <a:ea typeface="Meiryo UI" panose="020B0604030504040204" pitchFamily="50" charset="-128"/>
                </a:rPr>
                <a:t>推定対象時点</a:t>
              </a:r>
              <a:endParaRPr kumimoji="1" lang="ja-JP" altLang="en-US" sz="2400" dirty="0">
                <a:effectLst>
                  <a:glow rad="127000">
                    <a:schemeClr val="bg1"/>
                  </a:glow>
                </a:effectLst>
                <a:latin typeface="Segoe UI" panose="020B0502040204020203" pitchFamily="34" charset="0"/>
                <a:ea typeface="Meiryo UI" panose="020B0604030504040204" pitchFamily="50" charset="-128"/>
              </a:endParaRPr>
            </a:p>
          </p:txBody>
        </p:sp>
      </p:grpSp>
      <p:grpSp>
        <p:nvGrpSpPr>
          <p:cNvPr id="39" name="グループ化 38">
            <a:extLst>
              <a:ext uri="{FF2B5EF4-FFF2-40B4-BE49-F238E27FC236}">
                <a16:creationId xmlns:a16="http://schemas.microsoft.com/office/drawing/2014/main" id="{DAB3F36D-8D28-0CA8-6B4F-AED6D9DD2CA6}"/>
              </a:ext>
            </a:extLst>
          </p:cNvPr>
          <p:cNvGrpSpPr/>
          <p:nvPr/>
        </p:nvGrpSpPr>
        <p:grpSpPr>
          <a:xfrm>
            <a:off x="9858002" y="4187074"/>
            <a:ext cx="1972991" cy="983204"/>
            <a:chOff x="8373911" y="4171265"/>
            <a:chExt cx="1972991" cy="983204"/>
          </a:xfrm>
        </p:grpSpPr>
        <p:grpSp>
          <p:nvGrpSpPr>
            <p:cNvPr id="30" name="グループ化 29">
              <a:extLst>
                <a:ext uri="{FF2B5EF4-FFF2-40B4-BE49-F238E27FC236}">
                  <a16:creationId xmlns:a16="http://schemas.microsoft.com/office/drawing/2014/main" id="{B904D042-3C1B-DF5C-7CB0-A615859A1F7A}"/>
                </a:ext>
              </a:extLst>
            </p:cNvPr>
            <p:cNvGrpSpPr/>
            <p:nvPr/>
          </p:nvGrpSpPr>
          <p:grpSpPr>
            <a:xfrm>
              <a:off x="8373911" y="4171265"/>
              <a:ext cx="1972991" cy="405058"/>
              <a:chOff x="9631390" y="2714156"/>
              <a:chExt cx="1972991" cy="405058"/>
            </a:xfrm>
          </p:grpSpPr>
          <p:pic>
            <p:nvPicPr>
              <p:cNvPr id="24" name="図 23" descr="グラフ&#10;&#10;AI 生成コンテンツは誤りを含む可能性があります。">
                <a:extLst>
                  <a:ext uri="{FF2B5EF4-FFF2-40B4-BE49-F238E27FC236}">
                    <a16:creationId xmlns:a16="http://schemas.microsoft.com/office/drawing/2014/main" id="{75EEE0B5-FBC7-B436-B6B7-F023C44DCCF7}"/>
                  </a:ext>
                </a:extLst>
              </p:cNvPr>
              <p:cNvPicPr>
                <a:picLocks noChangeAspect="1"/>
              </p:cNvPicPr>
              <p:nvPr/>
            </p:nvPicPr>
            <p:blipFill>
              <a:blip r:embed="rId3">
                <a:duotone>
                  <a:prstClr val="black"/>
                  <a:schemeClr val="accent1">
                    <a:tint val="45000"/>
                    <a:satMod val="400000"/>
                  </a:schemeClr>
                </a:duotone>
                <a:extLst>
                  <a:ext uri="{BEBA8EAE-BF5A-486C-A8C5-ECC9F3942E4B}">
                    <a14:imgProps xmlns:a14="http://schemas.microsoft.com/office/drawing/2010/main">
                      <a14:imgLayer r:embed="rId4">
                        <a14:imgEffect>
                          <a14:artisticPaintStrokes/>
                        </a14:imgEffect>
                        <a14:imgEffect>
                          <a14:colorTemperature colorTemp="11200"/>
                        </a14:imgEffect>
                      </a14:imgLayer>
                    </a14:imgProps>
                  </a:ext>
                  <a:ext uri="{28A0092B-C50C-407E-A947-70E740481C1C}">
                    <a14:useLocalDpi xmlns:a14="http://schemas.microsoft.com/office/drawing/2010/main" val="0"/>
                  </a:ext>
                </a:extLst>
              </a:blip>
              <a:srcRect t="19579" b="29621"/>
              <a:stretch>
                <a:fillRect/>
              </a:stretch>
            </p:blipFill>
            <p:spPr>
              <a:xfrm flipH="1">
                <a:off x="9631390" y="2714156"/>
                <a:ext cx="671549" cy="405058"/>
              </a:xfrm>
              <a:prstGeom prst="rect">
                <a:avLst/>
              </a:prstGeom>
            </p:spPr>
          </p:pic>
          <p:sp>
            <p:nvSpPr>
              <p:cNvPr id="156" name="テキスト ボックス 155">
                <a:extLst>
                  <a:ext uri="{FF2B5EF4-FFF2-40B4-BE49-F238E27FC236}">
                    <a16:creationId xmlns:a16="http://schemas.microsoft.com/office/drawing/2014/main" id="{F7665CB7-2405-516A-874D-7B154C3DE9B9}"/>
                  </a:ext>
                </a:extLst>
              </p:cNvPr>
              <p:cNvSpPr txBox="1"/>
              <p:nvPr/>
            </p:nvSpPr>
            <p:spPr>
              <a:xfrm>
                <a:off x="10393792" y="2716630"/>
                <a:ext cx="1210589"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吸気音源</a:t>
                </a:r>
              </a:p>
            </p:txBody>
          </p:sp>
        </p:grpSp>
        <p:grpSp>
          <p:nvGrpSpPr>
            <p:cNvPr id="31" name="グループ化 30">
              <a:extLst>
                <a:ext uri="{FF2B5EF4-FFF2-40B4-BE49-F238E27FC236}">
                  <a16:creationId xmlns:a16="http://schemas.microsoft.com/office/drawing/2014/main" id="{DF09FCED-6C02-0E8B-B1BC-B45578413091}"/>
                </a:ext>
              </a:extLst>
            </p:cNvPr>
            <p:cNvGrpSpPr/>
            <p:nvPr/>
          </p:nvGrpSpPr>
          <p:grpSpPr>
            <a:xfrm>
              <a:off x="8374460" y="4749977"/>
              <a:ext cx="1972442" cy="404492"/>
              <a:chOff x="9631939" y="3292868"/>
              <a:chExt cx="1972442" cy="404492"/>
            </a:xfrm>
          </p:grpSpPr>
          <p:pic>
            <p:nvPicPr>
              <p:cNvPr id="26" name="図 25" descr="グラフ が含まれている画像&#10;&#10;AI 生成コンテンツは誤りを含む可能性があります。">
                <a:extLst>
                  <a:ext uri="{FF2B5EF4-FFF2-40B4-BE49-F238E27FC236}">
                    <a16:creationId xmlns:a16="http://schemas.microsoft.com/office/drawing/2014/main" id="{E8642F6D-6410-6269-128E-195B832E544B}"/>
                  </a:ext>
                </a:extLst>
              </p:cNvPr>
              <p:cNvPicPr>
                <a:picLocks noChangeAspect="1"/>
              </p:cNvPicPr>
              <p:nvPr/>
            </p:nvPicPr>
            <p:blipFill>
              <a:blip r:embed="rId5">
                <a:duotone>
                  <a:prstClr val="black"/>
                  <a:schemeClr val="accent4">
                    <a:tint val="45000"/>
                    <a:satMod val="400000"/>
                  </a:schemeClr>
                </a:duotone>
                <a:extLst>
                  <a:ext uri="{BEBA8EAE-BF5A-486C-A8C5-ECC9F3942E4B}">
                    <a14:imgProps xmlns:a14="http://schemas.microsoft.com/office/drawing/2010/main">
                      <a14:imgLayer r:embed="rId6">
                        <a14:imgEffect>
                          <a14:artisticPaintStrokes/>
                        </a14:imgEffect>
                      </a14:imgLayer>
                    </a14:imgProps>
                  </a:ext>
                  <a:ext uri="{28A0092B-C50C-407E-A947-70E740481C1C}">
                    <a14:useLocalDpi xmlns:a14="http://schemas.microsoft.com/office/drawing/2010/main" val="0"/>
                  </a:ext>
                </a:extLst>
              </a:blip>
              <a:srcRect t="19580" b="29621"/>
              <a:stretch>
                <a:fillRect/>
              </a:stretch>
            </p:blipFill>
            <p:spPr>
              <a:xfrm flipH="1">
                <a:off x="9631939" y="3292868"/>
                <a:ext cx="670451" cy="404492"/>
              </a:xfrm>
              <a:prstGeom prst="rect">
                <a:avLst/>
              </a:prstGeom>
            </p:spPr>
          </p:pic>
          <p:sp>
            <p:nvSpPr>
              <p:cNvPr id="158" name="テキスト ボックス 157">
                <a:extLst>
                  <a:ext uri="{FF2B5EF4-FFF2-40B4-BE49-F238E27FC236}">
                    <a16:creationId xmlns:a16="http://schemas.microsoft.com/office/drawing/2014/main" id="{2487CF44-F48F-FE93-40EB-4E2D8C6A8815}"/>
                  </a:ext>
                </a:extLst>
              </p:cNvPr>
              <p:cNvSpPr txBox="1"/>
              <p:nvPr/>
            </p:nvSpPr>
            <p:spPr>
              <a:xfrm>
                <a:off x="10393792" y="3295059"/>
                <a:ext cx="1210589"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呼気音源</a:t>
                </a:r>
              </a:p>
            </p:txBody>
          </p:sp>
        </p:grpSp>
      </p:grpSp>
      <p:cxnSp>
        <p:nvCxnSpPr>
          <p:cNvPr id="49" name="直線コネクタ 48">
            <a:extLst>
              <a:ext uri="{FF2B5EF4-FFF2-40B4-BE49-F238E27FC236}">
                <a16:creationId xmlns:a16="http://schemas.microsoft.com/office/drawing/2014/main" id="{BBE799F5-92EF-7538-4642-5E79309D60BA}"/>
              </a:ext>
            </a:extLst>
          </p:cNvPr>
          <p:cNvCxnSpPr>
            <a:cxnSpLocks/>
          </p:cNvCxnSpPr>
          <p:nvPr/>
        </p:nvCxnSpPr>
        <p:spPr>
          <a:xfrm>
            <a:off x="8463230" y="2482850"/>
            <a:ext cx="0" cy="2603239"/>
          </a:xfrm>
          <a:prstGeom prst="line">
            <a:avLst/>
          </a:prstGeom>
          <a:ln w="38100">
            <a:solidFill>
              <a:schemeClr val="tx1">
                <a:lumMod val="85000"/>
                <a:lumOff val="15000"/>
              </a:schemeClr>
            </a:solidFill>
            <a:prstDash val="dash"/>
          </a:ln>
        </p:spPr>
        <p:style>
          <a:lnRef idx="2">
            <a:schemeClr val="accent1"/>
          </a:lnRef>
          <a:fillRef idx="0">
            <a:schemeClr val="accent1"/>
          </a:fillRef>
          <a:effectRef idx="1">
            <a:schemeClr val="accent1"/>
          </a:effectRef>
          <a:fontRef idx="minor">
            <a:schemeClr val="tx1"/>
          </a:fontRef>
        </p:style>
      </p:cxnSp>
      <p:grpSp>
        <p:nvGrpSpPr>
          <p:cNvPr id="127" name="グループ化 126">
            <a:extLst>
              <a:ext uri="{FF2B5EF4-FFF2-40B4-BE49-F238E27FC236}">
                <a16:creationId xmlns:a16="http://schemas.microsoft.com/office/drawing/2014/main" id="{3B813A91-1467-9DE4-9841-A3294A04BAD6}"/>
              </a:ext>
            </a:extLst>
          </p:cNvPr>
          <p:cNvGrpSpPr/>
          <p:nvPr/>
        </p:nvGrpSpPr>
        <p:grpSpPr>
          <a:xfrm>
            <a:off x="7013960" y="1860333"/>
            <a:ext cx="1917513" cy="622490"/>
            <a:chOff x="3294358" y="1640909"/>
            <a:chExt cx="1818881" cy="590471"/>
          </a:xfrm>
        </p:grpSpPr>
        <p:sp>
          <p:nvSpPr>
            <p:cNvPr id="126" name="テキスト ボックス 125">
              <a:extLst>
                <a:ext uri="{FF2B5EF4-FFF2-40B4-BE49-F238E27FC236}">
                  <a16:creationId xmlns:a16="http://schemas.microsoft.com/office/drawing/2014/main" id="{0515489E-5F24-FE05-30E1-CE25AE898A64}"/>
                </a:ext>
              </a:extLst>
            </p:cNvPr>
            <p:cNvSpPr txBox="1"/>
            <p:nvPr/>
          </p:nvSpPr>
          <p:spPr>
            <a:xfrm>
              <a:off x="3294358" y="1640909"/>
              <a:ext cx="1818881" cy="467477"/>
            </a:xfrm>
            <a:prstGeom prst="rect">
              <a:avLst/>
            </a:prstGeom>
            <a:noFill/>
          </p:spPr>
          <p:txBody>
            <a:bodyPr wrap="none" rtlCol="0">
              <a:spAutoFit/>
            </a:bodyPr>
            <a:lstStyle/>
            <a:p>
              <a:pPr marL="0" marR="0" indent="0" algn="ctr" defTabSz="914400" rtl="0" eaLnBrk="1" fontAlgn="auto" latinLnBrk="0" hangingPunct="1">
                <a:lnSpc>
                  <a:spcPct val="120000"/>
                </a:lnSpc>
                <a:spcBef>
                  <a:spcPts val="1200"/>
                </a:spcBef>
                <a:spcAft>
                  <a:spcPts val="0"/>
                </a:spcAft>
                <a:buClrTx/>
                <a:buSzTx/>
                <a:buFontTx/>
                <a:buNone/>
                <a:tabLst/>
              </a:pPr>
              <a:r>
                <a:rPr kumimoji="1" lang="ja-JP" altLang="en-US" sz="2400" b="0" i="0" u="none" strike="noStrike" kern="1200" cap="none" spc="0" normalizeH="0" noProof="0" dirty="0">
                  <a:ln>
                    <a:noFill/>
                  </a:ln>
                  <a:solidFill>
                    <a:prstClr val="black"/>
                  </a:solidFill>
                  <a:effectLst/>
                  <a:uLnTx/>
                  <a:uFillTx/>
                  <a:latin typeface="Segoe UI" panose="020B0502040204020203" pitchFamily="34" charset="0"/>
                  <a:ea typeface="Meiryo UI" panose="020B0604030504040204" pitchFamily="50" charset="-128"/>
                  <a:cs typeface="+mn-cs"/>
                </a:rPr>
                <a:t>残り呼気時間</a:t>
              </a:r>
            </a:p>
          </p:txBody>
        </p:sp>
        <p:cxnSp>
          <p:nvCxnSpPr>
            <p:cNvPr id="123" name="直線矢印コネクタ 122">
              <a:extLst>
                <a:ext uri="{FF2B5EF4-FFF2-40B4-BE49-F238E27FC236}">
                  <a16:creationId xmlns:a16="http://schemas.microsoft.com/office/drawing/2014/main" id="{B2EED17A-597E-450A-64D5-324AC142DDA8}"/>
                </a:ext>
              </a:extLst>
            </p:cNvPr>
            <p:cNvCxnSpPr>
              <a:cxnSpLocks/>
            </p:cNvCxnSpPr>
            <p:nvPr/>
          </p:nvCxnSpPr>
          <p:spPr>
            <a:xfrm>
              <a:off x="3734001" y="2231380"/>
              <a:ext cx="939600" cy="0"/>
            </a:xfrm>
            <a:prstGeom prst="straightConnector1">
              <a:avLst/>
            </a:prstGeom>
            <a:ln w="57150">
              <a:solidFill>
                <a:schemeClr val="tx1"/>
              </a:solidFill>
              <a:headEnd type="triangle" w="med" len="sm"/>
              <a:tailEnd type="triangle" w="med" len="sm"/>
            </a:ln>
          </p:spPr>
          <p:style>
            <a:lnRef idx="2">
              <a:schemeClr val="accent1"/>
            </a:lnRef>
            <a:fillRef idx="0">
              <a:schemeClr val="accent1"/>
            </a:fillRef>
            <a:effectRef idx="1">
              <a:schemeClr val="accent1"/>
            </a:effectRef>
            <a:fontRef idx="minor">
              <a:schemeClr val="tx1"/>
            </a:fontRef>
          </p:style>
        </p:cxnSp>
      </p:grpSp>
      <p:pic>
        <p:nvPicPr>
          <p:cNvPr id="4" name="図 3" descr="グラフ が含まれている画像&#10;&#10;AI 生成コンテンツは誤りを含む可能性があります。">
            <a:extLst>
              <a:ext uri="{FF2B5EF4-FFF2-40B4-BE49-F238E27FC236}">
                <a16:creationId xmlns:a16="http://schemas.microsoft.com/office/drawing/2014/main" id="{5D40EE6B-55C8-18FC-4B47-F37DEC3449C4}"/>
              </a:ext>
            </a:extLst>
          </p:cNvPr>
          <p:cNvPicPr>
            <a:picLocks noChangeAspect="1"/>
          </p:cNvPicPr>
          <p:nvPr/>
        </p:nvPicPr>
        <p:blipFill>
          <a:blip r:embed="rId5">
            <a:duotone>
              <a:prstClr val="black"/>
              <a:schemeClr val="accent4">
                <a:tint val="45000"/>
                <a:satMod val="400000"/>
              </a:schemeClr>
            </a:duotone>
            <a:extLst>
              <a:ext uri="{BEBA8EAE-BF5A-486C-A8C5-ECC9F3942E4B}">
                <a14:imgProps xmlns:a14="http://schemas.microsoft.com/office/drawing/2010/main">
                  <a14:imgLayer r:embed="rId6">
                    <a14:imgEffect>
                      <a14:artisticPaintStrokes/>
                    </a14:imgEffect>
                  </a14:imgLayer>
                </a14:imgProps>
              </a:ext>
              <a:ext uri="{28A0092B-C50C-407E-A947-70E740481C1C}">
                <a14:useLocalDpi xmlns:a14="http://schemas.microsoft.com/office/drawing/2010/main" val="0"/>
              </a:ext>
            </a:extLst>
          </a:blip>
          <a:srcRect l="30708" t="19580" b="29621"/>
          <a:stretch>
            <a:fillRect/>
          </a:stretch>
        </p:blipFill>
        <p:spPr>
          <a:xfrm flipH="1">
            <a:off x="7131947" y="4271264"/>
            <a:ext cx="243578" cy="814825"/>
          </a:xfrm>
          <a:prstGeom prst="rect">
            <a:avLst/>
          </a:prstGeom>
        </p:spPr>
      </p:pic>
      <p:pic>
        <p:nvPicPr>
          <p:cNvPr id="52" name="図 51" descr="グラフ が含まれている画像&#10;&#10;AI 生成コンテンツは誤りを含む可能性があります。">
            <a:extLst>
              <a:ext uri="{FF2B5EF4-FFF2-40B4-BE49-F238E27FC236}">
                <a16:creationId xmlns:a16="http://schemas.microsoft.com/office/drawing/2014/main" id="{B5075EC8-9AC4-C22C-694A-4BBEDC5A2A62}"/>
              </a:ext>
            </a:extLst>
          </p:cNvPr>
          <p:cNvPicPr>
            <a:picLocks noChangeAspect="1"/>
          </p:cNvPicPr>
          <p:nvPr/>
        </p:nvPicPr>
        <p:blipFill>
          <a:blip r:embed="rId5">
            <a:duotone>
              <a:prstClr val="black"/>
              <a:schemeClr val="accent4">
                <a:tint val="45000"/>
                <a:satMod val="400000"/>
              </a:schemeClr>
            </a:duotone>
            <a:extLst>
              <a:ext uri="{BEBA8EAE-BF5A-486C-A8C5-ECC9F3942E4B}">
                <a14:imgProps xmlns:a14="http://schemas.microsoft.com/office/drawing/2010/main">
                  <a14:imgLayer r:embed="rId6">
                    <a14:imgEffect>
                      <a14:artisticPaintStrokes/>
                    </a14:imgEffect>
                  </a14:imgLayer>
                </a14:imgProps>
              </a:ext>
              <a:ext uri="{28A0092B-C50C-407E-A947-70E740481C1C}">
                <a14:useLocalDpi xmlns:a14="http://schemas.microsoft.com/office/drawing/2010/main" val="0"/>
              </a:ext>
            </a:extLst>
          </a:blip>
          <a:srcRect l="451" t="19580" r="69743" b="29621"/>
          <a:stretch>
            <a:fillRect/>
          </a:stretch>
        </p:blipFill>
        <p:spPr>
          <a:xfrm flipH="1">
            <a:off x="7377111" y="4271264"/>
            <a:ext cx="1083469" cy="814825"/>
          </a:xfrm>
          <a:prstGeom prst="rect">
            <a:avLst/>
          </a:prstGeom>
        </p:spPr>
      </p:pic>
    </p:spTree>
    <p:extLst>
      <p:ext uri="{BB962C8B-B14F-4D97-AF65-F5344CB8AC3E}">
        <p14:creationId xmlns:p14="http://schemas.microsoft.com/office/powerpoint/2010/main" val="2880983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EEF21-991C-A372-B9F6-4A207768A6EF}"/>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5045C5B5-AA56-F578-653B-075C48AAA287}"/>
              </a:ext>
            </a:extLst>
          </p:cNvPr>
          <p:cNvSpPr txBox="1"/>
          <p:nvPr/>
        </p:nvSpPr>
        <p:spPr>
          <a:xfrm>
            <a:off x="3365500" y="3598963"/>
            <a:ext cx="2031325" cy="461665"/>
          </a:xfrm>
          <a:prstGeom prst="rect">
            <a:avLst/>
          </a:prstGeom>
          <a:noFill/>
        </p:spPr>
        <p:txBody>
          <a:bodyPr wrap="none" rtlCol="0">
            <a:spAutoFit/>
          </a:bodyPr>
          <a:lstStyle/>
          <a:p>
            <a:pPr algn="ctr"/>
            <a:r>
              <a:rPr lang="ja-JP" altLang="en-US" sz="2400" b="1" dirty="0">
                <a:solidFill>
                  <a:sysClr val="windowText" lastClr="000000"/>
                </a:solidFill>
                <a:latin typeface="Segoe UI" panose="020B0502040204020203" pitchFamily="34" charset="0"/>
                <a:ea typeface="Meiryo UI" panose="020B0604030504040204" pitchFamily="50" charset="-128"/>
              </a:rPr>
              <a:t>呼吸時間推定</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4" name="フローチャート: 処理 3">
            <a:extLst>
              <a:ext uri="{FF2B5EF4-FFF2-40B4-BE49-F238E27FC236}">
                <a16:creationId xmlns:a16="http://schemas.microsoft.com/office/drawing/2014/main" id="{EAD0AC35-70CF-0681-45F4-D238079D63C3}"/>
              </a:ext>
            </a:extLst>
          </p:cNvPr>
          <p:cNvSpPr/>
          <p:nvPr/>
        </p:nvSpPr>
        <p:spPr>
          <a:xfrm>
            <a:off x="3327400" y="3560863"/>
            <a:ext cx="8585200" cy="3011789"/>
          </a:xfrm>
          <a:prstGeom prst="flowChartProcess">
            <a:avLst/>
          </a:prstGeom>
          <a:solidFill>
            <a:schemeClr val="accent3">
              <a:lumMod val="20000"/>
              <a:lumOff val="80000"/>
            </a:schemeClr>
          </a:solid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00" dirty="0">
              <a:solidFill>
                <a:schemeClr val="tx1"/>
              </a:solidFill>
              <a:latin typeface="Segoe UI" panose="020B0502040204020203" pitchFamily="34" charset="0"/>
              <a:ea typeface="Meiryo UI" panose="020B0604030504040204" pitchFamily="50" charset="-128"/>
            </a:endParaRPr>
          </a:p>
        </p:txBody>
      </p:sp>
      <p:sp>
        <p:nvSpPr>
          <p:cNvPr id="8" name="スライド番号プレースホルダー 7">
            <a:extLst>
              <a:ext uri="{FF2B5EF4-FFF2-40B4-BE49-F238E27FC236}">
                <a16:creationId xmlns:a16="http://schemas.microsoft.com/office/drawing/2014/main" id="{47AE060D-D358-F13C-0013-1DAAC23EE39E}"/>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4</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3E9D9FB0-155D-C8A5-AD73-E1CF2059A055}"/>
              </a:ext>
            </a:extLst>
          </p:cNvPr>
          <p:cNvSpPr>
            <a:spLocks noGrp="1"/>
          </p:cNvSpPr>
          <p:nvPr>
            <p:ph type="title"/>
          </p:nvPr>
        </p:nvSpPr>
        <p:spPr/>
        <p:txBody>
          <a:bodyPr>
            <a:normAutofit/>
          </a:bodyPr>
          <a:lstStyle/>
          <a:p>
            <a:r>
              <a:rPr lang="ja-JP" altLang="en-US" dirty="0"/>
              <a:t>呼吸音同期再生システムの流れ</a:t>
            </a:r>
          </a:p>
        </p:txBody>
      </p:sp>
      <p:sp>
        <p:nvSpPr>
          <p:cNvPr id="38" name="TextBox 7">
            <a:extLst>
              <a:ext uri="{FF2B5EF4-FFF2-40B4-BE49-F238E27FC236}">
                <a16:creationId xmlns:a16="http://schemas.microsoft.com/office/drawing/2014/main" id="{6779BD45-B5AF-E693-7101-BCCA299B5A4F}"/>
              </a:ext>
            </a:extLst>
          </p:cNvPr>
          <p:cNvSpPr txBox="1"/>
          <p:nvPr/>
        </p:nvSpPr>
        <p:spPr>
          <a:xfrm>
            <a:off x="215030" y="808121"/>
            <a:ext cx="2645276"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提案システムの流れ</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cxnSp>
        <p:nvCxnSpPr>
          <p:cNvPr id="9" name="直線矢印コネクタ 8">
            <a:extLst>
              <a:ext uri="{FF2B5EF4-FFF2-40B4-BE49-F238E27FC236}">
                <a16:creationId xmlns:a16="http://schemas.microsoft.com/office/drawing/2014/main" id="{89399717-DB63-2A1F-F075-FA1EDD127831}"/>
              </a:ext>
            </a:extLst>
          </p:cNvPr>
          <p:cNvCxnSpPr>
            <a:cxnSpLocks/>
          </p:cNvCxnSpPr>
          <p:nvPr/>
        </p:nvCxnSpPr>
        <p:spPr>
          <a:xfrm>
            <a:off x="1682668" y="1945158"/>
            <a:ext cx="0" cy="385524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フローチャート: 処理 18">
            <a:extLst>
              <a:ext uri="{FF2B5EF4-FFF2-40B4-BE49-F238E27FC236}">
                <a16:creationId xmlns:a16="http://schemas.microsoft.com/office/drawing/2014/main" id="{BBB28DC1-5013-593D-3A7C-65E32E76DA54}"/>
              </a:ext>
            </a:extLst>
          </p:cNvPr>
          <p:cNvSpPr/>
          <p:nvPr/>
        </p:nvSpPr>
        <p:spPr>
          <a:xfrm>
            <a:off x="615639" y="4884017"/>
            <a:ext cx="2134058" cy="593309"/>
          </a:xfrm>
          <a:prstGeom prst="flowChartProcess">
            <a:avLst/>
          </a:prstGeom>
          <a:solidFill>
            <a:schemeClr val="bg1">
              <a:lumMod val="85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呼吸音</a:t>
            </a:r>
            <a:r>
              <a:rPr lang="ja-JP" altLang="en-US" sz="2400" dirty="0">
                <a:solidFill>
                  <a:schemeClr val="tx1"/>
                </a:solidFill>
                <a:latin typeface="Segoe UI" panose="020B0502040204020203" pitchFamily="34" charset="0"/>
                <a:ea typeface="Meiryo UI" panose="020B0604030504040204" pitchFamily="50" charset="-128"/>
              </a:rPr>
              <a:t>伸縮</a:t>
            </a:r>
            <a:endParaRPr kumimoji="1" lang="ja-JP" altLang="en-US" sz="2400" dirty="0">
              <a:solidFill>
                <a:schemeClr val="tx1"/>
              </a:solidFill>
              <a:latin typeface="Segoe UI" panose="020B0502040204020203" pitchFamily="34" charset="0"/>
              <a:ea typeface="Meiryo UI" panose="020B0604030504040204" pitchFamily="50" charset="-128"/>
            </a:endParaRPr>
          </a:p>
        </p:txBody>
      </p:sp>
      <p:sp>
        <p:nvSpPr>
          <p:cNvPr id="20" name="フローチャート: 処理 19">
            <a:extLst>
              <a:ext uri="{FF2B5EF4-FFF2-40B4-BE49-F238E27FC236}">
                <a16:creationId xmlns:a16="http://schemas.microsoft.com/office/drawing/2014/main" id="{87AA07B3-434C-5FB5-E8C8-868D8825A4B4}"/>
              </a:ext>
            </a:extLst>
          </p:cNvPr>
          <p:cNvSpPr/>
          <p:nvPr/>
        </p:nvSpPr>
        <p:spPr>
          <a:xfrm>
            <a:off x="615639" y="5767057"/>
            <a:ext cx="2134058" cy="593309"/>
          </a:xfrm>
          <a:prstGeom prst="flowChartProcess">
            <a:avLst/>
          </a:prstGeom>
          <a:solidFill>
            <a:schemeClr val="bg1">
              <a:lumMod val="85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呼吸音再生</a:t>
            </a:r>
          </a:p>
        </p:txBody>
      </p:sp>
      <p:cxnSp>
        <p:nvCxnSpPr>
          <p:cNvPr id="22" name="コネクタ: カギ線 21">
            <a:extLst>
              <a:ext uri="{FF2B5EF4-FFF2-40B4-BE49-F238E27FC236}">
                <a16:creationId xmlns:a16="http://schemas.microsoft.com/office/drawing/2014/main" id="{00FD5114-8059-5BFD-D955-E9C3C83D6389}"/>
              </a:ext>
            </a:extLst>
          </p:cNvPr>
          <p:cNvCxnSpPr>
            <a:cxnSpLocks/>
            <a:stCxn id="20" idx="2"/>
          </p:cNvCxnSpPr>
          <p:nvPr/>
        </p:nvCxnSpPr>
        <p:spPr>
          <a:xfrm rot="5400000" flipH="1">
            <a:off x="-459391" y="4218308"/>
            <a:ext cx="4270341" cy="13777"/>
          </a:xfrm>
          <a:prstGeom prst="bentConnector4">
            <a:avLst>
              <a:gd name="adj1" fmla="val -5353"/>
              <a:gd name="adj2" fmla="val 9732859"/>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フローチャート: 端子 17">
            <a:extLst>
              <a:ext uri="{FF2B5EF4-FFF2-40B4-BE49-F238E27FC236}">
                <a16:creationId xmlns:a16="http://schemas.microsoft.com/office/drawing/2014/main" id="{7472ADD0-DA69-A7D1-8220-B0730B3049F2}"/>
              </a:ext>
            </a:extLst>
          </p:cNvPr>
          <p:cNvSpPr/>
          <p:nvPr/>
        </p:nvSpPr>
        <p:spPr>
          <a:xfrm>
            <a:off x="615639" y="1351849"/>
            <a:ext cx="2134058" cy="593309"/>
          </a:xfrm>
          <a:prstGeom prst="flowChartTerminator">
            <a:avLst/>
          </a:prstGeom>
          <a:solidFill>
            <a:schemeClr val="bg1">
              <a:lumMod val="85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聴診開始</a:t>
            </a:r>
          </a:p>
        </p:txBody>
      </p:sp>
      <p:sp>
        <p:nvSpPr>
          <p:cNvPr id="21" name="フローチャート: 処理 20">
            <a:extLst>
              <a:ext uri="{FF2B5EF4-FFF2-40B4-BE49-F238E27FC236}">
                <a16:creationId xmlns:a16="http://schemas.microsoft.com/office/drawing/2014/main" id="{18CA9879-2CF7-30F0-3D3E-C5DD01FE1F4A}"/>
              </a:ext>
            </a:extLst>
          </p:cNvPr>
          <p:cNvSpPr/>
          <p:nvPr/>
        </p:nvSpPr>
        <p:spPr>
          <a:xfrm>
            <a:off x="615639" y="4000975"/>
            <a:ext cx="2134058" cy="593309"/>
          </a:xfrm>
          <a:prstGeom prst="flowChartProcess">
            <a:avLst/>
          </a:prstGeom>
          <a:solidFill>
            <a:schemeClr val="accent3">
              <a:lumMod val="20000"/>
              <a:lumOff val="80000"/>
            </a:schemeClr>
          </a:solid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呼吸時間推定</a:t>
            </a:r>
          </a:p>
        </p:txBody>
      </p:sp>
      <p:sp>
        <p:nvSpPr>
          <p:cNvPr id="11" name="フローチャート: 処理 10">
            <a:extLst>
              <a:ext uri="{FF2B5EF4-FFF2-40B4-BE49-F238E27FC236}">
                <a16:creationId xmlns:a16="http://schemas.microsoft.com/office/drawing/2014/main" id="{37816A74-8053-25F1-7ED6-9F0D2F0448CD}"/>
              </a:ext>
            </a:extLst>
          </p:cNvPr>
          <p:cNvSpPr/>
          <p:nvPr/>
        </p:nvSpPr>
        <p:spPr>
          <a:xfrm>
            <a:off x="3327400" y="952902"/>
            <a:ext cx="8585200" cy="2523302"/>
          </a:xfrm>
          <a:prstGeom prst="flowChartProcess">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00" dirty="0">
              <a:solidFill>
                <a:schemeClr val="tx1"/>
              </a:solidFill>
              <a:latin typeface="Segoe UI" panose="020B0502040204020203" pitchFamily="34" charset="0"/>
              <a:ea typeface="Meiryo UI" panose="020B0604030504040204" pitchFamily="50" charset="-128"/>
            </a:endParaRPr>
          </a:p>
        </p:txBody>
      </p:sp>
      <p:sp>
        <p:nvSpPr>
          <p:cNvPr id="13" name="TextBox 7">
            <a:extLst>
              <a:ext uri="{FF2B5EF4-FFF2-40B4-BE49-F238E27FC236}">
                <a16:creationId xmlns:a16="http://schemas.microsoft.com/office/drawing/2014/main" id="{C80628C2-4449-4072-6D98-6CF7673A0F7B}"/>
              </a:ext>
            </a:extLst>
          </p:cNvPr>
          <p:cNvSpPr txBox="1"/>
          <p:nvPr/>
        </p:nvSpPr>
        <p:spPr>
          <a:xfrm>
            <a:off x="3365500" y="971952"/>
            <a:ext cx="2031325" cy="461665"/>
          </a:xfrm>
          <a:prstGeom prst="rect">
            <a:avLst/>
          </a:prstGeom>
          <a:noFill/>
        </p:spPr>
        <p:txBody>
          <a:bodyPr wrap="none" rtlCol="0">
            <a:spAutoFit/>
          </a:bodyPr>
          <a:lstStyle/>
          <a:p>
            <a:pPr algn="ctr"/>
            <a:r>
              <a:rPr lang="ja-JP" altLang="en-US" sz="2400" b="1" dirty="0">
                <a:solidFill>
                  <a:sysClr val="windowText" lastClr="000000"/>
                </a:solidFill>
                <a:latin typeface="Segoe UI" panose="020B0502040204020203" pitchFamily="34" charset="0"/>
                <a:ea typeface="Meiryo UI" panose="020B0604030504040204" pitchFamily="50" charset="-128"/>
              </a:rPr>
              <a:t>呼吸状態判別</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275" name="正方形/長方形 274">
            <a:extLst>
              <a:ext uri="{FF2B5EF4-FFF2-40B4-BE49-F238E27FC236}">
                <a16:creationId xmlns:a16="http://schemas.microsoft.com/office/drawing/2014/main" id="{9A94B7A7-001E-B79D-2F81-3161D5AD28B6}"/>
              </a:ext>
            </a:extLst>
          </p:cNvPr>
          <p:cNvSpPr/>
          <p:nvPr/>
        </p:nvSpPr>
        <p:spPr>
          <a:xfrm>
            <a:off x="190500" y="1285875"/>
            <a:ext cx="3067050" cy="5419725"/>
          </a:xfrm>
          <a:prstGeom prst="rect">
            <a:avLst/>
          </a:prstGeom>
          <a:solidFill>
            <a:schemeClr val="bg1">
              <a:alpha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17" name="フローチャート: 処理 16">
            <a:extLst>
              <a:ext uri="{FF2B5EF4-FFF2-40B4-BE49-F238E27FC236}">
                <a16:creationId xmlns:a16="http://schemas.microsoft.com/office/drawing/2014/main" id="{8C9B014B-7EB8-203C-3611-D86B8881A6C9}"/>
              </a:ext>
            </a:extLst>
          </p:cNvPr>
          <p:cNvSpPr/>
          <p:nvPr/>
        </p:nvSpPr>
        <p:spPr>
          <a:xfrm>
            <a:off x="615639" y="2234891"/>
            <a:ext cx="2134058" cy="593309"/>
          </a:xfrm>
          <a:prstGeom prst="flowChartProcess">
            <a:avLst/>
          </a:prstGeom>
          <a:solidFill>
            <a:schemeClr val="bg1">
              <a:lumMod val="85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呼吸計測</a:t>
            </a:r>
          </a:p>
        </p:txBody>
      </p:sp>
      <p:sp>
        <p:nvSpPr>
          <p:cNvPr id="12" name="フローチャート: 処理 11">
            <a:extLst>
              <a:ext uri="{FF2B5EF4-FFF2-40B4-BE49-F238E27FC236}">
                <a16:creationId xmlns:a16="http://schemas.microsoft.com/office/drawing/2014/main" id="{FEA3935D-33E6-B333-1801-CF2AEC565D31}"/>
              </a:ext>
            </a:extLst>
          </p:cNvPr>
          <p:cNvSpPr/>
          <p:nvPr/>
        </p:nvSpPr>
        <p:spPr>
          <a:xfrm>
            <a:off x="615639" y="3117933"/>
            <a:ext cx="2134058" cy="593309"/>
          </a:xfrm>
          <a:prstGeom prst="flowChartProcess">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sz="2400" dirty="0">
                <a:solidFill>
                  <a:schemeClr val="tx1"/>
                </a:solidFill>
                <a:latin typeface="Segoe UI" panose="020B0502040204020203" pitchFamily="34" charset="0"/>
                <a:ea typeface="Meiryo UI" panose="020B0604030504040204" pitchFamily="50" charset="-128"/>
              </a:rPr>
              <a:t>呼吸状態判別</a:t>
            </a:r>
            <a:endParaRPr kumimoji="1" lang="ja-JP" altLang="en-US" sz="2400" dirty="0">
              <a:solidFill>
                <a:schemeClr val="tx1"/>
              </a:solidFill>
              <a:latin typeface="Segoe UI" panose="020B0502040204020203" pitchFamily="34" charset="0"/>
              <a:ea typeface="Meiryo UI" panose="020B0604030504040204" pitchFamily="50" charset="-128"/>
            </a:endParaRPr>
          </a:p>
        </p:txBody>
      </p:sp>
      <p:sp>
        <p:nvSpPr>
          <p:cNvPr id="15" name="テキスト ボックス 14">
            <a:extLst>
              <a:ext uri="{FF2B5EF4-FFF2-40B4-BE49-F238E27FC236}">
                <a16:creationId xmlns:a16="http://schemas.microsoft.com/office/drawing/2014/main" id="{2F6B6222-E814-6CB5-442E-B7653F6AD1DD}"/>
              </a:ext>
            </a:extLst>
          </p:cNvPr>
          <p:cNvSpPr txBox="1"/>
          <p:nvPr/>
        </p:nvSpPr>
        <p:spPr>
          <a:xfrm>
            <a:off x="7535279" y="5811243"/>
            <a:ext cx="1467068"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呼吸進行度</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推定結果</a:t>
            </a:r>
          </a:p>
        </p:txBody>
      </p:sp>
      <p:cxnSp>
        <p:nvCxnSpPr>
          <p:cNvPr id="23" name="直線コネクタ 22">
            <a:extLst>
              <a:ext uri="{FF2B5EF4-FFF2-40B4-BE49-F238E27FC236}">
                <a16:creationId xmlns:a16="http://schemas.microsoft.com/office/drawing/2014/main" id="{5326126E-C3A0-A606-35BD-2D62CB291E39}"/>
              </a:ext>
            </a:extLst>
          </p:cNvPr>
          <p:cNvCxnSpPr>
            <a:cxnSpLocks/>
          </p:cNvCxnSpPr>
          <p:nvPr/>
        </p:nvCxnSpPr>
        <p:spPr>
          <a:xfrm flipV="1">
            <a:off x="8749396" y="4481194"/>
            <a:ext cx="0" cy="9694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0580A5DA-BAB2-C74F-BEFB-E19EF951E017}"/>
              </a:ext>
            </a:extLst>
          </p:cNvPr>
          <p:cNvSpPr txBox="1"/>
          <p:nvPr/>
        </p:nvSpPr>
        <p:spPr>
          <a:xfrm>
            <a:off x="8122171" y="3606282"/>
            <a:ext cx="1467068" cy="707886"/>
          </a:xfrm>
          <a:prstGeom prst="rect">
            <a:avLst/>
          </a:prstGeom>
          <a:noFill/>
        </p:spPr>
        <p:txBody>
          <a:bodyPr wrap="none" rtlCol="0">
            <a:spAutoFit/>
          </a:bodyPr>
          <a:lstStyle/>
          <a:p>
            <a:pPr algn="ctr"/>
            <a:r>
              <a:rPr kumimoji="1" lang="ja-JP" altLang="en-US" sz="2000" dirty="0">
                <a:effectLst>
                  <a:glow rad="127000">
                    <a:schemeClr val="bg1"/>
                  </a:glow>
                </a:effectLst>
                <a:latin typeface="Segoe UI" panose="020B0502040204020203" pitchFamily="34" charset="0"/>
                <a:ea typeface="Meiryo UI" panose="020B0604030504040204" pitchFamily="50" charset="-128"/>
              </a:rPr>
              <a:t>呼吸進行度</a:t>
            </a:r>
            <a:br>
              <a:rPr kumimoji="1" lang="en-US" altLang="ja-JP" sz="2000" dirty="0">
                <a:effectLst>
                  <a:glow rad="127000">
                    <a:schemeClr val="bg1"/>
                  </a:glow>
                </a:effectLst>
                <a:latin typeface="Segoe UI" panose="020B0502040204020203" pitchFamily="34" charset="0"/>
                <a:ea typeface="Meiryo UI" panose="020B0604030504040204" pitchFamily="50" charset="-128"/>
              </a:rPr>
            </a:br>
            <a:r>
              <a:rPr kumimoji="1" lang="en-US" altLang="ja-JP" sz="2000" dirty="0">
                <a:effectLst>
                  <a:glow rad="127000">
                    <a:schemeClr val="bg1"/>
                  </a:glow>
                </a:effectLst>
                <a:latin typeface="Segoe UI" panose="020B0502040204020203" pitchFamily="34" charset="0"/>
                <a:ea typeface="Meiryo UI" panose="020B0604030504040204" pitchFamily="50" charset="-128"/>
              </a:rPr>
              <a:t>20%</a:t>
            </a:r>
            <a:endParaRPr kumimoji="1" lang="ja-JP" altLang="en-US" sz="2000" dirty="0">
              <a:effectLst>
                <a:glow rad="127000">
                  <a:schemeClr val="bg1"/>
                </a:glow>
              </a:effectLst>
              <a:latin typeface="Segoe UI" panose="020B0502040204020203" pitchFamily="34" charset="0"/>
              <a:ea typeface="Meiryo UI" panose="020B0604030504040204" pitchFamily="50" charset="-128"/>
            </a:endParaRPr>
          </a:p>
        </p:txBody>
      </p:sp>
      <p:sp>
        <p:nvSpPr>
          <p:cNvPr id="25" name="矢印: 左右 24">
            <a:extLst>
              <a:ext uri="{FF2B5EF4-FFF2-40B4-BE49-F238E27FC236}">
                <a16:creationId xmlns:a16="http://schemas.microsoft.com/office/drawing/2014/main" id="{7DC5A342-5358-AD4C-F3C0-2F3B0CD138B8}"/>
              </a:ext>
            </a:extLst>
          </p:cNvPr>
          <p:cNvSpPr/>
          <p:nvPr/>
        </p:nvSpPr>
        <p:spPr>
          <a:xfrm>
            <a:off x="8742514" y="4338961"/>
            <a:ext cx="226383" cy="118421"/>
          </a:xfrm>
          <a:prstGeom prst="leftRightArrow">
            <a:avLst>
              <a:gd name="adj1" fmla="val 82102"/>
              <a:gd name="adj2" fmla="val 41603"/>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26" name="テキスト ボックス 25">
            <a:extLst>
              <a:ext uri="{FF2B5EF4-FFF2-40B4-BE49-F238E27FC236}">
                <a16:creationId xmlns:a16="http://schemas.microsoft.com/office/drawing/2014/main" id="{95191018-1CA5-7929-FE26-C7CCCB01BDD7}"/>
              </a:ext>
            </a:extLst>
          </p:cNvPr>
          <p:cNvSpPr txBox="1"/>
          <p:nvPr/>
        </p:nvSpPr>
        <p:spPr>
          <a:xfrm>
            <a:off x="3624461" y="5811243"/>
            <a:ext cx="1210589"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計測結果</a:t>
            </a:r>
          </a:p>
        </p:txBody>
      </p:sp>
      <p:sp>
        <p:nvSpPr>
          <p:cNvPr id="28" name="テキスト ボックス 27">
            <a:extLst>
              <a:ext uri="{FF2B5EF4-FFF2-40B4-BE49-F238E27FC236}">
                <a16:creationId xmlns:a16="http://schemas.microsoft.com/office/drawing/2014/main" id="{C956FC3A-3377-628C-305F-7A74EEDC14EF}"/>
              </a:ext>
            </a:extLst>
          </p:cNvPr>
          <p:cNvSpPr txBox="1"/>
          <p:nvPr/>
        </p:nvSpPr>
        <p:spPr>
          <a:xfrm>
            <a:off x="9963251" y="5811243"/>
            <a:ext cx="1628972"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残り呼吸時間</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推定</a:t>
            </a:r>
          </a:p>
        </p:txBody>
      </p:sp>
      <p:cxnSp>
        <p:nvCxnSpPr>
          <p:cNvPr id="14" name="直線矢印コネクタ 13">
            <a:extLst>
              <a:ext uri="{FF2B5EF4-FFF2-40B4-BE49-F238E27FC236}">
                <a16:creationId xmlns:a16="http://schemas.microsoft.com/office/drawing/2014/main" id="{68C5624F-EB93-5284-54D9-6551389070E5}"/>
              </a:ext>
            </a:extLst>
          </p:cNvPr>
          <p:cNvCxnSpPr>
            <a:cxnSpLocks/>
          </p:cNvCxnSpPr>
          <p:nvPr/>
        </p:nvCxnSpPr>
        <p:spPr>
          <a:xfrm>
            <a:off x="9389622" y="5024639"/>
            <a:ext cx="492377" cy="0"/>
          </a:xfrm>
          <a:prstGeom prst="straightConnector1">
            <a:avLst/>
          </a:prstGeom>
          <a:ln w="38100">
            <a:solidFill>
              <a:srgbClr val="010101"/>
            </a:solidFill>
            <a:tailEnd type="triangle"/>
          </a:ln>
        </p:spPr>
        <p:style>
          <a:lnRef idx="1">
            <a:schemeClr val="accent1"/>
          </a:lnRef>
          <a:fillRef idx="0">
            <a:schemeClr val="accent1"/>
          </a:fillRef>
          <a:effectRef idx="0">
            <a:schemeClr val="accent1"/>
          </a:effectRef>
          <a:fontRef idx="minor">
            <a:schemeClr val="tx1"/>
          </a:fontRef>
        </p:style>
      </p:cxnSp>
      <p:sp>
        <p:nvSpPr>
          <p:cNvPr id="62" name="テキスト ボックス 61">
            <a:extLst>
              <a:ext uri="{FF2B5EF4-FFF2-40B4-BE49-F238E27FC236}">
                <a16:creationId xmlns:a16="http://schemas.microsoft.com/office/drawing/2014/main" id="{44F1DCC2-A4D5-7732-6474-2C4DB295B051}"/>
              </a:ext>
            </a:extLst>
          </p:cNvPr>
          <p:cNvSpPr txBox="1"/>
          <p:nvPr/>
        </p:nvSpPr>
        <p:spPr>
          <a:xfrm>
            <a:off x="10587136" y="3606282"/>
            <a:ext cx="1210589" cy="707886"/>
          </a:xfrm>
          <a:prstGeom prst="rect">
            <a:avLst/>
          </a:prstGeom>
          <a:noFill/>
        </p:spPr>
        <p:txBody>
          <a:bodyPr wrap="none" rtlCol="0">
            <a:spAutoFit/>
          </a:bodyPr>
          <a:lstStyle/>
          <a:p>
            <a:pPr marL="0" marR="0" indent="0" algn="ctr" defTabSz="914400" rtl="0" eaLnBrk="1" fontAlgn="auto" latinLnBrk="0" hangingPunct="1">
              <a:spcBef>
                <a:spcPts val="1200"/>
              </a:spcBef>
              <a:spcAft>
                <a:spcPts val="0"/>
              </a:spcAft>
              <a:buClrTx/>
              <a:buSzTx/>
              <a:buFontTx/>
              <a:buNone/>
              <a:tabLst/>
            </a:pPr>
            <a:r>
              <a:rPr kumimoji="1" lang="ja-JP" altLang="en-US" sz="2000" dirty="0">
                <a:solidFill>
                  <a:prstClr val="black"/>
                </a:solidFill>
                <a:effectLst>
                  <a:glow rad="127000">
                    <a:schemeClr val="bg1"/>
                  </a:glow>
                </a:effectLst>
                <a:latin typeface="Segoe UI" panose="020B0502040204020203" pitchFamily="34" charset="0"/>
                <a:ea typeface="Meiryo UI" panose="020B0604030504040204" pitchFamily="50" charset="-128"/>
              </a:rPr>
              <a:t>推定</a:t>
            </a:r>
            <a:r>
              <a:rPr kumimoji="1" lang="ja-JP" altLang="en-US" sz="2000" b="0" i="0" u="none" strike="noStrike" kern="1200" cap="none" spc="0" normalizeH="0" noProof="0" dirty="0">
                <a:ln>
                  <a:noFill/>
                </a:ln>
                <a:solidFill>
                  <a:prstClr val="black"/>
                </a:solidFill>
                <a:effectLst>
                  <a:glow rad="127000">
                    <a:schemeClr val="bg1"/>
                  </a:glow>
                </a:effectLst>
                <a:uLnTx/>
                <a:uFillTx/>
                <a:latin typeface="Segoe UI" panose="020B0502040204020203" pitchFamily="34" charset="0"/>
                <a:ea typeface="Meiryo UI" panose="020B0604030504040204" pitchFamily="50" charset="-128"/>
              </a:rPr>
              <a:t>残り</a:t>
            </a:r>
            <a:br>
              <a:rPr kumimoji="1" lang="en-US" altLang="ja-JP" sz="2000" b="0" i="0" u="none" strike="noStrike" kern="1200" cap="none" spc="0" normalizeH="0" noProof="0" dirty="0">
                <a:ln>
                  <a:noFill/>
                </a:ln>
                <a:solidFill>
                  <a:prstClr val="black"/>
                </a:solidFill>
                <a:effectLst>
                  <a:glow rad="127000">
                    <a:schemeClr val="bg1"/>
                  </a:glow>
                </a:effectLst>
                <a:uLnTx/>
                <a:uFillTx/>
                <a:latin typeface="Segoe UI" panose="020B0502040204020203" pitchFamily="34" charset="0"/>
                <a:ea typeface="Meiryo UI" panose="020B0604030504040204" pitchFamily="50" charset="-128"/>
              </a:rPr>
            </a:br>
            <a:r>
              <a:rPr kumimoji="1" lang="ja-JP" altLang="en-US" sz="2000" b="0" i="0" u="none" strike="noStrike" kern="1200" cap="none" spc="0" normalizeH="0" noProof="0" dirty="0">
                <a:ln>
                  <a:noFill/>
                </a:ln>
                <a:solidFill>
                  <a:prstClr val="black"/>
                </a:solidFill>
                <a:effectLst>
                  <a:glow rad="127000">
                    <a:schemeClr val="bg1"/>
                  </a:glow>
                </a:effectLst>
                <a:uLnTx/>
                <a:uFillTx/>
                <a:latin typeface="Segoe UI" panose="020B0502040204020203" pitchFamily="34" charset="0"/>
                <a:ea typeface="Meiryo UI" panose="020B0604030504040204" pitchFamily="50" charset="-128"/>
              </a:rPr>
              <a:t>呼吸時間</a:t>
            </a:r>
          </a:p>
        </p:txBody>
      </p:sp>
      <p:cxnSp>
        <p:nvCxnSpPr>
          <p:cNvPr id="63" name="直線矢印コネクタ 62">
            <a:extLst>
              <a:ext uri="{FF2B5EF4-FFF2-40B4-BE49-F238E27FC236}">
                <a16:creationId xmlns:a16="http://schemas.microsoft.com/office/drawing/2014/main" id="{D4FCD500-C358-4F50-C890-FE5E1CA368D1}"/>
              </a:ext>
            </a:extLst>
          </p:cNvPr>
          <p:cNvCxnSpPr>
            <a:cxnSpLocks/>
          </p:cNvCxnSpPr>
          <p:nvPr/>
        </p:nvCxnSpPr>
        <p:spPr>
          <a:xfrm>
            <a:off x="10704847" y="4381183"/>
            <a:ext cx="975166" cy="0"/>
          </a:xfrm>
          <a:prstGeom prst="straightConnector1">
            <a:avLst/>
          </a:prstGeom>
          <a:ln w="57150">
            <a:solidFill>
              <a:schemeClr val="tx1"/>
            </a:solidFill>
            <a:headEnd type="triangle" w="med" len="sm"/>
            <a:tailEnd type="triangle" w="med" len="sm"/>
          </a:ln>
        </p:spPr>
        <p:style>
          <a:lnRef idx="2">
            <a:schemeClr val="accent1"/>
          </a:lnRef>
          <a:fillRef idx="0">
            <a:schemeClr val="accent1"/>
          </a:fillRef>
          <a:effectRef idx="1">
            <a:schemeClr val="accent1"/>
          </a:effectRef>
          <a:fontRef idx="minor">
            <a:schemeClr val="tx1"/>
          </a:fontRef>
        </p:style>
      </p:cxnSp>
      <p:grpSp>
        <p:nvGrpSpPr>
          <p:cNvPr id="256" name="グループ化 255">
            <a:extLst>
              <a:ext uri="{FF2B5EF4-FFF2-40B4-BE49-F238E27FC236}">
                <a16:creationId xmlns:a16="http://schemas.microsoft.com/office/drawing/2014/main" id="{27FF5A20-2069-03C6-CDFB-16A751C7F06A}"/>
              </a:ext>
            </a:extLst>
          </p:cNvPr>
          <p:cNvGrpSpPr/>
          <p:nvPr/>
        </p:nvGrpSpPr>
        <p:grpSpPr>
          <a:xfrm>
            <a:off x="10171845" y="4515419"/>
            <a:ext cx="1211785" cy="1018440"/>
            <a:chOff x="10039194" y="4701184"/>
            <a:chExt cx="1211785" cy="1018440"/>
          </a:xfrm>
        </p:grpSpPr>
        <p:pic>
          <p:nvPicPr>
            <p:cNvPr id="257" name="図 256" descr="グラフ&#10;&#10;AI 生成コンテンツは誤りを含む可能性があります。">
              <a:extLst>
                <a:ext uri="{FF2B5EF4-FFF2-40B4-BE49-F238E27FC236}">
                  <a16:creationId xmlns:a16="http://schemas.microsoft.com/office/drawing/2014/main" id="{9BD93BAD-F46F-FAF1-82F4-8412E0033C48}"/>
                </a:ext>
              </a:extLst>
            </p:cNvPr>
            <p:cNvPicPr>
              <a:picLocks noChangeAspect="1"/>
            </p:cNvPicPr>
            <p:nvPr/>
          </p:nvPicPr>
          <p:blipFill>
            <a:blip r:embed="rId3">
              <a:duotone>
                <a:prstClr val="black"/>
                <a:schemeClr val="accent4">
                  <a:tint val="45000"/>
                  <a:satMod val="400000"/>
                </a:schemeClr>
              </a:duotone>
              <a:extLst>
                <a:ext uri="{BEBA8EAE-BF5A-486C-A8C5-ECC9F3942E4B}">
                  <a14:imgProps xmlns:a14="http://schemas.microsoft.com/office/drawing/2010/main">
                    <a14:imgLayer r:embed="rId4">
                      <a14:imgEffect>
                        <a14:artisticPaintStrokes/>
                      </a14:imgEffect>
                      <a14:imgEffect>
                        <a14:colorTemperature colorTemp="11200"/>
                      </a14:imgEffect>
                    </a14:imgLayer>
                  </a14:imgProps>
                </a:ext>
                <a:ext uri="{28A0092B-C50C-407E-A947-70E740481C1C}">
                  <a14:useLocalDpi xmlns:a14="http://schemas.microsoft.com/office/drawing/2010/main" val="0"/>
                </a:ext>
              </a:extLst>
            </a:blip>
            <a:srcRect t="19579" b="29621"/>
            <a:stretch>
              <a:fillRect/>
            </a:stretch>
          </p:blipFill>
          <p:spPr>
            <a:xfrm flipH="1">
              <a:off x="10039194" y="4701540"/>
              <a:ext cx="1211785" cy="1016575"/>
            </a:xfrm>
            <a:prstGeom prst="rect">
              <a:avLst/>
            </a:prstGeom>
          </p:spPr>
        </p:pic>
        <p:sp>
          <p:nvSpPr>
            <p:cNvPr id="261" name="正方形/長方形 260">
              <a:extLst>
                <a:ext uri="{FF2B5EF4-FFF2-40B4-BE49-F238E27FC236}">
                  <a16:creationId xmlns:a16="http://schemas.microsoft.com/office/drawing/2014/main" id="{C8FAED37-62E4-71CF-C309-7947B60D01DC}"/>
                </a:ext>
              </a:extLst>
            </p:cNvPr>
            <p:cNvSpPr/>
            <p:nvPr/>
          </p:nvSpPr>
          <p:spPr>
            <a:xfrm>
              <a:off x="10039196" y="4701184"/>
              <a:ext cx="525986" cy="1018440"/>
            </a:xfrm>
            <a:prstGeom prst="rect">
              <a:avLst/>
            </a:prstGeom>
            <a:solidFill>
              <a:schemeClr val="bg1">
                <a:alpha val="8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Segoe UI" panose="020B0502040204020203" pitchFamily="34" charset="0"/>
                <a:ea typeface="Meiryo UI" panose="020B0604030504040204" pitchFamily="50" charset="-128"/>
              </a:endParaRPr>
            </a:p>
          </p:txBody>
        </p:sp>
      </p:grpSp>
      <p:sp>
        <p:nvSpPr>
          <p:cNvPr id="36" name="テキスト ボックス 35">
            <a:extLst>
              <a:ext uri="{FF2B5EF4-FFF2-40B4-BE49-F238E27FC236}">
                <a16:creationId xmlns:a16="http://schemas.microsoft.com/office/drawing/2014/main" id="{BE8099A1-3DDF-C40E-98D4-2298F589B571}"/>
              </a:ext>
            </a:extLst>
          </p:cNvPr>
          <p:cNvSpPr txBox="1"/>
          <p:nvPr/>
        </p:nvSpPr>
        <p:spPr>
          <a:xfrm>
            <a:off x="10172443" y="2741796"/>
            <a:ext cx="1210589"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呼吸音源</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選択</a:t>
            </a:r>
          </a:p>
        </p:txBody>
      </p:sp>
      <p:sp>
        <p:nvSpPr>
          <p:cNvPr id="43" name="テキスト ボックス 42">
            <a:extLst>
              <a:ext uri="{FF2B5EF4-FFF2-40B4-BE49-F238E27FC236}">
                <a16:creationId xmlns:a16="http://schemas.microsoft.com/office/drawing/2014/main" id="{B7FF3487-413E-527A-70FE-A11922C15AE3}"/>
              </a:ext>
            </a:extLst>
          </p:cNvPr>
          <p:cNvSpPr txBox="1"/>
          <p:nvPr/>
        </p:nvSpPr>
        <p:spPr>
          <a:xfrm>
            <a:off x="3624169" y="2741796"/>
            <a:ext cx="1210589"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計測結果</a:t>
            </a:r>
          </a:p>
        </p:txBody>
      </p:sp>
      <p:sp>
        <p:nvSpPr>
          <p:cNvPr id="45" name="テキスト ボックス 44">
            <a:extLst>
              <a:ext uri="{FF2B5EF4-FFF2-40B4-BE49-F238E27FC236}">
                <a16:creationId xmlns:a16="http://schemas.microsoft.com/office/drawing/2014/main" id="{3E242ADF-A539-3250-2100-1A2A8FE97607}"/>
              </a:ext>
            </a:extLst>
          </p:cNvPr>
          <p:cNvSpPr txBox="1"/>
          <p:nvPr/>
        </p:nvSpPr>
        <p:spPr>
          <a:xfrm>
            <a:off x="7711144" y="2741796"/>
            <a:ext cx="1210589"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呼吸状態</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判別結果</a:t>
            </a:r>
          </a:p>
        </p:txBody>
      </p:sp>
      <p:cxnSp>
        <p:nvCxnSpPr>
          <p:cNvPr id="35" name="直線矢印コネクタ 34">
            <a:extLst>
              <a:ext uri="{FF2B5EF4-FFF2-40B4-BE49-F238E27FC236}">
                <a16:creationId xmlns:a16="http://schemas.microsoft.com/office/drawing/2014/main" id="{919702C8-A640-FD51-32DE-71FED8D4E0B0}"/>
              </a:ext>
            </a:extLst>
          </p:cNvPr>
          <p:cNvCxnSpPr>
            <a:cxnSpLocks/>
          </p:cNvCxnSpPr>
          <p:nvPr/>
        </p:nvCxnSpPr>
        <p:spPr>
          <a:xfrm>
            <a:off x="9389622" y="2060247"/>
            <a:ext cx="492377" cy="0"/>
          </a:xfrm>
          <a:prstGeom prst="straightConnector1">
            <a:avLst/>
          </a:prstGeom>
          <a:ln w="38100">
            <a:solidFill>
              <a:srgbClr val="010101"/>
            </a:solidFill>
            <a:tailEnd type="triangle"/>
          </a:ln>
        </p:spPr>
        <p:style>
          <a:lnRef idx="1">
            <a:schemeClr val="accent1"/>
          </a:lnRef>
          <a:fillRef idx="0">
            <a:schemeClr val="accent1"/>
          </a:fillRef>
          <a:effectRef idx="0">
            <a:schemeClr val="accent1"/>
          </a:effectRef>
          <a:fontRef idx="minor">
            <a:schemeClr val="tx1"/>
          </a:fontRef>
        </p:style>
      </p:cxnSp>
      <p:pic>
        <p:nvPicPr>
          <p:cNvPr id="37" name="図 36" descr="グラフ&#10;&#10;AI 生成コンテンツは誤りを含む可能性があります。">
            <a:extLst>
              <a:ext uri="{FF2B5EF4-FFF2-40B4-BE49-F238E27FC236}">
                <a16:creationId xmlns:a16="http://schemas.microsoft.com/office/drawing/2014/main" id="{3C4D95A6-6A85-B550-E4F8-60BD629BD706}"/>
              </a:ext>
            </a:extLst>
          </p:cNvPr>
          <p:cNvPicPr>
            <a:picLocks noChangeAspect="1"/>
          </p:cNvPicPr>
          <p:nvPr/>
        </p:nvPicPr>
        <p:blipFill>
          <a:blip r:embed="rId3">
            <a:duotone>
              <a:prstClr val="black"/>
              <a:schemeClr val="accent4">
                <a:tint val="45000"/>
                <a:satMod val="400000"/>
              </a:schemeClr>
            </a:duotone>
            <a:extLst>
              <a:ext uri="{BEBA8EAE-BF5A-486C-A8C5-ECC9F3942E4B}">
                <a14:imgProps xmlns:a14="http://schemas.microsoft.com/office/drawing/2010/main">
                  <a14:imgLayer r:embed="rId4">
                    <a14:imgEffect>
                      <a14:artisticPaintStrokes/>
                    </a14:imgEffect>
                    <a14:imgEffect>
                      <a14:colorTemperature colorTemp="11200"/>
                    </a14:imgEffect>
                  </a14:imgLayer>
                </a14:imgProps>
              </a:ext>
              <a:ext uri="{28A0092B-C50C-407E-A947-70E740481C1C}">
                <a14:useLocalDpi xmlns:a14="http://schemas.microsoft.com/office/drawing/2010/main" val="0"/>
              </a:ext>
            </a:extLst>
          </a:blip>
          <a:srcRect t="19579" b="29621"/>
          <a:stretch>
            <a:fillRect/>
          </a:stretch>
        </p:blipFill>
        <p:spPr>
          <a:xfrm flipH="1">
            <a:off x="10139708" y="1551027"/>
            <a:ext cx="1276058" cy="1018440"/>
          </a:xfrm>
          <a:prstGeom prst="rect">
            <a:avLst/>
          </a:prstGeom>
        </p:spPr>
      </p:pic>
      <p:sp>
        <p:nvSpPr>
          <p:cNvPr id="32" name="テキスト ボックス 31">
            <a:extLst>
              <a:ext uri="{FF2B5EF4-FFF2-40B4-BE49-F238E27FC236}">
                <a16:creationId xmlns:a16="http://schemas.microsoft.com/office/drawing/2014/main" id="{B0A753A4-D527-3388-A297-E339DA6A0583}"/>
              </a:ext>
            </a:extLst>
          </p:cNvPr>
          <p:cNvSpPr txBox="1"/>
          <p:nvPr/>
        </p:nvSpPr>
        <p:spPr>
          <a:xfrm>
            <a:off x="5593350" y="5811243"/>
            <a:ext cx="1311578"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呼吸時間</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推定モデル</a:t>
            </a:r>
          </a:p>
        </p:txBody>
      </p:sp>
      <p:cxnSp>
        <p:nvCxnSpPr>
          <p:cNvPr id="258" name="直線矢印コネクタ 257">
            <a:extLst>
              <a:ext uri="{FF2B5EF4-FFF2-40B4-BE49-F238E27FC236}">
                <a16:creationId xmlns:a16="http://schemas.microsoft.com/office/drawing/2014/main" id="{F79561B0-2AAA-AAE8-B302-47154C738269}"/>
              </a:ext>
            </a:extLst>
          </p:cNvPr>
          <p:cNvCxnSpPr>
            <a:cxnSpLocks/>
          </p:cNvCxnSpPr>
          <p:nvPr/>
        </p:nvCxnSpPr>
        <p:spPr>
          <a:xfrm>
            <a:off x="5527277" y="5024639"/>
            <a:ext cx="1443724" cy="0"/>
          </a:xfrm>
          <a:prstGeom prst="straightConnector1">
            <a:avLst/>
          </a:prstGeom>
          <a:ln w="38100">
            <a:solidFill>
              <a:srgbClr val="010101"/>
            </a:solidFill>
            <a:tailEnd type="triangle" w="med" len="sm"/>
          </a:ln>
        </p:spPr>
        <p:style>
          <a:lnRef idx="1">
            <a:schemeClr val="accent1"/>
          </a:lnRef>
          <a:fillRef idx="0">
            <a:schemeClr val="accent1"/>
          </a:fillRef>
          <a:effectRef idx="0">
            <a:schemeClr val="accent1"/>
          </a:effectRef>
          <a:fontRef idx="minor">
            <a:schemeClr val="tx1"/>
          </a:fontRef>
        </p:style>
      </p:cxnSp>
      <p:sp>
        <p:nvSpPr>
          <p:cNvPr id="259" name="楕円 258">
            <a:extLst>
              <a:ext uri="{FF2B5EF4-FFF2-40B4-BE49-F238E27FC236}">
                <a16:creationId xmlns:a16="http://schemas.microsoft.com/office/drawing/2014/main" id="{A308AA85-8650-EED2-C6EC-FF3F4AE665AD}"/>
              </a:ext>
            </a:extLst>
          </p:cNvPr>
          <p:cNvSpPr/>
          <p:nvPr/>
        </p:nvSpPr>
        <p:spPr>
          <a:xfrm>
            <a:off x="5928280" y="4670389"/>
            <a:ext cx="461962" cy="461962"/>
          </a:xfrm>
          <a:prstGeom prst="ellipse">
            <a:avLst/>
          </a:prstGeom>
          <a:solidFill>
            <a:srgbClr val="DBEF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pic>
        <p:nvPicPr>
          <p:cNvPr id="260" name="グラフィックス 259" descr="人工知能 単色塗りつぶし">
            <a:extLst>
              <a:ext uri="{FF2B5EF4-FFF2-40B4-BE49-F238E27FC236}">
                <a16:creationId xmlns:a16="http://schemas.microsoft.com/office/drawing/2014/main" id="{28AEC134-C46D-D03D-2759-94EC08F6E1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10989" y="4586489"/>
            <a:ext cx="876300" cy="876300"/>
          </a:xfrm>
          <a:prstGeom prst="rect">
            <a:avLst/>
          </a:prstGeom>
        </p:spPr>
      </p:pic>
      <p:sp>
        <p:nvSpPr>
          <p:cNvPr id="2" name="テキスト ボックス 1">
            <a:extLst>
              <a:ext uri="{FF2B5EF4-FFF2-40B4-BE49-F238E27FC236}">
                <a16:creationId xmlns:a16="http://schemas.microsoft.com/office/drawing/2014/main" id="{0B973867-B87A-702A-7F89-030541AFBCAB}"/>
              </a:ext>
            </a:extLst>
          </p:cNvPr>
          <p:cNvSpPr txBox="1"/>
          <p:nvPr/>
        </p:nvSpPr>
        <p:spPr>
          <a:xfrm>
            <a:off x="10172443" y="1289249"/>
            <a:ext cx="1210588" cy="426079"/>
          </a:xfrm>
          <a:prstGeom prst="rect">
            <a:avLst/>
          </a:prstGeom>
          <a:noFill/>
        </p:spPr>
        <p:txBody>
          <a:bodyPr wrap="none" rtlCol="0">
            <a:spAutoFit/>
          </a:bodyPr>
          <a:lstStyle/>
          <a:p>
            <a:pPr algn="l">
              <a:lnSpc>
                <a:spcPct val="120000"/>
              </a:lnSpc>
              <a:spcAft>
                <a:spcPts val="1200"/>
              </a:spcAft>
            </a:pPr>
            <a:r>
              <a:rPr lang="ja-JP" altLang="en-US" sz="2000" dirty="0">
                <a:effectLst>
                  <a:glow rad="127000">
                    <a:schemeClr val="bg1"/>
                  </a:glow>
                </a:effectLst>
                <a:latin typeface="Segoe UI" panose="020B0502040204020203" pitchFamily="34" charset="0"/>
                <a:ea typeface="Meiryo UI" panose="020B0604030504040204" pitchFamily="50" charset="-128"/>
              </a:rPr>
              <a:t>呼気音源</a:t>
            </a:r>
            <a:endParaRPr kumimoji="1" lang="ja-JP" altLang="en-US" sz="2000" dirty="0">
              <a:effectLst>
                <a:glow rad="127000">
                  <a:schemeClr val="bg1"/>
                </a:glow>
              </a:effectLst>
              <a:latin typeface="Segoe UI" panose="020B0502040204020203" pitchFamily="34" charset="0"/>
              <a:ea typeface="Meiryo UI" panose="020B0604030504040204" pitchFamily="50" charset="-128"/>
            </a:endParaRPr>
          </a:p>
        </p:txBody>
      </p:sp>
      <p:sp>
        <p:nvSpPr>
          <p:cNvPr id="5" name="フリーフォーム: 図形 4">
            <a:extLst>
              <a:ext uri="{FF2B5EF4-FFF2-40B4-BE49-F238E27FC236}">
                <a16:creationId xmlns:a16="http://schemas.microsoft.com/office/drawing/2014/main" id="{4F873618-7EC7-3A8D-00DC-AE728EA25808}"/>
              </a:ext>
            </a:extLst>
          </p:cNvPr>
          <p:cNvSpPr/>
          <p:nvPr/>
        </p:nvSpPr>
        <p:spPr>
          <a:xfrm>
            <a:off x="3610703" y="1613907"/>
            <a:ext cx="1237521" cy="892800"/>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sp>
        <p:nvSpPr>
          <p:cNvPr id="6" name="フリーフォーム: 図形 5">
            <a:extLst>
              <a:ext uri="{FF2B5EF4-FFF2-40B4-BE49-F238E27FC236}">
                <a16:creationId xmlns:a16="http://schemas.microsoft.com/office/drawing/2014/main" id="{3BACB85D-6863-8C91-C6DC-9751CA58BAEA}"/>
              </a:ext>
            </a:extLst>
          </p:cNvPr>
          <p:cNvSpPr/>
          <p:nvPr/>
        </p:nvSpPr>
        <p:spPr>
          <a:xfrm>
            <a:off x="7650053" y="1613907"/>
            <a:ext cx="1237521" cy="892800"/>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grpSp>
        <p:nvGrpSpPr>
          <p:cNvPr id="10" name="グループ化 9">
            <a:extLst>
              <a:ext uri="{FF2B5EF4-FFF2-40B4-BE49-F238E27FC236}">
                <a16:creationId xmlns:a16="http://schemas.microsoft.com/office/drawing/2014/main" id="{5E9F5C68-7ED7-F39E-376C-B387A598492F}"/>
              </a:ext>
            </a:extLst>
          </p:cNvPr>
          <p:cNvGrpSpPr/>
          <p:nvPr/>
        </p:nvGrpSpPr>
        <p:grpSpPr>
          <a:xfrm>
            <a:off x="8547972" y="1453555"/>
            <a:ext cx="697627" cy="650544"/>
            <a:chOff x="8405097" y="1213049"/>
            <a:chExt cx="697627" cy="650544"/>
          </a:xfrm>
        </p:grpSpPr>
        <p:sp>
          <p:nvSpPr>
            <p:cNvPr id="51" name="楕円 50">
              <a:extLst>
                <a:ext uri="{FF2B5EF4-FFF2-40B4-BE49-F238E27FC236}">
                  <a16:creationId xmlns:a16="http://schemas.microsoft.com/office/drawing/2014/main" id="{6E4A426C-D19B-BAE0-028A-B7D3BC7255B2}"/>
                </a:ext>
              </a:extLst>
            </p:cNvPr>
            <p:cNvSpPr/>
            <p:nvPr/>
          </p:nvSpPr>
          <p:spPr>
            <a:xfrm>
              <a:off x="8649510" y="1653777"/>
              <a:ext cx="208800" cy="209816"/>
            </a:xfrm>
            <a:prstGeom prst="ellipse">
              <a:avLst/>
            </a:prstGeom>
            <a:solidFill>
              <a:srgbClr val="9CE0F3"/>
            </a:solidFill>
            <a:ln w="38100">
              <a:noFill/>
            </a:ln>
            <a:effectLst>
              <a:glow rad="63500">
                <a:schemeClr val="tx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000" dirty="0">
                <a:solidFill>
                  <a:sysClr val="windowText" lastClr="000000"/>
                </a:solidFill>
                <a:latin typeface="Segoe UI" panose="020B0502040204020203" pitchFamily="34" charset="0"/>
                <a:ea typeface="Meiryo UI" panose="020B0604030504040204" pitchFamily="50" charset="-128"/>
              </a:endParaRPr>
            </a:p>
          </p:txBody>
        </p:sp>
        <p:sp>
          <p:nvSpPr>
            <p:cNvPr id="52" name="テキスト ボックス 51">
              <a:extLst>
                <a:ext uri="{FF2B5EF4-FFF2-40B4-BE49-F238E27FC236}">
                  <a16:creationId xmlns:a16="http://schemas.microsoft.com/office/drawing/2014/main" id="{5EFB8138-B9DA-6AF7-5FB2-366051AEBCB4}"/>
                </a:ext>
              </a:extLst>
            </p:cNvPr>
            <p:cNvSpPr txBox="1"/>
            <p:nvPr/>
          </p:nvSpPr>
          <p:spPr>
            <a:xfrm>
              <a:off x="8405097" y="1213049"/>
              <a:ext cx="697627" cy="400110"/>
            </a:xfrm>
            <a:prstGeom prst="rect">
              <a:avLst/>
            </a:prstGeom>
            <a:noFill/>
            <a:effectLst/>
          </p:spPr>
          <p:txBody>
            <a:bodyPr wrap="none" rtlCol="0">
              <a:spAutoFit/>
            </a:bodyPr>
            <a:lstStyle/>
            <a:p>
              <a:pPr algn="ctr"/>
              <a:r>
                <a:rPr kumimoji="1" lang="ja-JP" altLang="en-US" sz="2000" dirty="0">
                  <a:effectLst>
                    <a:glow rad="165100">
                      <a:schemeClr val="bg1"/>
                    </a:glow>
                  </a:effectLst>
                  <a:latin typeface="Segoe UI" panose="020B0502040204020203" pitchFamily="34" charset="0"/>
                  <a:ea typeface="Meiryo UI" panose="020B0604030504040204" pitchFamily="50" charset="-128"/>
                </a:rPr>
                <a:t>呼気</a:t>
              </a:r>
            </a:p>
          </p:txBody>
        </p:sp>
      </p:grpSp>
      <p:grpSp>
        <p:nvGrpSpPr>
          <p:cNvPr id="30" name="グループ化 29">
            <a:extLst>
              <a:ext uri="{FF2B5EF4-FFF2-40B4-BE49-F238E27FC236}">
                <a16:creationId xmlns:a16="http://schemas.microsoft.com/office/drawing/2014/main" id="{C9CCD1C3-F9D4-00F4-EDB4-D678C654A660}"/>
              </a:ext>
            </a:extLst>
          </p:cNvPr>
          <p:cNvGrpSpPr/>
          <p:nvPr/>
        </p:nvGrpSpPr>
        <p:grpSpPr>
          <a:xfrm>
            <a:off x="5527277" y="1622097"/>
            <a:ext cx="1443724" cy="1827585"/>
            <a:chOff x="5527277" y="1622097"/>
            <a:chExt cx="1443724" cy="1827585"/>
          </a:xfrm>
        </p:grpSpPr>
        <p:sp>
          <p:nvSpPr>
            <p:cNvPr id="39" name="テキスト ボックス 38">
              <a:extLst>
                <a:ext uri="{FF2B5EF4-FFF2-40B4-BE49-F238E27FC236}">
                  <a16:creationId xmlns:a16="http://schemas.microsoft.com/office/drawing/2014/main" id="{DFA86279-DDE1-5A20-43C1-D82225A352B7}"/>
                </a:ext>
              </a:extLst>
            </p:cNvPr>
            <p:cNvSpPr txBox="1"/>
            <p:nvPr/>
          </p:nvSpPr>
          <p:spPr>
            <a:xfrm>
              <a:off x="5593350" y="2741796"/>
              <a:ext cx="1311578"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呼吸状態</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判別モデル</a:t>
              </a:r>
            </a:p>
          </p:txBody>
        </p:sp>
        <p:cxnSp>
          <p:nvCxnSpPr>
            <p:cNvPr id="42" name="直線矢印コネクタ 41">
              <a:extLst>
                <a:ext uri="{FF2B5EF4-FFF2-40B4-BE49-F238E27FC236}">
                  <a16:creationId xmlns:a16="http://schemas.microsoft.com/office/drawing/2014/main" id="{213334C9-BC62-B59A-648D-14C1CDBAB59B}"/>
                </a:ext>
              </a:extLst>
            </p:cNvPr>
            <p:cNvCxnSpPr>
              <a:cxnSpLocks/>
            </p:cNvCxnSpPr>
            <p:nvPr/>
          </p:nvCxnSpPr>
          <p:spPr>
            <a:xfrm>
              <a:off x="5527277" y="2060307"/>
              <a:ext cx="1443724" cy="0"/>
            </a:xfrm>
            <a:prstGeom prst="straightConnector1">
              <a:avLst/>
            </a:prstGeom>
            <a:ln w="38100">
              <a:solidFill>
                <a:srgbClr val="010101"/>
              </a:solidFill>
              <a:tailEnd type="triangle" w="med" len="sm"/>
            </a:ln>
          </p:spPr>
          <p:style>
            <a:lnRef idx="1">
              <a:schemeClr val="accent1"/>
            </a:lnRef>
            <a:fillRef idx="0">
              <a:schemeClr val="accent1"/>
            </a:fillRef>
            <a:effectRef idx="0">
              <a:schemeClr val="accent1"/>
            </a:effectRef>
            <a:fontRef idx="minor">
              <a:schemeClr val="tx1"/>
            </a:fontRef>
          </p:style>
        </p:cxnSp>
        <p:sp>
          <p:nvSpPr>
            <p:cNvPr id="59" name="楕円 58">
              <a:extLst>
                <a:ext uri="{FF2B5EF4-FFF2-40B4-BE49-F238E27FC236}">
                  <a16:creationId xmlns:a16="http://schemas.microsoft.com/office/drawing/2014/main" id="{EC69CF12-FE81-BA90-26B3-72EC837A0761}"/>
                </a:ext>
              </a:extLst>
            </p:cNvPr>
            <p:cNvSpPr/>
            <p:nvPr/>
          </p:nvSpPr>
          <p:spPr>
            <a:xfrm>
              <a:off x="5956095" y="1715522"/>
              <a:ext cx="461962" cy="461962"/>
            </a:xfrm>
            <a:prstGeom prst="ellipse">
              <a:avLst/>
            </a:prstGeom>
            <a:solidFill>
              <a:srgbClr val="DEED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pic>
          <p:nvPicPr>
            <p:cNvPr id="57" name="グラフィックス 56" descr="人工知能 単色塗りつぶし">
              <a:extLst>
                <a:ext uri="{FF2B5EF4-FFF2-40B4-BE49-F238E27FC236}">
                  <a16:creationId xmlns:a16="http://schemas.microsoft.com/office/drawing/2014/main" id="{2C1A7EF3-0E9E-4644-2EE0-8EDFD210786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0989" y="1622097"/>
              <a:ext cx="876300" cy="876300"/>
            </a:xfrm>
            <a:prstGeom prst="rect">
              <a:avLst/>
            </a:prstGeom>
          </p:spPr>
        </p:pic>
      </p:grpSp>
      <p:sp>
        <p:nvSpPr>
          <p:cNvPr id="48" name="TextBox 7">
            <a:extLst>
              <a:ext uri="{FF2B5EF4-FFF2-40B4-BE49-F238E27FC236}">
                <a16:creationId xmlns:a16="http://schemas.microsoft.com/office/drawing/2014/main" id="{486C688F-467B-9906-01A9-ADF834E8B7F2}"/>
              </a:ext>
            </a:extLst>
          </p:cNvPr>
          <p:cNvSpPr txBox="1"/>
          <p:nvPr/>
        </p:nvSpPr>
        <p:spPr>
          <a:xfrm>
            <a:off x="3365500" y="3579913"/>
            <a:ext cx="2031325" cy="461665"/>
          </a:xfrm>
          <a:prstGeom prst="rect">
            <a:avLst/>
          </a:prstGeom>
          <a:noFill/>
        </p:spPr>
        <p:txBody>
          <a:bodyPr wrap="none" rtlCol="0">
            <a:spAutoFit/>
          </a:bodyPr>
          <a:lstStyle/>
          <a:p>
            <a:pPr algn="ctr"/>
            <a:r>
              <a:rPr lang="ja-JP" altLang="en-US" sz="2400" b="1" dirty="0">
                <a:solidFill>
                  <a:sysClr val="windowText" lastClr="000000"/>
                </a:solidFill>
                <a:latin typeface="Segoe UI" panose="020B0502040204020203" pitchFamily="34" charset="0"/>
                <a:ea typeface="Meiryo UI" panose="020B0604030504040204" pitchFamily="50" charset="-128"/>
              </a:rPr>
              <a:t>呼吸時間推定</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50" name="フリーフォーム: 図形 49">
            <a:extLst>
              <a:ext uri="{FF2B5EF4-FFF2-40B4-BE49-F238E27FC236}">
                <a16:creationId xmlns:a16="http://schemas.microsoft.com/office/drawing/2014/main" id="{F2BDEF65-02C9-04EC-5FBF-9B427AD70C84}"/>
              </a:ext>
            </a:extLst>
          </p:cNvPr>
          <p:cNvSpPr/>
          <p:nvPr/>
        </p:nvSpPr>
        <p:spPr>
          <a:xfrm>
            <a:off x="3610703" y="4578179"/>
            <a:ext cx="1237521" cy="892800"/>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sp>
        <p:nvSpPr>
          <p:cNvPr id="53" name="フリーフォーム: 図形 52">
            <a:extLst>
              <a:ext uri="{FF2B5EF4-FFF2-40B4-BE49-F238E27FC236}">
                <a16:creationId xmlns:a16="http://schemas.microsoft.com/office/drawing/2014/main" id="{11962815-F544-D5AA-DC74-9D1364F346CA}"/>
              </a:ext>
            </a:extLst>
          </p:cNvPr>
          <p:cNvSpPr/>
          <p:nvPr/>
        </p:nvSpPr>
        <p:spPr>
          <a:xfrm>
            <a:off x="7650345" y="4578179"/>
            <a:ext cx="1237521" cy="892800"/>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sp>
        <p:nvSpPr>
          <p:cNvPr id="60" name="正方形/長方形 59">
            <a:extLst>
              <a:ext uri="{FF2B5EF4-FFF2-40B4-BE49-F238E27FC236}">
                <a16:creationId xmlns:a16="http://schemas.microsoft.com/office/drawing/2014/main" id="{22878BA6-0BDC-79CF-41FE-A537D4891B1D}"/>
              </a:ext>
            </a:extLst>
          </p:cNvPr>
          <p:cNvSpPr/>
          <p:nvPr/>
        </p:nvSpPr>
        <p:spPr>
          <a:xfrm>
            <a:off x="3207657" y="3514047"/>
            <a:ext cx="8841468" cy="3114674"/>
          </a:xfrm>
          <a:prstGeom prst="rect">
            <a:avLst/>
          </a:prstGeom>
          <a:solidFill>
            <a:schemeClr val="bg1">
              <a:alpha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Tree>
    <p:extLst>
      <p:ext uri="{BB962C8B-B14F-4D97-AF65-F5344CB8AC3E}">
        <p14:creationId xmlns:p14="http://schemas.microsoft.com/office/powerpoint/2010/main" val="1502071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 grpId="0" animBg="1"/>
      <p:bldP spid="6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91BFF-2E3D-3964-EF4E-5261A57EF01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BAC0990-86C8-B2DD-38C0-7024C8AAD67F}"/>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5</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7B88731C-FCD6-1A1C-B72E-47D8123EE0EC}"/>
              </a:ext>
            </a:extLst>
          </p:cNvPr>
          <p:cNvSpPr>
            <a:spLocks noGrp="1"/>
          </p:cNvSpPr>
          <p:nvPr>
            <p:ph type="title"/>
          </p:nvPr>
        </p:nvSpPr>
        <p:spPr/>
        <p:txBody>
          <a:bodyPr>
            <a:normAutofit/>
          </a:bodyPr>
          <a:lstStyle/>
          <a:p>
            <a:r>
              <a:rPr lang="ja-JP" altLang="en-US" dirty="0"/>
              <a:t>呼吸計測および閾値を用いた呼吸状態判別手法</a:t>
            </a:r>
            <a:endParaRPr kumimoji="1" lang="ja-JP" altLang="en-US" dirty="0"/>
          </a:p>
        </p:txBody>
      </p:sp>
      <p:sp>
        <p:nvSpPr>
          <p:cNvPr id="4" name="TextBox 7">
            <a:extLst>
              <a:ext uri="{FF2B5EF4-FFF2-40B4-BE49-F238E27FC236}">
                <a16:creationId xmlns:a16="http://schemas.microsoft.com/office/drawing/2014/main" id="{E144E4ED-CD27-EAF9-5294-0103CA1ADAEA}"/>
              </a:ext>
            </a:extLst>
          </p:cNvPr>
          <p:cNvSpPr txBox="1"/>
          <p:nvPr/>
        </p:nvSpPr>
        <p:spPr>
          <a:xfrm>
            <a:off x="215030" y="827371"/>
            <a:ext cx="5394425"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呼吸計測手法：呼吸ベルトを用いた計測</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graphicFrame>
        <p:nvGraphicFramePr>
          <p:cNvPr id="17" name="表 16">
            <a:extLst>
              <a:ext uri="{FF2B5EF4-FFF2-40B4-BE49-F238E27FC236}">
                <a16:creationId xmlns:a16="http://schemas.microsoft.com/office/drawing/2014/main" id="{52439DE2-1B59-CCDC-6E43-3BF6DC62F6B0}"/>
              </a:ext>
            </a:extLst>
          </p:cNvPr>
          <p:cNvGraphicFramePr>
            <a:graphicFrameLocks noGrp="1"/>
          </p:cNvGraphicFramePr>
          <p:nvPr/>
        </p:nvGraphicFramePr>
        <p:xfrm>
          <a:off x="729601" y="2331340"/>
          <a:ext cx="3651948" cy="1043596"/>
        </p:xfrm>
        <a:graphic>
          <a:graphicData uri="http://schemas.openxmlformats.org/drawingml/2006/table">
            <a:tbl>
              <a:tblPr firstRow="1" bandRow="1">
                <a:tableStyleId>{5C22544A-7EE6-4342-B048-85BDC9FD1C3A}</a:tableStyleId>
              </a:tblPr>
              <a:tblGrid>
                <a:gridCol w="2310130">
                  <a:extLst>
                    <a:ext uri="{9D8B030D-6E8A-4147-A177-3AD203B41FA5}">
                      <a16:colId xmlns:a16="http://schemas.microsoft.com/office/drawing/2014/main" val="1093692841"/>
                    </a:ext>
                  </a:extLst>
                </a:gridCol>
                <a:gridCol w="1341818">
                  <a:extLst>
                    <a:ext uri="{9D8B030D-6E8A-4147-A177-3AD203B41FA5}">
                      <a16:colId xmlns:a16="http://schemas.microsoft.com/office/drawing/2014/main" val="2114815198"/>
                    </a:ext>
                  </a:extLst>
                </a:gridCol>
              </a:tblGrid>
              <a:tr h="521798">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型番</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GDX-RB</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5658502"/>
                  </a:ext>
                </a:extLst>
              </a:tr>
              <a:tr h="521798">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サンプリングレート</a:t>
                      </a:r>
                      <a:endParaRPr kumimoji="1" lang="en-US" altLang="ja-JP"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20</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 </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Hz</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9724847"/>
                  </a:ext>
                </a:extLst>
              </a:tr>
            </a:tbl>
          </a:graphicData>
        </a:graphic>
      </p:graphicFrame>
      <p:sp>
        <p:nvSpPr>
          <p:cNvPr id="7" name="テキスト ボックス 6">
            <a:extLst>
              <a:ext uri="{FF2B5EF4-FFF2-40B4-BE49-F238E27FC236}">
                <a16:creationId xmlns:a16="http://schemas.microsoft.com/office/drawing/2014/main" id="{C80F073F-5986-C449-8414-02C335FC7F19}"/>
              </a:ext>
            </a:extLst>
          </p:cNvPr>
          <p:cNvSpPr txBox="1"/>
          <p:nvPr/>
        </p:nvSpPr>
        <p:spPr>
          <a:xfrm>
            <a:off x="215030" y="1222728"/>
            <a:ext cx="4681090" cy="936025"/>
          </a:xfrm>
          <a:prstGeom prst="rect">
            <a:avLst/>
          </a:prstGeom>
          <a:noFill/>
        </p:spPr>
        <p:txBody>
          <a:bodyPr wrap="none">
            <a:spAutoFit/>
          </a:bodyPr>
          <a:lstStyle/>
          <a:p>
            <a:pPr lvl="0">
              <a:lnSpc>
                <a:spcPct val="120000"/>
              </a:lnSpc>
              <a:spcAft>
                <a:spcPts val="1200"/>
              </a:spcAft>
              <a:defRPr/>
            </a:pPr>
            <a:r>
              <a:rPr lang="ja-JP" altLang="en-US" sz="2400" dirty="0">
                <a:solidFill>
                  <a:prstClr val="black"/>
                </a:solidFill>
                <a:latin typeface="Segoe UI" panose="020B0502040204020203" pitchFamily="34" charset="0"/>
                <a:ea typeface="Meiryo UI" panose="020B0604030504040204" pitchFamily="50" charset="-128"/>
              </a:rPr>
              <a:t>胸部に呼吸ベルトを装着し，</a:t>
            </a:r>
            <a:br>
              <a:rPr lang="en-US" altLang="ja-JP" sz="2400" dirty="0">
                <a:solidFill>
                  <a:prstClr val="black"/>
                </a:solidFill>
                <a:latin typeface="Segoe UI" panose="020B0502040204020203" pitchFamily="34" charset="0"/>
                <a:ea typeface="Meiryo UI" panose="020B0604030504040204" pitchFamily="50" charset="-128"/>
              </a:rPr>
            </a:br>
            <a:r>
              <a:rPr lang="ja-JP" altLang="en-US" sz="2400" dirty="0">
                <a:solidFill>
                  <a:prstClr val="black"/>
                </a:solidFill>
                <a:latin typeface="Segoe UI" panose="020B0502040204020203" pitchFamily="34" charset="0"/>
                <a:ea typeface="Meiryo UI" panose="020B0604030504040204" pitchFamily="50" charset="-128"/>
              </a:rPr>
              <a:t>胸郭変動に伴う胸部圧迫力を計測</a:t>
            </a:r>
            <a:endParaRPr lang="en-US" altLang="ja-JP" sz="2400" dirty="0">
              <a:solidFill>
                <a:prstClr val="black"/>
              </a:solidFill>
              <a:latin typeface="Segoe UI" panose="020B0502040204020203" pitchFamily="34" charset="0"/>
              <a:ea typeface="Meiryo UI" panose="020B0604030504040204" pitchFamily="50" charset="-128"/>
            </a:endParaRPr>
          </a:p>
        </p:txBody>
      </p:sp>
      <p:grpSp>
        <p:nvGrpSpPr>
          <p:cNvPr id="79" name="グループ化 78">
            <a:extLst>
              <a:ext uri="{FF2B5EF4-FFF2-40B4-BE49-F238E27FC236}">
                <a16:creationId xmlns:a16="http://schemas.microsoft.com/office/drawing/2014/main" id="{75E5073D-1559-C405-F16D-A843B81994E8}"/>
              </a:ext>
            </a:extLst>
          </p:cNvPr>
          <p:cNvGrpSpPr/>
          <p:nvPr/>
        </p:nvGrpSpPr>
        <p:grpSpPr>
          <a:xfrm>
            <a:off x="6193612" y="4016093"/>
            <a:ext cx="5254929" cy="2681654"/>
            <a:chOff x="6276752" y="4025146"/>
            <a:chExt cx="5254929" cy="2681654"/>
          </a:xfrm>
        </p:grpSpPr>
        <p:sp>
          <p:nvSpPr>
            <p:cNvPr id="87" name="テキスト ボックス 86">
              <a:extLst>
                <a:ext uri="{FF2B5EF4-FFF2-40B4-BE49-F238E27FC236}">
                  <a16:creationId xmlns:a16="http://schemas.microsoft.com/office/drawing/2014/main" id="{2811460E-A9ED-50A7-0860-529419EF0722}"/>
                </a:ext>
              </a:extLst>
            </p:cNvPr>
            <p:cNvSpPr txBox="1"/>
            <p:nvPr/>
          </p:nvSpPr>
          <p:spPr>
            <a:xfrm>
              <a:off x="7893260" y="6306690"/>
              <a:ext cx="3137397" cy="400110"/>
            </a:xfrm>
            <a:prstGeom prst="rect">
              <a:avLst/>
            </a:prstGeom>
            <a:noFill/>
          </p:spPr>
          <p:txBody>
            <a:bodyPr wrap="none" rtlCol="0">
              <a:spAutoFit/>
            </a:bodyPr>
            <a:lstStyle/>
            <a:p>
              <a:pPr algn="ctr"/>
              <a:r>
                <a:rPr lang="ja-JP" altLang="en-US" sz="2000" dirty="0">
                  <a:latin typeface="Segoe UI" panose="020B0502040204020203" pitchFamily="34" charset="0"/>
                  <a:ea typeface="Meiryo UI" panose="020B0604030504040204" pitchFamily="50" charset="-128"/>
                </a:rPr>
                <a:t>各</a:t>
              </a:r>
              <a:r>
                <a:rPr kumimoji="1" lang="ja-JP" altLang="en-US" sz="2000" dirty="0">
                  <a:latin typeface="Segoe UI" panose="020B0502040204020203" pitchFamily="34" charset="0"/>
                  <a:ea typeface="Meiryo UI" panose="020B0604030504040204" pitchFamily="50" charset="-128"/>
                </a:rPr>
                <a:t>呼吸状態における微分値</a:t>
              </a:r>
            </a:p>
          </p:txBody>
        </p:sp>
        <p:grpSp>
          <p:nvGrpSpPr>
            <p:cNvPr id="77" name="グループ化 76">
              <a:extLst>
                <a:ext uri="{FF2B5EF4-FFF2-40B4-BE49-F238E27FC236}">
                  <a16:creationId xmlns:a16="http://schemas.microsoft.com/office/drawing/2014/main" id="{5DF81B64-4F00-7D7F-E835-2F338E2ABC46}"/>
                </a:ext>
              </a:extLst>
            </p:cNvPr>
            <p:cNvGrpSpPr/>
            <p:nvPr/>
          </p:nvGrpSpPr>
          <p:grpSpPr>
            <a:xfrm>
              <a:off x="6276752" y="4025146"/>
              <a:ext cx="5254929" cy="2330709"/>
              <a:chOff x="6272547" y="4025146"/>
              <a:chExt cx="5254929" cy="2012441"/>
            </a:xfrm>
          </p:grpSpPr>
          <p:pic>
            <p:nvPicPr>
              <p:cNvPr id="105" name="図 104" descr="抽象, シルエット, 鳥, ワイヤー が含まれている画像&#10;&#10;AI 生成コンテンツは誤りを含む可能性があります。">
                <a:extLst>
                  <a:ext uri="{FF2B5EF4-FFF2-40B4-BE49-F238E27FC236}">
                    <a16:creationId xmlns:a16="http://schemas.microsoft.com/office/drawing/2014/main" id="{C06D9C2F-F68E-204B-F480-A8D725C046A4}"/>
                  </a:ext>
                </a:extLst>
              </p:cNvPr>
              <p:cNvPicPr>
                <a:picLocks noChangeAspect="1"/>
              </p:cNvPicPr>
              <p:nvPr/>
            </p:nvPicPr>
            <p:blipFill>
              <a:blip r:embed="rId3"/>
              <a:srcRect l="12111" t="53611" r="9556" b="10694"/>
              <a:stretch>
                <a:fillRect/>
              </a:stretch>
            </p:blipFill>
            <p:spPr>
              <a:xfrm>
                <a:off x="7590330" y="4196596"/>
                <a:ext cx="2844800" cy="1508125"/>
              </a:xfrm>
              <a:prstGeom prst="rect">
                <a:avLst/>
              </a:prstGeom>
            </p:spPr>
          </p:pic>
          <p:sp>
            <p:nvSpPr>
              <p:cNvPr id="9" name="テキスト ボックス 8">
                <a:extLst>
                  <a:ext uri="{FF2B5EF4-FFF2-40B4-BE49-F238E27FC236}">
                    <a16:creationId xmlns:a16="http://schemas.microsoft.com/office/drawing/2014/main" id="{6B80F041-1455-3BF3-E7D0-D7F336A9F29E}"/>
                  </a:ext>
                </a:extLst>
              </p:cNvPr>
              <p:cNvSpPr txBox="1"/>
              <p:nvPr/>
            </p:nvSpPr>
            <p:spPr>
              <a:xfrm>
                <a:off x="7115208" y="4025146"/>
                <a:ext cx="516487" cy="369058"/>
              </a:xfrm>
              <a:prstGeom prst="rect">
                <a:avLst/>
              </a:prstGeom>
              <a:noFill/>
            </p:spPr>
            <p:txBody>
              <a:bodyPr wrap="none" rtlCol="0">
                <a:spAutoFit/>
              </a:bodyPr>
              <a:lstStyle/>
              <a:p>
                <a:pPr algn="ctr">
                  <a:lnSpc>
                    <a:spcPct val="120000"/>
                  </a:lnSpc>
                  <a:spcBef>
                    <a:spcPts val="1200"/>
                  </a:spcBef>
                  <a:buClr>
                    <a:schemeClr val="tx1"/>
                  </a:buClr>
                </a:pPr>
                <a:r>
                  <a:rPr kumimoji="1" lang="en-US" altLang="ja-JP" sz="2000" dirty="0">
                    <a:latin typeface="Segoe UI" panose="020B0502040204020203" pitchFamily="34" charset="0"/>
                    <a:ea typeface="Meiryo UI" panose="020B0604030504040204" pitchFamily="50" charset="-128"/>
                  </a:rPr>
                  <a:t>1.0</a:t>
                </a:r>
                <a:endParaRPr kumimoji="1" lang="ja-JP" altLang="en-US" sz="2000" dirty="0">
                  <a:latin typeface="Segoe UI" panose="020B0502040204020203" pitchFamily="34" charset="0"/>
                  <a:ea typeface="Meiryo UI" panose="020B0604030504040204" pitchFamily="50" charset="-128"/>
                </a:endParaRPr>
              </a:p>
            </p:txBody>
          </p:sp>
          <p:sp>
            <p:nvSpPr>
              <p:cNvPr id="10" name="テキスト ボックス 9">
                <a:extLst>
                  <a:ext uri="{FF2B5EF4-FFF2-40B4-BE49-F238E27FC236}">
                    <a16:creationId xmlns:a16="http://schemas.microsoft.com/office/drawing/2014/main" id="{3C798244-7771-3CE3-02F6-7A22958E6BB4}"/>
                  </a:ext>
                </a:extLst>
              </p:cNvPr>
              <p:cNvSpPr txBox="1"/>
              <p:nvPr/>
            </p:nvSpPr>
            <p:spPr>
              <a:xfrm>
                <a:off x="7012616" y="5484133"/>
                <a:ext cx="619079" cy="369058"/>
              </a:xfrm>
              <a:prstGeom prst="rect">
                <a:avLst/>
              </a:prstGeom>
              <a:noFill/>
            </p:spPr>
            <p:txBody>
              <a:bodyPr wrap="none" rtlCol="0">
                <a:spAutoFit/>
              </a:bodyPr>
              <a:lstStyle/>
              <a:p>
                <a:pPr algn="ctr">
                  <a:lnSpc>
                    <a:spcPct val="120000"/>
                  </a:lnSpc>
                  <a:spcBef>
                    <a:spcPts val="1200"/>
                  </a:spcBef>
                  <a:buClr>
                    <a:schemeClr val="tx1"/>
                  </a:buClr>
                </a:pPr>
                <a:r>
                  <a:rPr kumimoji="1" lang="en-US" altLang="ja-JP" sz="2000" dirty="0">
                    <a:latin typeface="Segoe UI" panose="020B0502040204020203" pitchFamily="34" charset="0"/>
                    <a:ea typeface="Meiryo UI" panose="020B0604030504040204" pitchFamily="50" charset="-128"/>
                  </a:rPr>
                  <a:t>-1.0</a:t>
                </a:r>
                <a:endParaRPr kumimoji="1" lang="ja-JP" altLang="en-US" sz="2000" dirty="0">
                  <a:latin typeface="Segoe UI" panose="020B0502040204020203" pitchFamily="34" charset="0"/>
                  <a:ea typeface="Meiryo UI" panose="020B0604030504040204" pitchFamily="50" charset="-128"/>
                </a:endParaRPr>
              </a:p>
            </p:txBody>
          </p:sp>
          <p:sp>
            <p:nvSpPr>
              <p:cNvPr id="11" name="テキスト ボックス 10">
                <a:extLst>
                  <a:ext uri="{FF2B5EF4-FFF2-40B4-BE49-F238E27FC236}">
                    <a16:creationId xmlns:a16="http://schemas.microsoft.com/office/drawing/2014/main" id="{B2C3333E-12D2-6513-0B2B-6ECFEC83AAF6}"/>
                  </a:ext>
                </a:extLst>
              </p:cNvPr>
              <p:cNvSpPr txBox="1"/>
              <p:nvPr/>
            </p:nvSpPr>
            <p:spPr>
              <a:xfrm rot="16200000">
                <a:off x="6319593" y="4520569"/>
                <a:ext cx="767681" cy="861774"/>
              </a:xfrm>
              <a:prstGeom prst="rect">
                <a:avLst/>
              </a:prstGeom>
              <a:noFill/>
            </p:spPr>
            <p:txBody>
              <a:bodyPr vert="vert" wrap="none" rtlCol="0">
                <a:spAutoFit/>
              </a:bodyPr>
              <a:lstStyle/>
              <a:p>
                <a:pPr algn="ctr">
                  <a:lnSpc>
                    <a:spcPct val="120000"/>
                  </a:lnSpc>
                  <a:spcBef>
                    <a:spcPts val="1200"/>
                  </a:spcBef>
                  <a:buClr>
                    <a:schemeClr val="tx1"/>
                  </a:buClr>
                </a:pPr>
                <a:r>
                  <a:rPr lang="ja-JP" altLang="en-US" sz="2000" dirty="0">
                    <a:latin typeface="Segoe UI" panose="020B0502040204020203" pitchFamily="34" charset="0"/>
                    <a:ea typeface="Meiryo UI" panose="020B0604030504040204" pitchFamily="50" charset="-128"/>
                  </a:rPr>
                  <a:t>微分値</a:t>
                </a:r>
                <a:br>
                  <a:rPr lang="en-US" altLang="ja-JP" sz="2000" dirty="0">
                    <a:latin typeface="Segoe UI" panose="020B0502040204020203" pitchFamily="34" charset="0"/>
                    <a:ea typeface="Meiryo UI" panose="020B0604030504040204" pitchFamily="50" charset="-128"/>
                  </a:rPr>
                </a:br>
                <a:r>
                  <a:rPr lang="en-US" altLang="ja-JP" sz="2000" dirty="0">
                    <a:latin typeface="Segoe UI" panose="020B0502040204020203" pitchFamily="34" charset="0"/>
                    <a:ea typeface="Meiryo UI" panose="020B0604030504040204" pitchFamily="50" charset="-128"/>
                  </a:rPr>
                  <a:t>[N]</a:t>
                </a:r>
              </a:p>
            </p:txBody>
          </p:sp>
          <p:sp>
            <p:nvSpPr>
              <p:cNvPr id="12" name="テキスト ボックス 11">
                <a:extLst>
                  <a:ext uri="{FF2B5EF4-FFF2-40B4-BE49-F238E27FC236}">
                    <a16:creationId xmlns:a16="http://schemas.microsoft.com/office/drawing/2014/main" id="{4D340BC0-F4C1-F8DC-5CB9-A4B537CAFF5F}"/>
                  </a:ext>
                </a:extLst>
              </p:cNvPr>
              <p:cNvSpPr txBox="1"/>
              <p:nvPr/>
            </p:nvSpPr>
            <p:spPr>
              <a:xfrm>
                <a:off x="10446317" y="4229185"/>
                <a:ext cx="909794" cy="367896"/>
              </a:xfrm>
              <a:prstGeom prst="rect">
                <a:avLst/>
              </a:prstGeom>
              <a:noFill/>
            </p:spPr>
            <p:txBody>
              <a:bodyPr wrap="square" rtlCol="0">
                <a:spAutoFit/>
              </a:bodyPr>
              <a:lstStyle/>
              <a:p>
                <a:pPr algn="ctr">
                  <a:lnSpc>
                    <a:spcPct val="120000"/>
                  </a:lnSpc>
                  <a:spcBef>
                    <a:spcPts val="1200"/>
                  </a:spcBef>
                  <a:buClr>
                    <a:schemeClr val="tx1"/>
                  </a:buClr>
                </a:pPr>
                <a:r>
                  <a:rPr kumimoji="1" lang="ja-JP" altLang="en-US" sz="2000" b="1" dirty="0">
                    <a:effectLst>
                      <a:glow rad="127000">
                        <a:schemeClr val="accent1">
                          <a:lumMod val="60000"/>
                          <a:lumOff val="40000"/>
                        </a:schemeClr>
                      </a:glow>
                    </a:effectLst>
                    <a:latin typeface="Segoe UI" panose="020B0502040204020203" pitchFamily="34" charset="0"/>
                    <a:ea typeface="Meiryo UI" panose="020B0604030504040204" pitchFamily="50" charset="-128"/>
                  </a:rPr>
                  <a:t>吸気</a:t>
                </a:r>
              </a:p>
            </p:txBody>
          </p:sp>
          <p:sp>
            <p:nvSpPr>
              <p:cNvPr id="13" name="テキスト ボックス 12">
                <a:extLst>
                  <a:ext uri="{FF2B5EF4-FFF2-40B4-BE49-F238E27FC236}">
                    <a16:creationId xmlns:a16="http://schemas.microsoft.com/office/drawing/2014/main" id="{2AB43FFE-922B-A557-9033-8CFD29DC065A}"/>
                  </a:ext>
                </a:extLst>
              </p:cNvPr>
              <p:cNvSpPr txBox="1"/>
              <p:nvPr/>
            </p:nvSpPr>
            <p:spPr>
              <a:xfrm>
                <a:off x="10446317" y="5254126"/>
                <a:ext cx="909794" cy="367896"/>
              </a:xfrm>
              <a:prstGeom prst="rect">
                <a:avLst/>
              </a:prstGeom>
              <a:noFill/>
            </p:spPr>
            <p:txBody>
              <a:bodyPr wrap="square" rtlCol="0">
                <a:spAutoFit/>
              </a:bodyPr>
              <a:lstStyle/>
              <a:p>
                <a:pPr algn="ctr">
                  <a:lnSpc>
                    <a:spcPct val="120000"/>
                  </a:lnSpc>
                  <a:spcBef>
                    <a:spcPts val="1200"/>
                  </a:spcBef>
                  <a:buClr>
                    <a:schemeClr val="tx1"/>
                  </a:buClr>
                </a:pPr>
                <a:r>
                  <a:rPr lang="ja-JP" altLang="en-US" sz="2000" b="1" dirty="0">
                    <a:effectLst>
                      <a:glow rad="127000">
                        <a:schemeClr val="accent4">
                          <a:lumMod val="60000"/>
                          <a:lumOff val="40000"/>
                        </a:schemeClr>
                      </a:glow>
                    </a:effectLst>
                    <a:latin typeface="Segoe UI" panose="020B0502040204020203" pitchFamily="34" charset="0"/>
                    <a:ea typeface="Meiryo UI" panose="020B0604030504040204" pitchFamily="50" charset="-128"/>
                  </a:rPr>
                  <a:t>呼気</a:t>
                </a:r>
                <a:endParaRPr kumimoji="1" lang="ja-JP" altLang="en-US" sz="2000" b="1" dirty="0">
                  <a:effectLst>
                    <a:glow rad="127000">
                      <a:schemeClr val="accent4">
                        <a:lumMod val="60000"/>
                        <a:lumOff val="40000"/>
                      </a:schemeClr>
                    </a:glow>
                  </a:effectLst>
                  <a:latin typeface="Segoe UI" panose="020B0502040204020203" pitchFamily="34" charset="0"/>
                  <a:ea typeface="Meiryo UI" panose="020B0604030504040204" pitchFamily="50" charset="-128"/>
                </a:endParaRPr>
              </a:p>
            </p:txBody>
          </p:sp>
          <p:sp>
            <p:nvSpPr>
              <p:cNvPr id="14" name="正方形/長方形 13">
                <a:extLst>
                  <a:ext uri="{FF2B5EF4-FFF2-40B4-BE49-F238E27FC236}">
                    <a16:creationId xmlns:a16="http://schemas.microsoft.com/office/drawing/2014/main" id="{E9C76207-D32D-A90D-7A8B-03A274127DE4}"/>
                  </a:ext>
                </a:extLst>
              </p:cNvPr>
              <p:cNvSpPr/>
              <p:nvPr/>
            </p:nvSpPr>
            <p:spPr>
              <a:xfrm>
                <a:off x="7627424" y="4826255"/>
                <a:ext cx="2774051" cy="248641"/>
              </a:xfrm>
              <a:prstGeom prst="rect">
                <a:avLst/>
              </a:prstGeom>
              <a:solidFill>
                <a:schemeClr val="bg1">
                  <a:lumMod val="85000"/>
                  <a:alpha val="60000"/>
                </a:schemeClr>
              </a:solidFill>
              <a:ln w="3810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latin typeface="Segoe UI" panose="020B0502040204020203" pitchFamily="34" charset="0"/>
                  <a:ea typeface="Meiryo UI" panose="020B0604030504040204" pitchFamily="50" charset="-128"/>
                </a:endParaRPr>
              </a:p>
            </p:txBody>
          </p:sp>
          <p:sp>
            <p:nvSpPr>
              <p:cNvPr id="15" name="テキスト ボックス 14">
                <a:extLst>
                  <a:ext uri="{FF2B5EF4-FFF2-40B4-BE49-F238E27FC236}">
                    <a16:creationId xmlns:a16="http://schemas.microsoft.com/office/drawing/2014/main" id="{2342B8A2-4F51-D660-D910-BA1A4057E03F}"/>
                  </a:ext>
                </a:extLst>
              </p:cNvPr>
              <p:cNvSpPr txBox="1"/>
              <p:nvPr/>
            </p:nvSpPr>
            <p:spPr>
              <a:xfrm>
                <a:off x="10274952" y="4741654"/>
                <a:ext cx="1252524" cy="367896"/>
              </a:xfrm>
              <a:prstGeom prst="rect">
                <a:avLst/>
              </a:prstGeom>
              <a:noFill/>
            </p:spPr>
            <p:txBody>
              <a:bodyPr wrap="square" rtlCol="0">
                <a:spAutoFit/>
              </a:bodyPr>
              <a:lstStyle/>
              <a:p>
                <a:pPr algn="ctr">
                  <a:lnSpc>
                    <a:spcPct val="120000"/>
                  </a:lnSpc>
                  <a:spcBef>
                    <a:spcPts val="1200"/>
                  </a:spcBef>
                  <a:buClr>
                    <a:schemeClr val="tx1"/>
                  </a:buClr>
                </a:pPr>
                <a:r>
                  <a:rPr lang="ja-JP" altLang="en-US" sz="2000" b="1" dirty="0">
                    <a:effectLst>
                      <a:glow rad="127000">
                        <a:schemeClr val="bg1"/>
                      </a:glow>
                    </a:effectLst>
                    <a:latin typeface="Segoe UI" panose="020B0502040204020203" pitchFamily="34" charset="0"/>
                    <a:ea typeface="Meiryo UI" panose="020B0604030504040204" pitchFamily="50" charset="-128"/>
                  </a:rPr>
                  <a:t>息止め</a:t>
                </a:r>
                <a:endParaRPr kumimoji="1" lang="ja-JP" altLang="en-US" sz="2000" b="1" dirty="0">
                  <a:effectLst>
                    <a:glow rad="127000">
                      <a:schemeClr val="bg1"/>
                    </a:glow>
                  </a:effectLst>
                  <a:latin typeface="Segoe UI" panose="020B0502040204020203" pitchFamily="34" charset="0"/>
                  <a:ea typeface="Meiryo UI" panose="020B0604030504040204" pitchFamily="50" charset="-128"/>
                </a:endParaRPr>
              </a:p>
            </p:txBody>
          </p:sp>
          <p:sp>
            <p:nvSpPr>
              <p:cNvPr id="37" name="テキスト ボックス 36">
                <a:extLst>
                  <a:ext uri="{FF2B5EF4-FFF2-40B4-BE49-F238E27FC236}">
                    <a16:creationId xmlns:a16="http://schemas.microsoft.com/office/drawing/2014/main" id="{3C7A5452-16C1-2142-5D00-923ED77B3BE7}"/>
                  </a:ext>
                </a:extLst>
              </p:cNvPr>
              <p:cNvSpPr txBox="1"/>
              <p:nvPr/>
            </p:nvSpPr>
            <p:spPr>
              <a:xfrm>
                <a:off x="7115208" y="4745116"/>
                <a:ext cx="516487" cy="369058"/>
              </a:xfrm>
              <a:prstGeom prst="rect">
                <a:avLst/>
              </a:prstGeom>
              <a:noFill/>
            </p:spPr>
            <p:txBody>
              <a:bodyPr wrap="none" rtlCol="0">
                <a:spAutoFit/>
              </a:bodyPr>
              <a:lstStyle/>
              <a:p>
                <a:pPr algn="ctr">
                  <a:lnSpc>
                    <a:spcPct val="120000"/>
                  </a:lnSpc>
                  <a:spcBef>
                    <a:spcPts val="1200"/>
                  </a:spcBef>
                  <a:buClr>
                    <a:schemeClr val="tx1"/>
                  </a:buClr>
                </a:pPr>
                <a:r>
                  <a:rPr kumimoji="1" lang="en-US" altLang="ja-JP" sz="2000" dirty="0">
                    <a:latin typeface="Segoe UI" panose="020B0502040204020203" pitchFamily="34" charset="0"/>
                    <a:ea typeface="Meiryo UI" panose="020B0604030504040204" pitchFamily="50" charset="-128"/>
                  </a:rPr>
                  <a:t>0.0</a:t>
                </a:r>
                <a:endParaRPr kumimoji="1" lang="ja-JP" altLang="en-US" sz="2000" dirty="0">
                  <a:latin typeface="Segoe UI" panose="020B0502040204020203" pitchFamily="34" charset="0"/>
                  <a:ea typeface="Meiryo UI" panose="020B0604030504040204" pitchFamily="50" charset="-128"/>
                </a:endParaRPr>
              </a:p>
            </p:txBody>
          </p:sp>
          <p:sp>
            <p:nvSpPr>
              <p:cNvPr id="88" name="テキスト ボックス 87">
                <a:extLst>
                  <a:ext uri="{FF2B5EF4-FFF2-40B4-BE49-F238E27FC236}">
                    <a16:creationId xmlns:a16="http://schemas.microsoft.com/office/drawing/2014/main" id="{E8B0A76B-6CD3-B9AC-F9DA-F4637B41E4D5}"/>
                  </a:ext>
                </a:extLst>
              </p:cNvPr>
              <p:cNvSpPr txBox="1"/>
              <p:nvPr/>
            </p:nvSpPr>
            <p:spPr>
              <a:xfrm>
                <a:off x="7846641" y="5692114"/>
                <a:ext cx="460382" cy="345473"/>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30</a:t>
                </a:r>
                <a:endParaRPr kumimoji="1" lang="ja-JP" altLang="en-US" sz="2000" dirty="0">
                  <a:latin typeface="Segoe UI" panose="020B0502040204020203" pitchFamily="34" charset="0"/>
                  <a:ea typeface="Meiryo UI" panose="020B0604030504040204" pitchFamily="50" charset="-128"/>
                </a:endParaRPr>
              </a:p>
            </p:txBody>
          </p:sp>
          <p:sp>
            <p:nvSpPr>
              <p:cNvPr id="89" name="テキスト ボックス 88">
                <a:extLst>
                  <a:ext uri="{FF2B5EF4-FFF2-40B4-BE49-F238E27FC236}">
                    <a16:creationId xmlns:a16="http://schemas.microsoft.com/office/drawing/2014/main" id="{9487B03C-E456-A78E-3D7B-030ECDA6994F}"/>
                  </a:ext>
                </a:extLst>
              </p:cNvPr>
              <p:cNvSpPr txBox="1"/>
              <p:nvPr/>
            </p:nvSpPr>
            <p:spPr>
              <a:xfrm>
                <a:off x="9260529" y="5692114"/>
                <a:ext cx="460382" cy="345473"/>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45</a:t>
                </a:r>
                <a:endParaRPr kumimoji="1" lang="ja-JP" altLang="en-US" sz="2000" dirty="0">
                  <a:latin typeface="Segoe UI" panose="020B0502040204020203" pitchFamily="34" charset="0"/>
                  <a:ea typeface="Meiryo UI" panose="020B0604030504040204" pitchFamily="50" charset="-128"/>
                </a:endParaRPr>
              </a:p>
            </p:txBody>
          </p:sp>
          <p:sp>
            <p:nvSpPr>
              <p:cNvPr id="90" name="テキスト ボックス 89">
                <a:extLst>
                  <a:ext uri="{FF2B5EF4-FFF2-40B4-BE49-F238E27FC236}">
                    <a16:creationId xmlns:a16="http://schemas.microsoft.com/office/drawing/2014/main" id="{F57BC248-9886-B23E-1952-808799E8EEA9}"/>
                  </a:ext>
                </a:extLst>
              </p:cNvPr>
              <p:cNvSpPr txBox="1"/>
              <p:nvPr/>
            </p:nvSpPr>
            <p:spPr>
              <a:xfrm>
                <a:off x="10046138" y="5692114"/>
                <a:ext cx="1178528" cy="345473"/>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時間 </a:t>
                </a:r>
                <a:r>
                  <a:rPr kumimoji="1" lang="en-US" altLang="ja-JP" sz="2000" dirty="0">
                    <a:latin typeface="Segoe UI" panose="020B0502040204020203" pitchFamily="34" charset="0"/>
                    <a:ea typeface="Meiryo UI" panose="020B0604030504040204" pitchFamily="50" charset="-128"/>
                  </a:rPr>
                  <a:t>[</a:t>
                </a:r>
                <a:r>
                  <a:rPr kumimoji="1" lang="ja-JP" altLang="en-US" sz="2000" dirty="0">
                    <a:latin typeface="Segoe UI" panose="020B0502040204020203" pitchFamily="34" charset="0"/>
                    <a:ea typeface="Meiryo UI" panose="020B0604030504040204" pitchFamily="50" charset="-128"/>
                  </a:rPr>
                  <a:t>秒</a:t>
                </a:r>
                <a:r>
                  <a:rPr kumimoji="1" lang="en-US" altLang="ja-JP" sz="2000" dirty="0">
                    <a:latin typeface="Segoe UI" panose="020B0502040204020203" pitchFamily="34" charset="0"/>
                    <a:ea typeface="Meiryo UI" panose="020B0604030504040204" pitchFamily="50" charset="-128"/>
                  </a:rPr>
                  <a:t>]</a:t>
                </a:r>
                <a:endParaRPr kumimoji="1" lang="ja-JP" altLang="en-US" sz="2000" dirty="0">
                  <a:latin typeface="Segoe UI" panose="020B0502040204020203" pitchFamily="34" charset="0"/>
                  <a:ea typeface="Meiryo UI" panose="020B0604030504040204" pitchFamily="50" charset="-128"/>
                </a:endParaRPr>
              </a:p>
            </p:txBody>
          </p:sp>
        </p:grpSp>
      </p:grpSp>
      <p:grpSp>
        <p:nvGrpSpPr>
          <p:cNvPr id="80" name="グループ化 79">
            <a:extLst>
              <a:ext uri="{FF2B5EF4-FFF2-40B4-BE49-F238E27FC236}">
                <a16:creationId xmlns:a16="http://schemas.microsoft.com/office/drawing/2014/main" id="{9BE87A82-0A38-8296-208B-1B7C4B4D92EF}"/>
              </a:ext>
            </a:extLst>
          </p:cNvPr>
          <p:cNvGrpSpPr/>
          <p:nvPr/>
        </p:nvGrpSpPr>
        <p:grpSpPr>
          <a:xfrm>
            <a:off x="215030" y="4016093"/>
            <a:ext cx="5936240" cy="1350632"/>
            <a:chOff x="215030" y="4025146"/>
            <a:chExt cx="5936240" cy="1350632"/>
          </a:xfrm>
        </p:grpSpPr>
        <p:sp>
          <p:nvSpPr>
            <p:cNvPr id="50" name="TextBox 7">
              <a:extLst>
                <a:ext uri="{FF2B5EF4-FFF2-40B4-BE49-F238E27FC236}">
                  <a16:creationId xmlns:a16="http://schemas.microsoft.com/office/drawing/2014/main" id="{9FDE23F0-C1DA-86EB-5619-B81B4F850403}"/>
                </a:ext>
              </a:extLst>
            </p:cNvPr>
            <p:cNvSpPr txBox="1"/>
            <p:nvPr/>
          </p:nvSpPr>
          <p:spPr>
            <a:xfrm>
              <a:off x="215030" y="4025146"/>
              <a:ext cx="5444119"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呼吸状態判別手法</a:t>
              </a:r>
              <a:r>
                <a:rPr lang="en-US" altLang="ja-JP" sz="2400" b="1" dirty="0">
                  <a:solidFill>
                    <a:sysClr val="windowText" lastClr="000000"/>
                  </a:solidFill>
                  <a:latin typeface="Segoe UI" panose="020B0502040204020203" pitchFamily="34" charset="0"/>
                  <a:ea typeface="Meiryo UI" panose="020B0604030504040204" pitchFamily="50" charset="-128"/>
                </a:rPr>
                <a:t>1</a:t>
              </a:r>
              <a:r>
                <a:rPr lang="ja-JP" altLang="en-US" sz="2400" b="1" dirty="0">
                  <a:solidFill>
                    <a:sysClr val="windowText" lastClr="000000"/>
                  </a:solidFill>
                  <a:latin typeface="Segoe UI" panose="020B0502040204020203" pitchFamily="34" charset="0"/>
                  <a:ea typeface="Meiryo UI" panose="020B0604030504040204" pitchFamily="50" charset="-128"/>
                </a:rPr>
                <a:t>：閾値を用いた判別</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51" name="テキスト ボックス 50">
              <a:extLst>
                <a:ext uri="{FF2B5EF4-FFF2-40B4-BE49-F238E27FC236}">
                  <a16:creationId xmlns:a16="http://schemas.microsoft.com/office/drawing/2014/main" id="{26BEB888-DF6C-BD85-0D19-2678FFE2DC88}"/>
                </a:ext>
              </a:extLst>
            </p:cNvPr>
            <p:cNvSpPr txBox="1"/>
            <p:nvPr/>
          </p:nvSpPr>
          <p:spPr>
            <a:xfrm>
              <a:off x="215030" y="4439753"/>
              <a:ext cx="5936240" cy="936025"/>
            </a:xfrm>
            <a:prstGeom prst="rect">
              <a:avLst/>
            </a:prstGeom>
            <a:noFill/>
          </p:spPr>
          <p:txBody>
            <a:bodyPr wrap="none">
              <a:spAutoFit/>
            </a:bodyPr>
            <a:lstStyle/>
            <a:p>
              <a:pPr lvl="0">
                <a:lnSpc>
                  <a:spcPct val="120000"/>
                </a:lnSpc>
                <a:defRPr/>
              </a:pPr>
              <a:r>
                <a:rPr lang="ja-JP" altLang="en-US" sz="2400" dirty="0">
                  <a:solidFill>
                    <a:prstClr val="black"/>
                  </a:solidFill>
                  <a:latin typeface="Segoe UI" panose="020B0502040204020203" pitchFamily="34" charset="0"/>
                  <a:ea typeface="Meiryo UI" panose="020B0604030504040204" pitchFamily="50" charset="-128"/>
                </a:rPr>
                <a:t>平滑化した胸部圧迫力の一次微分値に基づき</a:t>
              </a:r>
              <a:br>
                <a:rPr lang="en-US" altLang="ja-JP" sz="2400" dirty="0">
                  <a:solidFill>
                    <a:prstClr val="black"/>
                  </a:solidFill>
                  <a:latin typeface="Segoe UI" panose="020B0502040204020203" pitchFamily="34" charset="0"/>
                  <a:ea typeface="Meiryo UI" panose="020B0604030504040204" pitchFamily="50" charset="-128"/>
                </a:rPr>
              </a:br>
              <a:r>
                <a:rPr lang="ja-JP" altLang="en-US" sz="2400" dirty="0">
                  <a:solidFill>
                    <a:prstClr val="black"/>
                  </a:solidFill>
                  <a:latin typeface="Segoe UI" panose="020B0502040204020203" pitchFamily="34" charset="0"/>
                  <a:ea typeface="Meiryo UI" panose="020B0604030504040204" pitchFamily="50" charset="-128"/>
                </a:rPr>
                <a:t>各時刻の呼吸状態を逐次判別</a:t>
              </a:r>
            </a:p>
          </p:txBody>
        </p:sp>
      </p:grpSp>
      <p:grpSp>
        <p:nvGrpSpPr>
          <p:cNvPr id="78" name="グループ化 77">
            <a:extLst>
              <a:ext uri="{FF2B5EF4-FFF2-40B4-BE49-F238E27FC236}">
                <a16:creationId xmlns:a16="http://schemas.microsoft.com/office/drawing/2014/main" id="{259E8EBA-5C9F-A913-9F80-30005C4F3A82}"/>
              </a:ext>
            </a:extLst>
          </p:cNvPr>
          <p:cNvGrpSpPr/>
          <p:nvPr/>
        </p:nvGrpSpPr>
        <p:grpSpPr>
          <a:xfrm>
            <a:off x="5934848" y="827371"/>
            <a:ext cx="6106324" cy="2818186"/>
            <a:chOff x="6017988" y="851192"/>
            <a:chExt cx="6106324" cy="2818186"/>
          </a:xfrm>
        </p:grpSpPr>
        <p:sp>
          <p:nvSpPr>
            <p:cNvPr id="28" name="テキスト ボックス 27">
              <a:extLst>
                <a:ext uri="{FF2B5EF4-FFF2-40B4-BE49-F238E27FC236}">
                  <a16:creationId xmlns:a16="http://schemas.microsoft.com/office/drawing/2014/main" id="{1D1B5DE0-B809-86C2-E68E-9C23CA2F0578}"/>
                </a:ext>
              </a:extLst>
            </p:cNvPr>
            <p:cNvSpPr txBox="1"/>
            <p:nvPr/>
          </p:nvSpPr>
          <p:spPr>
            <a:xfrm>
              <a:off x="7240837" y="3269268"/>
              <a:ext cx="4442243"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呼吸状態ラベルを付与した呼吸計測結果</a:t>
              </a:r>
            </a:p>
          </p:txBody>
        </p:sp>
        <p:sp>
          <p:nvSpPr>
            <p:cNvPr id="20" name="テキスト ボックス 19">
              <a:extLst>
                <a:ext uri="{FF2B5EF4-FFF2-40B4-BE49-F238E27FC236}">
                  <a16:creationId xmlns:a16="http://schemas.microsoft.com/office/drawing/2014/main" id="{AF3323AD-2CD1-0B62-0E35-64DE27F689A9}"/>
                </a:ext>
              </a:extLst>
            </p:cNvPr>
            <p:cNvSpPr txBox="1"/>
            <p:nvPr/>
          </p:nvSpPr>
          <p:spPr>
            <a:xfrm>
              <a:off x="7171313" y="1151219"/>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20</a:t>
              </a:r>
              <a:endParaRPr kumimoji="1" lang="ja-JP" altLang="en-US" sz="2000" dirty="0">
                <a:latin typeface="Segoe UI" panose="020B0502040204020203" pitchFamily="34" charset="0"/>
                <a:ea typeface="Meiryo UI" panose="020B0604030504040204" pitchFamily="50" charset="-128"/>
              </a:endParaRPr>
            </a:p>
          </p:txBody>
        </p:sp>
        <p:sp>
          <p:nvSpPr>
            <p:cNvPr id="25" name="テキスト ボックス 24">
              <a:extLst>
                <a:ext uri="{FF2B5EF4-FFF2-40B4-BE49-F238E27FC236}">
                  <a16:creationId xmlns:a16="http://schemas.microsoft.com/office/drawing/2014/main" id="{FB45ECB8-7D55-6CE8-7F67-2EBB5B10700D}"/>
                </a:ext>
              </a:extLst>
            </p:cNvPr>
            <p:cNvSpPr txBox="1"/>
            <p:nvPr/>
          </p:nvSpPr>
          <p:spPr>
            <a:xfrm>
              <a:off x="10945784" y="2912783"/>
              <a:ext cx="1178528"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時間 </a:t>
              </a:r>
              <a:r>
                <a:rPr kumimoji="1" lang="en-US" altLang="ja-JP" sz="2000" dirty="0">
                  <a:latin typeface="Segoe UI" panose="020B0502040204020203" pitchFamily="34" charset="0"/>
                  <a:ea typeface="Meiryo UI" panose="020B0604030504040204" pitchFamily="50" charset="-128"/>
                </a:rPr>
                <a:t>[</a:t>
              </a:r>
              <a:r>
                <a:rPr kumimoji="1" lang="ja-JP" altLang="en-US" sz="2000" dirty="0">
                  <a:latin typeface="Segoe UI" panose="020B0502040204020203" pitchFamily="34" charset="0"/>
                  <a:ea typeface="Meiryo UI" panose="020B0604030504040204" pitchFamily="50" charset="-128"/>
                </a:rPr>
                <a:t>秒</a:t>
              </a:r>
              <a:r>
                <a:rPr kumimoji="1" lang="en-US" altLang="ja-JP" sz="2000" dirty="0">
                  <a:latin typeface="Segoe UI" panose="020B0502040204020203" pitchFamily="34" charset="0"/>
                  <a:ea typeface="Meiryo UI" panose="020B0604030504040204" pitchFamily="50" charset="-128"/>
                </a:rPr>
                <a:t>]</a:t>
              </a:r>
              <a:endParaRPr kumimoji="1" lang="ja-JP" altLang="en-US" sz="2000" dirty="0">
                <a:latin typeface="Segoe UI" panose="020B0502040204020203" pitchFamily="34" charset="0"/>
                <a:ea typeface="Meiryo UI" panose="020B0604030504040204" pitchFamily="50" charset="-128"/>
              </a:endParaRPr>
            </a:p>
          </p:txBody>
        </p:sp>
        <p:sp>
          <p:nvSpPr>
            <p:cNvPr id="24" name="テキスト ボックス 23">
              <a:extLst>
                <a:ext uri="{FF2B5EF4-FFF2-40B4-BE49-F238E27FC236}">
                  <a16:creationId xmlns:a16="http://schemas.microsoft.com/office/drawing/2014/main" id="{650A41E8-BA07-EA4B-E667-F1FB6F9B36E7}"/>
                </a:ext>
              </a:extLst>
            </p:cNvPr>
            <p:cNvSpPr txBox="1"/>
            <p:nvPr/>
          </p:nvSpPr>
          <p:spPr>
            <a:xfrm>
              <a:off x="6017988" y="1518390"/>
              <a:ext cx="1370888"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胸部</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圧迫力 </a:t>
              </a:r>
              <a:r>
                <a:rPr kumimoji="1" lang="en-US" altLang="ja-JP" sz="2000" dirty="0">
                  <a:latin typeface="Segoe UI" panose="020B0502040204020203" pitchFamily="34" charset="0"/>
                  <a:ea typeface="Meiryo UI" panose="020B0604030504040204" pitchFamily="50" charset="-128"/>
                </a:rPr>
                <a:t>[N]</a:t>
              </a:r>
              <a:endParaRPr kumimoji="1" lang="ja-JP" altLang="en-US" sz="2000" dirty="0">
                <a:latin typeface="Segoe UI" panose="020B0502040204020203" pitchFamily="34" charset="0"/>
                <a:ea typeface="Meiryo UI" panose="020B0604030504040204" pitchFamily="50" charset="-128"/>
              </a:endParaRPr>
            </a:p>
          </p:txBody>
        </p:sp>
        <p:sp>
          <p:nvSpPr>
            <p:cNvPr id="21" name="テキスト ボックス 20">
              <a:extLst>
                <a:ext uri="{FF2B5EF4-FFF2-40B4-BE49-F238E27FC236}">
                  <a16:creationId xmlns:a16="http://schemas.microsoft.com/office/drawing/2014/main" id="{06FE266D-319F-90AB-A686-6BEF74B05EA7}"/>
                </a:ext>
              </a:extLst>
            </p:cNvPr>
            <p:cNvSpPr txBox="1"/>
            <p:nvPr/>
          </p:nvSpPr>
          <p:spPr>
            <a:xfrm>
              <a:off x="7309171" y="2450460"/>
              <a:ext cx="322524"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5</a:t>
              </a:r>
              <a:endParaRPr kumimoji="1" lang="ja-JP" altLang="en-US" sz="2000" dirty="0">
                <a:latin typeface="Segoe UI" panose="020B0502040204020203" pitchFamily="34" charset="0"/>
                <a:ea typeface="Meiryo UI" panose="020B0604030504040204" pitchFamily="50" charset="-128"/>
              </a:endParaRPr>
            </a:p>
          </p:txBody>
        </p:sp>
        <p:sp>
          <p:nvSpPr>
            <p:cNvPr id="22" name="テキスト ボックス 21">
              <a:extLst>
                <a:ext uri="{FF2B5EF4-FFF2-40B4-BE49-F238E27FC236}">
                  <a16:creationId xmlns:a16="http://schemas.microsoft.com/office/drawing/2014/main" id="{245B02FA-4920-4B6C-14EE-F9FE100BFB4A}"/>
                </a:ext>
              </a:extLst>
            </p:cNvPr>
            <p:cNvSpPr txBox="1"/>
            <p:nvPr/>
          </p:nvSpPr>
          <p:spPr>
            <a:xfrm>
              <a:off x="8000478" y="2912783"/>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30</a:t>
              </a:r>
              <a:endParaRPr kumimoji="1" lang="ja-JP" altLang="en-US" sz="2000" dirty="0">
                <a:latin typeface="Segoe UI" panose="020B0502040204020203" pitchFamily="34" charset="0"/>
                <a:ea typeface="Meiryo UI" panose="020B0604030504040204" pitchFamily="50" charset="-128"/>
              </a:endParaRPr>
            </a:p>
          </p:txBody>
        </p:sp>
        <p:sp>
          <p:nvSpPr>
            <p:cNvPr id="23" name="テキスト ボックス 22">
              <a:extLst>
                <a:ext uri="{FF2B5EF4-FFF2-40B4-BE49-F238E27FC236}">
                  <a16:creationId xmlns:a16="http://schemas.microsoft.com/office/drawing/2014/main" id="{D192E840-51B2-D5EB-AF29-AC96B053DBD1}"/>
                </a:ext>
              </a:extLst>
            </p:cNvPr>
            <p:cNvSpPr txBox="1"/>
            <p:nvPr/>
          </p:nvSpPr>
          <p:spPr>
            <a:xfrm>
              <a:off x="10471640" y="2912783"/>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50</a:t>
              </a:r>
              <a:endParaRPr kumimoji="1" lang="ja-JP" altLang="en-US" sz="2000" dirty="0">
                <a:latin typeface="Segoe UI" panose="020B0502040204020203" pitchFamily="34" charset="0"/>
                <a:ea typeface="Meiryo UI" panose="020B0604030504040204" pitchFamily="50" charset="-128"/>
              </a:endParaRPr>
            </a:p>
          </p:txBody>
        </p:sp>
        <p:pic>
          <p:nvPicPr>
            <p:cNvPr id="75" name="図 74" descr="グラフ, 折れ線グラフ&#10;&#10;AI 生成コンテンツは誤りを含む可能性があります。">
              <a:extLst>
                <a:ext uri="{FF2B5EF4-FFF2-40B4-BE49-F238E27FC236}">
                  <a16:creationId xmlns:a16="http://schemas.microsoft.com/office/drawing/2014/main" id="{87D998B8-777A-9C7E-8004-7F851A171EE5}"/>
                </a:ext>
              </a:extLst>
            </p:cNvPr>
            <p:cNvPicPr>
              <a:picLocks noChangeAspect="1"/>
            </p:cNvPicPr>
            <p:nvPr/>
          </p:nvPicPr>
          <p:blipFill>
            <a:blip r:embed="rId4"/>
            <a:srcRect l="5791" t="6743" r="1336" b="11222"/>
            <a:stretch>
              <a:fillRect/>
            </a:stretch>
          </p:blipFill>
          <p:spPr>
            <a:xfrm>
              <a:off x="7586374" y="851192"/>
              <a:ext cx="3751168" cy="2082538"/>
            </a:xfrm>
            <a:prstGeom prst="rect">
              <a:avLst/>
            </a:prstGeom>
          </p:spPr>
        </p:pic>
        <p:cxnSp>
          <p:nvCxnSpPr>
            <p:cNvPr id="102" name="直線矢印コネクタ 101">
              <a:extLst>
                <a:ext uri="{FF2B5EF4-FFF2-40B4-BE49-F238E27FC236}">
                  <a16:creationId xmlns:a16="http://schemas.microsoft.com/office/drawing/2014/main" id="{0ABCF8C4-96F0-A719-3593-3E9D66321AF1}"/>
                </a:ext>
              </a:extLst>
            </p:cNvPr>
            <p:cNvCxnSpPr>
              <a:cxnSpLocks/>
            </p:cNvCxnSpPr>
            <p:nvPr/>
          </p:nvCxnSpPr>
          <p:spPr>
            <a:xfrm flipV="1">
              <a:off x="8617966" y="1700667"/>
              <a:ext cx="125699" cy="772197"/>
            </a:xfrm>
            <a:prstGeom prst="straightConnector1">
              <a:avLst/>
            </a:prstGeom>
            <a:ln w="66675">
              <a:tailEnd type="triangle" w="med" len="sm"/>
            </a:ln>
            <a:effectLst>
              <a:glow rad="38100">
                <a:schemeClr val="tx1"/>
              </a:glow>
            </a:effectLst>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B62B0BE6-C51C-A041-9423-2AB44BD8B5FD}"/>
                </a:ext>
              </a:extLst>
            </p:cNvPr>
            <p:cNvSpPr txBox="1"/>
            <p:nvPr/>
          </p:nvSpPr>
          <p:spPr>
            <a:xfrm>
              <a:off x="7797638" y="1820727"/>
              <a:ext cx="909794" cy="426079"/>
            </a:xfrm>
            <a:prstGeom prst="rect">
              <a:avLst/>
            </a:prstGeom>
            <a:noFill/>
          </p:spPr>
          <p:txBody>
            <a:bodyPr wrap="square" rtlCol="0">
              <a:spAutoFit/>
            </a:bodyPr>
            <a:lstStyle/>
            <a:p>
              <a:pPr algn="ctr">
                <a:lnSpc>
                  <a:spcPct val="120000"/>
                </a:lnSpc>
                <a:spcBef>
                  <a:spcPts val="1200"/>
                </a:spcBef>
                <a:buClr>
                  <a:schemeClr val="tx1"/>
                </a:buClr>
              </a:pPr>
              <a:r>
                <a:rPr kumimoji="1" lang="ja-JP" altLang="en-US" sz="2000" b="1" dirty="0">
                  <a:effectLst>
                    <a:glow rad="127000">
                      <a:schemeClr val="accent1">
                        <a:lumMod val="60000"/>
                        <a:lumOff val="40000"/>
                      </a:schemeClr>
                    </a:glow>
                  </a:effectLst>
                  <a:latin typeface="Segoe UI" panose="020B0502040204020203" pitchFamily="34" charset="0"/>
                  <a:ea typeface="Meiryo UI" panose="020B0604030504040204" pitchFamily="50" charset="-128"/>
                </a:rPr>
                <a:t>吸気</a:t>
              </a:r>
            </a:p>
          </p:txBody>
        </p:sp>
        <p:sp>
          <p:nvSpPr>
            <p:cNvPr id="32" name="テキスト ボックス 31">
              <a:extLst>
                <a:ext uri="{FF2B5EF4-FFF2-40B4-BE49-F238E27FC236}">
                  <a16:creationId xmlns:a16="http://schemas.microsoft.com/office/drawing/2014/main" id="{FC528621-8670-CCBE-87F0-BFDD69F7FA74}"/>
                </a:ext>
              </a:extLst>
            </p:cNvPr>
            <p:cNvSpPr txBox="1"/>
            <p:nvPr/>
          </p:nvSpPr>
          <p:spPr>
            <a:xfrm>
              <a:off x="9416685" y="1820727"/>
              <a:ext cx="909794" cy="426079"/>
            </a:xfrm>
            <a:prstGeom prst="rect">
              <a:avLst/>
            </a:prstGeom>
            <a:noFill/>
          </p:spPr>
          <p:txBody>
            <a:bodyPr wrap="square" rtlCol="0">
              <a:spAutoFit/>
            </a:bodyPr>
            <a:lstStyle/>
            <a:p>
              <a:pPr algn="ctr">
                <a:lnSpc>
                  <a:spcPct val="120000"/>
                </a:lnSpc>
                <a:spcBef>
                  <a:spcPts val="1200"/>
                </a:spcBef>
                <a:buClr>
                  <a:schemeClr val="tx1"/>
                </a:buClr>
              </a:pPr>
              <a:r>
                <a:rPr lang="ja-JP" altLang="en-US" sz="2000" b="1" dirty="0">
                  <a:effectLst>
                    <a:glow rad="127000">
                      <a:schemeClr val="accent4">
                        <a:lumMod val="60000"/>
                        <a:lumOff val="40000"/>
                      </a:schemeClr>
                    </a:glow>
                  </a:effectLst>
                  <a:latin typeface="Segoe UI" panose="020B0502040204020203" pitchFamily="34" charset="0"/>
                  <a:ea typeface="Meiryo UI" panose="020B0604030504040204" pitchFamily="50" charset="-128"/>
                </a:rPr>
                <a:t>呼気</a:t>
              </a:r>
              <a:endParaRPr kumimoji="1" lang="ja-JP" altLang="en-US" sz="2000" b="1" dirty="0">
                <a:effectLst>
                  <a:glow rad="127000">
                    <a:schemeClr val="accent4">
                      <a:lumMod val="60000"/>
                      <a:lumOff val="40000"/>
                    </a:schemeClr>
                  </a:glow>
                </a:effectLst>
                <a:latin typeface="Segoe UI" panose="020B0502040204020203" pitchFamily="34" charset="0"/>
                <a:ea typeface="Meiryo UI" panose="020B0604030504040204" pitchFamily="50" charset="-128"/>
              </a:endParaRPr>
            </a:p>
          </p:txBody>
        </p:sp>
        <p:sp>
          <p:nvSpPr>
            <p:cNvPr id="33" name="テキスト ボックス 32">
              <a:extLst>
                <a:ext uri="{FF2B5EF4-FFF2-40B4-BE49-F238E27FC236}">
                  <a16:creationId xmlns:a16="http://schemas.microsoft.com/office/drawing/2014/main" id="{65A1E9B3-AECE-3553-CD4E-47CA2416EB4E}"/>
                </a:ext>
              </a:extLst>
            </p:cNvPr>
            <p:cNvSpPr txBox="1"/>
            <p:nvPr/>
          </p:nvSpPr>
          <p:spPr>
            <a:xfrm>
              <a:off x="9592072" y="884527"/>
              <a:ext cx="1252524" cy="426079"/>
            </a:xfrm>
            <a:prstGeom prst="rect">
              <a:avLst/>
            </a:prstGeom>
            <a:noFill/>
          </p:spPr>
          <p:txBody>
            <a:bodyPr wrap="square" rtlCol="0">
              <a:spAutoFit/>
            </a:bodyPr>
            <a:lstStyle/>
            <a:p>
              <a:pPr algn="ctr">
                <a:lnSpc>
                  <a:spcPct val="120000"/>
                </a:lnSpc>
                <a:spcBef>
                  <a:spcPts val="1200"/>
                </a:spcBef>
                <a:buClr>
                  <a:schemeClr val="tx1"/>
                </a:buClr>
              </a:pPr>
              <a:r>
                <a:rPr lang="ja-JP" altLang="en-US" sz="2000" b="1" dirty="0">
                  <a:effectLst>
                    <a:glow rad="63500">
                      <a:schemeClr val="bg1"/>
                    </a:glow>
                  </a:effectLst>
                  <a:latin typeface="Segoe UI" panose="020B0502040204020203" pitchFamily="34" charset="0"/>
                  <a:ea typeface="Meiryo UI" panose="020B0604030504040204" pitchFamily="50" charset="-128"/>
                </a:rPr>
                <a:t>息止め</a:t>
              </a:r>
              <a:endParaRPr kumimoji="1" lang="ja-JP" altLang="en-US" sz="2000" b="1" dirty="0">
                <a:effectLst>
                  <a:glow rad="63500">
                    <a:schemeClr val="bg1"/>
                  </a:glow>
                </a:effectLst>
                <a:latin typeface="Segoe UI" panose="020B0502040204020203" pitchFamily="34" charset="0"/>
                <a:ea typeface="Meiryo UI" panose="020B0604030504040204" pitchFamily="50" charset="-128"/>
              </a:endParaRPr>
            </a:p>
          </p:txBody>
        </p:sp>
        <p:cxnSp>
          <p:nvCxnSpPr>
            <p:cNvPr id="69" name="直線矢印コネクタ 68">
              <a:extLst>
                <a:ext uri="{FF2B5EF4-FFF2-40B4-BE49-F238E27FC236}">
                  <a16:creationId xmlns:a16="http://schemas.microsoft.com/office/drawing/2014/main" id="{8F414558-BDCF-C296-75A2-F0540FB04628}"/>
                </a:ext>
              </a:extLst>
            </p:cNvPr>
            <p:cNvCxnSpPr>
              <a:cxnSpLocks/>
            </p:cNvCxnSpPr>
            <p:nvPr/>
          </p:nvCxnSpPr>
          <p:spPr>
            <a:xfrm>
              <a:off x="9357106" y="1700667"/>
              <a:ext cx="125699" cy="772197"/>
            </a:xfrm>
            <a:prstGeom prst="straightConnector1">
              <a:avLst/>
            </a:prstGeom>
            <a:ln w="66675">
              <a:solidFill>
                <a:schemeClr val="accent4"/>
              </a:solidFill>
              <a:tailEnd type="triangle" w="med" len="sm"/>
            </a:ln>
            <a:effectLst>
              <a:glow rad="38100">
                <a:schemeClr val="tx1"/>
              </a:glow>
            </a:effectLst>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CDB11368-8EC4-B28E-0E2E-669E4A4BFA7E}"/>
                </a:ext>
              </a:extLst>
            </p:cNvPr>
            <p:cNvCxnSpPr>
              <a:cxnSpLocks/>
            </p:cNvCxnSpPr>
            <p:nvPr/>
          </p:nvCxnSpPr>
          <p:spPr>
            <a:xfrm>
              <a:off x="9950616" y="1381841"/>
              <a:ext cx="535437" cy="132377"/>
            </a:xfrm>
            <a:prstGeom prst="straightConnector1">
              <a:avLst/>
            </a:prstGeom>
            <a:ln w="66675">
              <a:solidFill>
                <a:schemeClr val="bg1">
                  <a:lumMod val="50000"/>
                </a:schemeClr>
              </a:solidFill>
              <a:tailEnd type="triangle" w="med" len="sm"/>
            </a:ln>
            <a:effectLst>
              <a:glow rad="38100">
                <a:schemeClr val="tx1"/>
              </a:glow>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86199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39CB0-8F2B-CE28-5F04-9C895F2DDDF9}"/>
            </a:ext>
          </a:extLst>
        </p:cNvPr>
        <p:cNvGrpSpPr/>
        <p:nvPr/>
      </p:nvGrpSpPr>
      <p:grpSpPr>
        <a:xfrm>
          <a:off x="0" y="0"/>
          <a:ext cx="0" cy="0"/>
          <a:chOff x="0" y="0"/>
          <a:chExt cx="0" cy="0"/>
        </a:xfrm>
      </p:grpSpPr>
      <p:sp>
        <p:nvSpPr>
          <p:cNvPr id="27" name="スライド番号プレースホルダー 26">
            <a:extLst>
              <a:ext uri="{FF2B5EF4-FFF2-40B4-BE49-F238E27FC236}">
                <a16:creationId xmlns:a16="http://schemas.microsoft.com/office/drawing/2014/main" id="{0F77B9E2-72C3-9F2A-B564-A7829A850069}"/>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6</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F98E45DA-D151-F68D-6024-1FF00FD6A113}"/>
              </a:ext>
            </a:extLst>
          </p:cNvPr>
          <p:cNvSpPr>
            <a:spLocks noGrp="1"/>
          </p:cNvSpPr>
          <p:nvPr>
            <p:ph type="title"/>
          </p:nvPr>
        </p:nvSpPr>
        <p:spPr/>
        <p:txBody>
          <a:bodyPr>
            <a:normAutofit/>
          </a:bodyPr>
          <a:lstStyle/>
          <a:p>
            <a:r>
              <a:rPr kumimoji="1" lang="ja-JP" altLang="en-US" dirty="0"/>
              <a:t>深層学習を用いた呼吸状態判別手法</a:t>
            </a:r>
          </a:p>
        </p:txBody>
      </p:sp>
      <p:sp>
        <p:nvSpPr>
          <p:cNvPr id="2" name="TextBox 7">
            <a:extLst>
              <a:ext uri="{FF2B5EF4-FFF2-40B4-BE49-F238E27FC236}">
                <a16:creationId xmlns:a16="http://schemas.microsoft.com/office/drawing/2014/main" id="{D474A6CD-410E-B87B-1047-BAD0E361C2F9}"/>
              </a:ext>
            </a:extLst>
          </p:cNvPr>
          <p:cNvSpPr txBox="1"/>
          <p:nvPr/>
        </p:nvSpPr>
        <p:spPr>
          <a:xfrm>
            <a:off x="215030" y="827371"/>
            <a:ext cx="6298519"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呼吸状態判別手法</a:t>
            </a:r>
            <a:r>
              <a:rPr lang="en-US" altLang="ja-JP" sz="2400" b="1" dirty="0">
                <a:solidFill>
                  <a:sysClr val="windowText" lastClr="000000"/>
                </a:solidFill>
                <a:latin typeface="Segoe UI" panose="020B0502040204020203" pitchFamily="34" charset="0"/>
                <a:ea typeface="Meiryo UI" panose="020B0604030504040204" pitchFamily="50" charset="-128"/>
              </a:rPr>
              <a:t>2</a:t>
            </a:r>
            <a:r>
              <a:rPr lang="ja-JP" altLang="en-US" sz="2400" b="1" dirty="0">
                <a:solidFill>
                  <a:sysClr val="windowText" lastClr="000000"/>
                </a:solidFill>
                <a:latin typeface="Segoe UI" panose="020B0502040204020203" pitchFamily="34" charset="0"/>
                <a:ea typeface="Meiryo UI" panose="020B0604030504040204" pitchFamily="50" charset="-128"/>
              </a:rPr>
              <a:t>：深層学習を用いた判別</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28" name="TextBox 7">
            <a:extLst>
              <a:ext uri="{FF2B5EF4-FFF2-40B4-BE49-F238E27FC236}">
                <a16:creationId xmlns:a16="http://schemas.microsoft.com/office/drawing/2014/main" id="{5494DF79-158E-4B74-194D-CBDF7299440A}"/>
              </a:ext>
            </a:extLst>
          </p:cNvPr>
          <p:cNvSpPr txBox="1"/>
          <p:nvPr/>
        </p:nvSpPr>
        <p:spPr>
          <a:xfrm>
            <a:off x="215030" y="1273528"/>
            <a:ext cx="7851637" cy="461665"/>
          </a:xfrm>
          <a:prstGeom prst="rect">
            <a:avLst/>
          </a:prstGeom>
          <a:noFill/>
        </p:spPr>
        <p:txBody>
          <a:bodyPr wrap="none" rtlCol="0">
            <a:spAutoFit/>
          </a:bodyPr>
          <a:lstStyle/>
          <a:p>
            <a:r>
              <a:rPr lang="ja-JP" altLang="en-US" sz="2400" u="sng" dirty="0">
                <a:solidFill>
                  <a:sysClr val="windowText" lastClr="000000"/>
                </a:solidFill>
                <a:latin typeface="Segoe UI" panose="020B0502040204020203" pitchFamily="34" charset="0"/>
                <a:ea typeface="Meiryo UI" panose="020B0604030504040204" pitchFamily="50" charset="-128"/>
              </a:rPr>
              <a:t>使用モデル：</a:t>
            </a:r>
            <a:r>
              <a:rPr lang="en-US" altLang="ja-JP" sz="2400" u="sng" dirty="0">
                <a:solidFill>
                  <a:sysClr val="windowText" lastClr="000000"/>
                </a:solidFill>
                <a:latin typeface="Segoe UI" panose="020B0502040204020203" pitchFamily="34" charset="0"/>
                <a:ea typeface="Meiryo UI" panose="020B0604030504040204" pitchFamily="50" charset="-128"/>
              </a:rPr>
              <a:t>TCN</a:t>
            </a:r>
            <a:r>
              <a:rPr lang="ja-JP" altLang="en-US" sz="2400" u="sng" dirty="0">
                <a:solidFill>
                  <a:sysClr val="windowText" lastClr="000000"/>
                </a:solidFill>
                <a:latin typeface="Segoe UI" panose="020B0502040204020203" pitchFamily="34" charset="0"/>
                <a:ea typeface="Meiryo UI" panose="020B0604030504040204" pitchFamily="50" charset="-128"/>
              </a:rPr>
              <a:t>（</a:t>
            </a:r>
            <a:r>
              <a:rPr lang="en-US" altLang="ja-JP" sz="2400" u="sng" dirty="0">
                <a:solidFill>
                  <a:sysClr val="windowText" lastClr="000000"/>
                </a:solidFill>
                <a:latin typeface="Segoe UI" panose="020B0502040204020203" pitchFamily="34" charset="0"/>
                <a:ea typeface="Meiryo UI" panose="020B0604030504040204" pitchFamily="50" charset="-128"/>
              </a:rPr>
              <a:t>Temporal Convolutional Network</a:t>
            </a:r>
            <a:r>
              <a:rPr lang="ja-JP" altLang="en-US" sz="2400" u="sng" dirty="0">
                <a:solidFill>
                  <a:sysClr val="windowText" lastClr="000000"/>
                </a:solidFill>
                <a:latin typeface="Segoe UI" panose="020B0502040204020203" pitchFamily="34" charset="0"/>
                <a:ea typeface="Meiryo UI" panose="020B0604030504040204" pitchFamily="50" charset="-128"/>
              </a:rPr>
              <a:t>）</a:t>
            </a:r>
            <a:r>
              <a:rPr lang="en-US" altLang="ja-JP" sz="2400" u="sng" baseline="30000" dirty="0">
                <a:solidFill>
                  <a:sysClr val="windowText" lastClr="000000"/>
                </a:solidFill>
                <a:latin typeface="Segoe UI" panose="020B0502040204020203" pitchFamily="34" charset="0"/>
                <a:ea typeface="Meiryo UI" panose="020B0604030504040204" pitchFamily="50" charset="-128"/>
              </a:rPr>
              <a:t>[3]</a:t>
            </a:r>
            <a:endParaRPr lang="en-JP" altLang="ja-JP" sz="2400" u="sng" baseline="30000" dirty="0">
              <a:solidFill>
                <a:sysClr val="windowText" lastClr="000000"/>
              </a:solidFill>
              <a:latin typeface="Segoe UI" panose="020B0502040204020203" pitchFamily="34" charset="0"/>
              <a:ea typeface="Meiryo UI" panose="020B0604030504040204" pitchFamily="50" charset="-128"/>
            </a:endParaRPr>
          </a:p>
        </p:txBody>
      </p:sp>
      <p:sp>
        <p:nvSpPr>
          <p:cNvPr id="29" name="テキスト ボックス 28">
            <a:extLst>
              <a:ext uri="{FF2B5EF4-FFF2-40B4-BE49-F238E27FC236}">
                <a16:creationId xmlns:a16="http://schemas.microsoft.com/office/drawing/2014/main" id="{19BC930C-7A21-04F7-A0A1-B845C99D7C6C}"/>
              </a:ext>
            </a:extLst>
          </p:cNvPr>
          <p:cNvSpPr txBox="1"/>
          <p:nvPr/>
        </p:nvSpPr>
        <p:spPr>
          <a:xfrm>
            <a:off x="215030" y="1688135"/>
            <a:ext cx="11695830" cy="492827"/>
          </a:xfrm>
          <a:prstGeom prst="rect">
            <a:avLst/>
          </a:prstGeom>
          <a:noFill/>
        </p:spPr>
        <p:txBody>
          <a:bodyPr wrap="none">
            <a:spAutoFit/>
          </a:bodyPr>
          <a:lstStyle/>
          <a:p>
            <a:pPr>
              <a:lnSpc>
                <a:spcPct val="120000"/>
              </a:lnSpc>
              <a:spcAft>
                <a:spcPts val="1200"/>
              </a:spcAft>
              <a:defRPr/>
            </a:pPr>
            <a:r>
              <a:rPr lang="ja-JP" altLang="en-US" sz="2400" dirty="0">
                <a:latin typeface="Segoe UI" panose="020B0502040204020203" pitchFamily="34" charset="0"/>
                <a:ea typeface="Meiryo UI" panose="020B0604030504040204" pitchFamily="50" charset="-128"/>
              </a:rPr>
              <a:t>過去一定期間の胸部圧迫力および一次微分値を入力し，時系列畳み込みにより状態を推定</a:t>
            </a:r>
            <a:endParaRPr lang="en-US" altLang="ja-JP" sz="2400" dirty="0">
              <a:latin typeface="Segoe UI" panose="020B0502040204020203" pitchFamily="34" charset="0"/>
              <a:ea typeface="Meiryo UI" panose="020B0604030504040204" pitchFamily="50" charset="-128"/>
            </a:endParaRPr>
          </a:p>
        </p:txBody>
      </p:sp>
      <p:sp>
        <p:nvSpPr>
          <p:cNvPr id="15" name="四角形: 角を丸くする 14">
            <a:extLst>
              <a:ext uri="{FF2B5EF4-FFF2-40B4-BE49-F238E27FC236}">
                <a16:creationId xmlns:a16="http://schemas.microsoft.com/office/drawing/2014/main" id="{6F720B4D-AFBE-8F46-5AAA-AC541A1B1669}"/>
              </a:ext>
            </a:extLst>
          </p:cNvPr>
          <p:cNvSpPr/>
          <p:nvPr/>
        </p:nvSpPr>
        <p:spPr>
          <a:xfrm>
            <a:off x="310662" y="2381250"/>
            <a:ext cx="11570677" cy="3861787"/>
          </a:xfrm>
          <a:prstGeom prst="roundRect">
            <a:avLst>
              <a:gd name="adj" fmla="val 0"/>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Segoe UI" panose="020B0502040204020203" pitchFamily="34" charset="0"/>
              <a:ea typeface="Meiryo UI" panose="020B0604030504040204" pitchFamily="50" charset="-128"/>
            </a:endParaRPr>
          </a:p>
        </p:txBody>
      </p:sp>
      <p:sp>
        <p:nvSpPr>
          <p:cNvPr id="94" name="テキスト ボックス 93">
            <a:extLst>
              <a:ext uri="{FF2B5EF4-FFF2-40B4-BE49-F238E27FC236}">
                <a16:creationId xmlns:a16="http://schemas.microsoft.com/office/drawing/2014/main" id="{33FB0ABD-2670-52C6-0C97-22930FCED809}"/>
              </a:ext>
            </a:extLst>
          </p:cNvPr>
          <p:cNvSpPr txBox="1"/>
          <p:nvPr/>
        </p:nvSpPr>
        <p:spPr>
          <a:xfrm>
            <a:off x="4998584" y="6271668"/>
            <a:ext cx="2417650" cy="426079"/>
          </a:xfrm>
          <a:prstGeom prst="rect">
            <a:avLst/>
          </a:prstGeom>
          <a:noFill/>
        </p:spPr>
        <p:txBody>
          <a:bodyPr wrap="none" rtlCol="0">
            <a:spAutoFit/>
          </a:bodyPr>
          <a:lstStyle/>
          <a:p>
            <a:pPr>
              <a:lnSpc>
                <a:spcPct val="120000"/>
              </a:lnSpc>
              <a:spcAft>
                <a:spcPts val="1200"/>
              </a:spcAft>
              <a:defRPr/>
            </a:pPr>
            <a:r>
              <a:rPr lang="ja-JP" altLang="en-US" sz="2000" dirty="0">
                <a:latin typeface="Segoe UI" panose="020B0502040204020203" pitchFamily="34" charset="0"/>
                <a:ea typeface="Meiryo UI" panose="020B0604030504040204" pitchFamily="50" charset="-128"/>
              </a:rPr>
              <a:t>呼吸状態判別の流れ</a:t>
            </a:r>
            <a:endParaRPr lang="en-US" altLang="ja-JP" sz="2000" dirty="0">
              <a:latin typeface="Segoe UI" panose="020B0502040204020203" pitchFamily="34" charset="0"/>
              <a:ea typeface="Meiryo UI" panose="020B0604030504040204" pitchFamily="50" charset="-128"/>
            </a:endParaRPr>
          </a:p>
        </p:txBody>
      </p:sp>
      <p:grpSp>
        <p:nvGrpSpPr>
          <p:cNvPr id="10" name="グループ化 9">
            <a:extLst>
              <a:ext uri="{FF2B5EF4-FFF2-40B4-BE49-F238E27FC236}">
                <a16:creationId xmlns:a16="http://schemas.microsoft.com/office/drawing/2014/main" id="{EE3BBF0E-F1BD-9F2B-21D1-C659D60850ED}"/>
              </a:ext>
            </a:extLst>
          </p:cNvPr>
          <p:cNvGrpSpPr/>
          <p:nvPr/>
        </p:nvGrpSpPr>
        <p:grpSpPr>
          <a:xfrm>
            <a:off x="9268381" y="2400300"/>
            <a:ext cx="2526597" cy="400110"/>
            <a:chOff x="8541557" y="2281423"/>
            <a:chExt cx="2526597" cy="400110"/>
          </a:xfrm>
        </p:grpSpPr>
        <p:cxnSp>
          <p:nvCxnSpPr>
            <p:cNvPr id="4" name="直線コネクタ 3">
              <a:extLst>
                <a:ext uri="{FF2B5EF4-FFF2-40B4-BE49-F238E27FC236}">
                  <a16:creationId xmlns:a16="http://schemas.microsoft.com/office/drawing/2014/main" id="{F57C2790-B331-6C7A-8157-805D58AAB271}"/>
                </a:ext>
              </a:extLst>
            </p:cNvPr>
            <p:cNvCxnSpPr>
              <a:cxnSpLocks/>
            </p:cNvCxnSpPr>
            <p:nvPr/>
          </p:nvCxnSpPr>
          <p:spPr>
            <a:xfrm>
              <a:off x="8541557" y="2481478"/>
              <a:ext cx="360000" cy="0"/>
            </a:xfrm>
            <a:prstGeom prst="line">
              <a:avLst/>
            </a:prstGeom>
            <a:ln w="57150">
              <a:solidFill>
                <a:srgbClr val="FF8D00"/>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A5CFE0CD-D91C-5A76-6E60-24B139E80EE7}"/>
                </a:ext>
              </a:extLst>
            </p:cNvPr>
            <p:cNvSpPr txBox="1"/>
            <p:nvPr/>
          </p:nvSpPr>
          <p:spPr>
            <a:xfrm>
              <a:off x="8936426" y="2281423"/>
              <a:ext cx="697627"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吸気</a:t>
              </a:r>
            </a:p>
          </p:txBody>
        </p:sp>
        <p:cxnSp>
          <p:nvCxnSpPr>
            <p:cNvPr id="21" name="直線コネクタ 20">
              <a:extLst>
                <a:ext uri="{FF2B5EF4-FFF2-40B4-BE49-F238E27FC236}">
                  <a16:creationId xmlns:a16="http://schemas.microsoft.com/office/drawing/2014/main" id="{2D0874D7-CA3C-BE95-D37D-E67B49C80758}"/>
                </a:ext>
              </a:extLst>
            </p:cNvPr>
            <p:cNvCxnSpPr>
              <a:cxnSpLocks/>
            </p:cNvCxnSpPr>
            <p:nvPr/>
          </p:nvCxnSpPr>
          <p:spPr>
            <a:xfrm>
              <a:off x="9975658" y="2481478"/>
              <a:ext cx="360000" cy="0"/>
            </a:xfrm>
            <a:prstGeom prst="line">
              <a:avLst/>
            </a:prstGeom>
            <a:ln w="57150">
              <a:solidFill>
                <a:srgbClr val="4B9AE3"/>
              </a:solidFill>
            </a:ln>
          </p:spPr>
          <p:style>
            <a:lnRef idx="1">
              <a:schemeClr val="accent1"/>
            </a:lnRef>
            <a:fillRef idx="0">
              <a:schemeClr val="accent1"/>
            </a:fillRef>
            <a:effectRef idx="0">
              <a:schemeClr val="accent1"/>
            </a:effectRef>
            <a:fontRef idx="minor">
              <a:schemeClr val="tx1"/>
            </a:fontRef>
          </p:style>
        </p:cxnSp>
        <p:sp>
          <p:nvSpPr>
            <p:cNvPr id="22" name="テキスト ボックス 21">
              <a:extLst>
                <a:ext uri="{FF2B5EF4-FFF2-40B4-BE49-F238E27FC236}">
                  <a16:creationId xmlns:a16="http://schemas.microsoft.com/office/drawing/2014/main" id="{222121AD-E97A-AC79-5FDC-030CD4F4F1FF}"/>
                </a:ext>
              </a:extLst>
            </p:cNvPr>
            <p:cNvSpPr txBox="1"/>
            <p:nvPr/>
          </p:nvSpPr>
          <p:spPr>
            <a:xfrm>
              <a:off x="10370527" y="2281423"/>
              <a:ext cx="697627"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呼気</a:t>
              </a:r>
            </a:p>
          </p:txBody>
        </p:sp>
      </p:grpSp>
      <p:sp>
        <p:nvSpPr>
          <p:cNvPr id="229" name="テキスト ボックス 228">
            <a:extLst>
              <a:ext uri="{FF2B5EF4-FFF2-40B4-BE49-F238E27FC236}">
                <a16:creationId xmlns:a16="http://schemas.microsoft.com/office/drawing/2014/main" id="{D5CE8A78-78BD-AAFF-C94E-DA5933E645B4}"/>
              </a:ext>
            </a:extLst>
          </p:cNvPr>
          <p:cNvSpPr txBox="1"/>
          <p:nvPr/>
        </p:nvSpPr>
        <p:spPr>
          <a:xfrm>
            <a:off x="1069958" y="2605401"/>
            <a:ext cx="2031326" cy="936025"/>
          </a:xfrm>
          <a:prstGeom prst="rect">
            <a:avLst/>
          </a:prstGeom>
          <a:noFill/>
        </p:spPr>
        <p:txBody>
          <a:bodyPr wrap="none" rtlCol="0">
            <a:spAutoFit/>
          </a:bodyPr>
          <a:lstStyle/>
          <a:p>
            <a:pPr algn="ctr">
              <a:lnSpc>
                <a:spcPct val="120000"/>
              </a:lnSpc>
              <a:spcAft>
                <a:spcPts val="1200"/>
              </a:spcAft>
            </a:pPr>
            <a:r>
              <a:rPr kumimoji="1" lang="ja-JP" altLang="en-US" sz="2400" dirty="0">
                <a:latin typeface="Segoe UI" panose="020B0502040204020203" pitchFamily="34" charset="0"/>
                <a:ea typeface="Meiryo UI" panose="020B0604030504040204" pitchFamily="50" charset="-128"/>
              </a:rPr>
              <a:t>呼吸状態判別</a:t>
            </a:r>
            <a:br>
              <a:rPr kumimoji="1" lang="en-US" altLang="ja-JP" sz="2400" dirty="0">
                <a:latin typeface="Segoe UI" panose="020B0502040204020203" pitchFamily="34" charset="0"/>
                <a:ea typeface="Meiryo UI" panose="020B0604030504040204" pitchFamily="50" charset="-128"/>
              </a:rPr>
            </a:br>
            <a:r>
              <a:rPr kumimoji="1" lang="ja-JP" altLang="en-US" sz="2400" dirty="0">
                <a:latin typeface="Segoe UI" panose="020B0502040204020203" pitchFamily="34" charset="0"/>
                <a:ea typeface="Meiryo UI" panose="020B0604030504040204" pitchFamily="50" charset="-128"/>
              </a:rPr>
              <a:t>対象時点</a:t>
            </a:r>
          </a:p>
        </p:txBody>
      </p:sp>
      <p:cxnSp>
        <p:nvCxnSpPr>
          <p:cNvPr id="19" name="直線矢印コネクタ 18">
            <a:extLst>
              <a:ext uri="{FF2B5EF4-FFF2-40B4-BE49-F238E27FC236}">
                <a16:creationId xmlns:a16="http://schemas.microsoft.com/office/drawing/2014/main" id="{F936E54C-A800-0FA2-C4C0-A15AE7F36914}"/>
              </a:ext>
            </a:extLst>
          </p:cNvPr>
          <p:cNvCxnSpPr>
            <a:cxnSpLocks/>
          </p:cNvCxnSpPr>
          <p:nvPr/>
        </p:nvCxnSpPr>
        <p:spPr>
          <a:xfrm>
            <a:off x="2409464" y="4196484"/>
            <a:ext cx="7086600" cy="0"/>
          </a:xfrm>
          <a:prstGeom prst="straightConnector1">
            <a:avLst/>
          </a:prstGeom>
          <a:ln w="57150">
            <a:solidFill>
              <a:srgbClr val="010101"/>
            </a:solidFill>
            <a:tailEnd type="triangle" w="med" len="sm"/>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8ED5BE22-3C8A-2D95-8A2C-D68D7BBAAAE6}"/>
              </a:ext>
            </a:extLst>
          </p:cNvPr>
          <p:cNvSpPr txBox="1"/>
          <p:nvPr/>
        </p:nvSpPr>
        <p:spPr>
          <a:xfrm>
            <a:off x="6774587" y="5491246"/>
            <a:ext cx="2151551" cy="492827"/>
          </a:xfrm>
          <a:prstGeom prst="rect">
            <a:avLst/>
          </a:prstGeom>
          <a:noFill/>
        </p:spPr>
        <p:txBody>
          <a:bodyPr wrap="none" rtlCol="0">
            <a:spAutoFit/>
          </a:bodyPr>
          <a:lstStyle/>
          <a:p>
            <a:pPr algn="ctr">
              <a:lnSpc>
                <a:spcPct val="120000"/>
              </a:lnSpc>
              <a:spcAft>
                <a:spcPts val="1200"/>
              </a:spcAft>
            </a:pPr>
            <a:r>
              <a:rPr kumimoji="1" lang="ja-JP" altLang="en-US" sz="2400" dirty="0">
                <a:latin typeface="Segoe UI" panose="020B0502040204020203" pitchFamily="34" charset="0"/>
                <a:ea typeface="Meiryo UI" panose="020B0604030504040204" pitchFamily="50" charset="-128"/>
              </a:rPr>
              <a:t>深層学習モデル</a:t>
            </a:r>
          </a:p>
        </p:txBody>
      </p:sp>
      <p:grpSp>
        <p:nvGrpSpPr>
          <p:cNvPr id="72" name="グループ化 71">
            <a:extLst>
              <a:ext uri="{FF2B5EF4-FFF2-40B4-BE49-F238E27FC236}">
                <a16:creationId xmlns:a16="http://schemas.microsoft.com/office/drawing/2014/main" id="{487C1918-0181-4295-27A1-604D4BA28DB0}"/>
              </a:ext>
            </a:extLst>
          </p:cNvPr>
          <p:cNvGrpSpPr/>
          <p:nvPr/>
        </p:nvGrpSpPr>
        <p:grpSpPr>
          <a:xfrm>
            <a:off x="7145922" y="3585382"/>
            <a:ext cx="1408880" cy="1222205"/>
            <a:chOff x="5031916" y="2278470"/>
            <a:chExt cx="1408880" cy="1222205"/>
          </a:xfrm>
        </p:grpSpPr>
        <p:sp>
          <p:nvSpPr>
            <p:cNvPr id="70" name="台形 69">
              <a:extLst>
                <a:ext uri="{FF2B5EF4-FFF2-40B4-BE49-F238E27FC236}">
                  <a16:creationId xmlns:a16="http://schemas.microsoft.com/office/drawing/2014/main" id="{2B72E8C6-CBB8-A9DC-0A40-7B4D84728E10}"/>
                </a:ext>
              </a:extLst>
            </p:cNvPr>
            <p:cNvSpPr/>
            <p:nvPr/>
          </p:nvSpPr>
          <p:spPr>
            <a:xfrm rot="5400000">
              <a:off x="5125253" y="2185133"/>
              <a:ext cx="1222205" cy="1408880"/>
            </a:xfrm>
            <a:prstGeom prst="trapezoid">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sp>
          <p:nvSpPr>
            <p:cNvPr id="71" name="テキスト ボックス 70">
              <a:extLst>
                <a:ext uri="{FF2B5EF4-FFF2-40B4-BE49-F238E27FC236}">
                  <a16:creationId xmlns:a16="http://schemas.microsoft.com/office/drawing/2014/main" id="{AB02BEDE-ACE2-D17D-39D0-61FF2B12575B}"/>
                </a:ext>
              </a:extLst>
            </p:cNvPr>
            <p:cNvSpPr txBox="1"/>
            <p:nvPr/>
          </p:nvSpPr>
          <p:spPr>
            <a:xfrm>
              <a:off x="5340862" y="2642358"/>
              <a:ext cx="790987" cy="494431"/>
            </a:xfrm>
            <a:prstGeom prst="rect">
              <a:avLst/>
            </a:prstGeom>
            <a:noFill/>
          </p:spPr>
          <p:txBody>
            <a:bodyPr wrap="none" rtlCol="0">
              <a:spAutoFit/>
            </a:bodyPr>
            <a:lstStyle/>
            <a:p>
              <a:pPr algn="ctr">
                <a:lnSpc>
                  <a:spcPct val="120000"/>
                </a:lnSpc>
              </a:pPr>
              <a:r>
                <a:rPr kumimoji="1" lang="en-US" altLang="ja-JP" sz="2400" b="1" dirty="0">
                  <a:solidFill>
                    <a:schemeClr val="bg1"/>
                  </a:solidFill>
                  <a:latin typeface="Segoe UI" panose="020B0502040204020203" pitchFamily="34" charset="0"/>
                  <a:ea typeface="Meiryo UI" panose="020B0604030504040204" pitchFamily="50" charset="-128"/>
                </a:rPr>
                <a:t>TCN</a:t>
              </a:r>
            </a:p>
          </p:txBody>
        </p:sp>
      </p:grpSp>
      <p:grpSp>
        <p:nvGrpSpPr>
          <p:cNvPr id="96" name="グループ化 95">
            <a:extLst>
              <a:ext uri="{FF2B5EF4-FFF2-40B4-BE49-F238E27FC236}">
                <a16:creationId xmlns:a16="http://schemas.microsoft.com/office/drawing/2014/main" id="{BE3A00A9-1F14-9969-04F8-BFE092BD92A7}"/>
              </a:ext>
            </a:extLst>
          </p:cNvPr>
          <p:cNvGrpSpPr/>
          <p:nvPr/>
        </p:nvGrpSpPr>
        <p:grpSpPr>
          <a:xfrm>
            <a:off x="467770" y="3650594"/>
            <a:ext cx="1658256" cy="1091780"/>
            <a:chOff x="533162" y="4039038"/>
            <a:chExt cx="1658256" cy="1091780"/>
          </a:xfrm>
        </p:grpSpPr>
        <p:sp>
          <p:nvSpPr>
            <p:cNvPr id="92" name="正方形/長方形 91">
              <a:extLst>
                <a:ext uri="{FF2B5EF4-FFF2-40B4-BE49-F238E27FC236}">
                  <a16:creationId xmlns:a16="http://schemas.microsoft.com/office/drawing/2014/main" id="{309F1597-3D6B-369D-0C71-7C2EA2659E7D}"/>
                </a:ext>
              </a:extLst>
            </p:cNvPr>
            <p:cNvSpPr/>
            <p:nvPr/>
          </p:nvSpPr>
          <p:spPr>
            <a:xfrm>
              <a:off x="542925" y="4039038"/>
              <a:ext cx="1637469" cy="1091780"/>
            </a:xfrm>
            <a:prstGeom prst="rect">
              <a:avLst/>
            </a:prstGeom>
            <a:solidFill>
              <a:schemeClr val="bg1"/>
            </a:solidFill>
            <a:ln w="3810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grpSp>
          <p:nvGrpSpPr>
            <p:cNvPr id="91" name="グループ化 90">
              <a:extLst>
                <a:ext uri="{FF2B5EF4-FFF2-40B4-BE49-F238E27FC236}">
                  <a16:creationId xmlns:a16="http://schemas.microsoft.com/office/drawing/2014/main" id="{6F1DDF66-E0E9-6E23-2325-BDEF466C75EB}"/>
                </a:ext>
              </a:extLst>
            </p:cNvPr>
            <p:cNvGrpSpPr/>
            <p:nvPr/>
          </p:nvGrpSpPr>
          <p:grpSpPr>
            <a:xfrm>
              <a:off x="533162" y="4130737"/>
              <a:ext cx="1658256" cy="908383"/>
              <a:chOff x="533162" y="4130737"/>
              <a:chExt cx="1658256" cy="908383"/>
            </a:xfrm>
          </p:grpSpPr>
          <p:pic>
            <p:nvPicPr>
              <p:cNvPr id="52" name="図 51">
                <a:extLst>
                  <a:ext uri="{FF2B5EF4-FFF2-40B4-BE49-F238E27FC236}">
                    <a16:creationId xmlns:a16="http://schemas.microsoft.com/office/drawing/2014/main" id="{B7AA55FA-C22C-2954-ED43-D5380B4AA0DB}"/>
                  </a:ext>
                </a:extLst>
              </p:cNvPr>
              <p:cNvPicPr>
                <a:picLocks noChangeAspect="1"/>
              </p:cNvPicPr>
              <p:nvPr/>
            </p:nvPicPr>
            <p:blipFill>
              <a:blip r:embed="rId3">
                <a:duotone>
                  <a:prstClr val="black"/>
                  <a:schemeClr val="accent3">
                    <a:lumMod val="60000"/>
                    <a:lumOff val="40000"/>
                    <a:tint val="45000"/>
                    <a:satMod val="400000"/>
                  </a:schemeClr>
                </a:duotone>
                <a:alphaModFix amt="70000"/>
              </a:blip>
              <a:srcRect l="92372"/>
              <a:stretch>
                <a:fillRect/>
              </a:stretch>
            </p:blipFill>
            <p:spPr>
              <a:xfrm>
                <a:off x="2064914" y="4130737"/>
                <a:ext cx="126504" cy="908383"/>
              </a:xfrm>
              <a:prstGeom prst="rect">
                <a:avLst/>
              </a:prstGeom>
            </p:spPr>
          </p:pic>
          <p:pic>
            <p:nvPicPr>
              <p:cNvPr id="53" name="図 52">
                <a:extLst>
                  <a:ext uri="{FF2B5EF4-FFF2-40B4-BE49-F238E27FC236}">
                    <a16:creationId xmlns:a16="http://schemas.microsoft.com/office/drawing/2014/main" id="{0961EF81-55D7-28BD-69A6-01EDCF045B11}"/>
                  </a:ext>
                </a:extLst>
              </p:cNvPr>
              <p:cNvPicPr>
                <a:picLocks noChangeAspect="1"/>
              </p:cNvPicPr>
              <p:nvPr/>
            </p:nvPicPr>
            <p:blipFill>
              <a:blip r:embed="rId4"/>
              <a:srcRect l="87633" r="7197"/>
              <a:stretch>
                <a:fillRect/>
              </a:stretch>
            </p:blipFill>
            <p:spPr>
              <a:xfrm>
                <a:off x="1986332" y="4130737"/>
                <a:ext cx="85726" cy="908383"/>
              </a:xfrm>
              <a:prstGeom prst="rect">
                <a:avLst/>
              </a:prstGeom>
            </p:spPr>
          </p:pic>
          <p:pic>
            <p:nvPicPr>
              <p:cNvPr id="54" name="図 53">
                <a:extLst>
                  <a:ext uri="{FF2B5EF4-FFF2-40B4-BE49-F238E27FC236}">
                    <a16:creationId xmlns:a16="http://schemas.microsoft.com/office/drawing/2014/main" id="{E97B6D54-E369-4EDE-8E3B-7E77B5F75D9B}"/>
                  </a:ext>
                </a:extLst>
              </p:cNvPr>
              <p:cNvPicPr>
                <a:picLocks noChangeAspect="1"/>
              </p:cNvPicPr>
              <p:nvPr/>
            </p:nvPicPr>
            <p:blipFill>
              <a:blip r:embed="rId5"/>
              <a:srcRect l="58769" r="12053"/>
              <a:stretch>
                <a:fillRect/>
              </a:stretch>
            </p:blipFill>
            <p:spPr>
              <a:xfrm>
                <a:off x="1507701" y="4130737"/>
                <a:ext cx="483853" cy="908383"/>
              </a:xfrm>
              <a:prstGeom prst="rect">
                <a:avLst/>
              </a:prstGeom>
            </p:spPr>
          </p:pic>
          <p:pic>
            <p:nvPicPr>
              <p:cNvPr id="55" name="図 54">
                <a:extLst>
                  <a:ext uri="{FF2B5EF4-FFF2-40B4-BE49-F238E27FC236}">
                    <a16:creationId xmlns:a16="http://schemas.microsoft.com/office/drawing/2014/main" id="{9AFD68EB-E037-E03E-FA4A-4B25059FE5CF}"/>
                  </a:ext>
                </a:extLst>
              </p:cNvPr>
              <p:cNvPicPr>
                <a:picLocks noChangeAspect="1"/>
              </p:cNvPicPr>
              <p:nvPr/>
            </p:nvPicPr>
            <p:blipFill>
              <a:blip r:embed="rId4"/>
              <a:srcRect l="28614" r="41106"/>
              <a:stretch>
                <a:fillRect/>
              </a:stretch>
            </p:blipFill>
            <p:spPr>
              <a:xfrm>
                <a:off x="1007638" y="4130737"/>
                <a:ext cx="502137" cy="908383"/>
              </a:xfrm>
              <a:prstGeom prst="rect">
                <a:avLst/>
              </a:prstGeom>
            </p:spPr>
          </p:pic>
          <p:pic>
            <p:nvPicPr>
              <p:cNvPr id="56" name="図 55">
                <a:extLst>
                  <a:ext uri="{FF2B5EF4-FFF2-40B4-BE49-F238E27FC236}">
                    <a16:creationId xmlns:a16="http://schemas.microsoft.com/office/drawing/2014/main" id="{242305DF-908E-F02C-EFB4-ECD609112D0D}"/>
                  </a:ext>
                </a:extLst>
              </p:cNvPr>
              <p:cNvPicPr>
                <a:picLocks noChangeAspect="1"/>
              </p:cNvPicPr>
              <p:nvPr/>
            </p:nvPicPr>
            <p:blipFill>
              <a:blip r:embed="rId5"/>
              <a:srcRect r="71345"/>
              <a:stretch>
                <a:fillRect/>
              </a:stretch>
            </p:blipFill>
            <p:spPr>
              <a:xfrm>
                <a:off x="533162" y="4130737"/>
                <a:ext cx="475168" cy="908383"/>
              </a:xfrm>
              <a:prstGeom prst="rect">
                <a:avLst/>
              </a:prstGeom>
            </p:spPr>
          </p:pic>
        </p:grpSp>
      </p:grpSp>
      <p:sp>
        <p:nvSpPr>
          <p:cNvPr id="192" name="正方形/長方形 191">
            <a:extLst>
              <a:ext uri="{FF2B5EF4-FFF2-40B4-BE49-F238E27FC236}">
                <a16:creationId xmlns:a16="http://schemas.microsoft.com/office/drawing/2014/main" id="{25FDB195-4961-B426-9454-42F5DE6387A8}"/>
              </a:ext>
            </a:extLst>
          </p:cNvPr>
          <p:cNvSpPr/>
          <p:nvPr/>
        </p:nvSpPr>
        <p:spPr>
          <a:xfrm>
            <a:off x="909226" y="3650594"/>
            <a:ext cx="1216800" cy="1091780"/>
          </a:xfrm>
          <a:prstGeom prst="rect">
            <a:avLst/>
          </a:prstGeom>
          <a:noFill/>
          <a:ln w="381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57" name="テキスト ボックス 56">
            <a:extLst>
              <a:ext uri="{FF2B5EF4-FFF2-40B4-BE49-F238E27FC236}">
                <a16:creationId xmlns:a16="http://schemas.microsoft.com/office/drawing/2014/main" id="{91235AE7-35B2-6D24-094F-DF35E8017B97}"/>
              </a:ext>
            </a:extLst>
          </p:cNvPr>
          <p:cNvSpPr txBox="1"/>
          <p:nvPr/>
        </p:nvSpPr>
        <p:spPr>
          <a:xfrm>
            <a:off x="589012" y="5306580"/>
            <a:ext cx="1415772" cy="936025"/>
          </a:xfrm>
          <a:prstGeom prst="rect">
            <a:avLst/>
          </a:prstGeom>
          <a:noFill/>
        </p:spPr>
        <p:txBody>
          <a:bodyPr wrap="none" rtlCol="0">
            <a:spAutoFit/>
          </a:bodyPr>
          <a:lstStyle/>
          <a:p>
            <a:pPr algn="ctr">
              <a:lnSpc>
                <a:spcPct val="120000"/>
              </a:lnSpc>
              <a:spcAft>
                <a:spcPts val="1200"/>
              </a:spcAft>
            </a:pPr>
            <a:r>
              <a:rPr kumimoji="1" lang="ja-JP" altLang="en-US" sz="2400" dirty="0">
                <a:latin typeface="Segoe UI" panose="020B0502040204020203" pitchFamily="34" charset="0"/>
                <a:ea typeface="Meiryo UI" panose="020B0604030504040204" pitchFamily="50" charset="-128"/>
              </a:rPr>
              <a:t>呼吸計測</a:t>
            </a:r>
            <a:br>
              <a:rPr kumimoji="1" lang="en-US" altLang="ja-JP" sz="2400" dirty="0">
                <a:latin typeface="Segoe UI" panose="020B0502040204020203" pitchFamily="34" charset="0"/>
                <a:ea typeface="Meiryo UI" panose="020B0604030504040204" pitchFamily="50" charset="-128"/>
              </a:rPr>
            </a:br>
            <a:r>
              <a:rPr kumimoji="1" lang="ja-JP" altLang="en-US" sz="2400" dirty="0">
                <a:latin typeface="Segoe UI" panose="020B0502040204020203" pitchFamily="34" charset="0"/>
                <a:ea typeface="Meiryo UI" panose="020B0604030504040204" pitchFamily="50" charset="-128"/>
              </a:rPr>
              <a:t>結果</a:t>
            </a:r>
          </a:p>
        </p:txBody>
      </p:sp>
      <p:sp>
        <p:nvSpPr>
          <p:cNvPr id="20" name="テキスト ボックス 19">
            <a:extLst>
              <a:ext uri="{FF2B5EF4-FFF2-40B4-BE49-F238E27FC236}">
                <a16:creationId xmlns:a16="http://schemas.microsoft.com/office/drawing/2014/main" id="{8E02BEA8-4A05-CBC8-DB31-7DF08318FA27}"/>
              </a:ext>
            </a:extLst>
          </p:cNvPr>
          <p:cNvSpPr txBox="1"/>
          <p:nvPr/>
        </p:nvSpPr>
        <p:spPr>
          <a:xfrm>
            <a:off x="9903469" y="5306580"/>
            <a:ext cx="1415772" cy="936025"/>
          </a:xfrm>
          <a:prstGeom prst="rect">
            <a:avLst/>
          </a:prstGeom>
          <a:noFill/>
        </p:spPr>
        <p:txBody>
          <a:bodyPr wrap="none" rtlCol="0">
            <a:spAutoFit/>
          </a:bodyPr>
          <a:lstStyle/>
          <a:p>
            <a:pPr algn="ctr">
              <a:lnSpc>
                <a:spcPct val="120000"/>
              </a:lnSpc>
              <a:spcAft>
                <a:spcPts val="1200"/>
              </a:spcAft>
            </a:pPr>
            <a:r>
              <a:rPr kumimoji="1" lang="ja-JP" altLang="en-US" sz="2400" dirty="0">
                <a:latin typeface="Segoe UI" panose="020B0502040204020203" pitchFamily="34" charset="0"/>
                <a:ea typeface="Meiryo UI" panose="020B0604030504040204" pitchFamily="50" charset="-128"/>
              </a:rPr>
              <a:t>呼吸状態</a:t>
            </a:r>
            <a:br>
              <a:rPr kumimoji="1" lang="en-US" altLang="ja-JP" sz="2400" dirty="0">
                <a:latin typeface="Segoe UI" panose="020B0502040204020203" pitchFamily="34" charset="0"/>
                <a:ea typeface="Meiryo UI" panose="020B0604030504040204" pitchFamily="50" charset="-128"/>
              </a:rPr>
            </a:br>
            <a:r>
              <a:rPr kumimoji="1" lang="ja-JP" altLang="en-US" sz="2400" dirty="0">
                <a:latin typeface="Segoe UI" panose="020B0502040204020203" pitchFamily="34" charset="0"/>
                <a:ea typeface="Meiryo UI" panose="020B0604030504040204" pitchFamily="50" charset="-128"/>
              </a:rPr>
              <a:t>推定結果</a:t>
            </a:r>
          </a:p>
        </p:txBody>
      </p:sp>
      <p:sp>
        <p:nvSpPr>
          <p:cNvPr id="6" name="テキスト ボックス 5">
            <a:extLst>
              <a:ext uri="{FF2B5EF4-FFF2-40B4-BE49-F238E27FC236}">
                <a16:creationId xmlns:a16="http://schemas.microsoft.com/office/drawing/2014/main" id="{05FD95B7-4350-35AB-C3FD-1E9BAE176870}"/>
              </a:ext>
            </a:extLst>
          </p:cNvPr>
          <p:cNvSpPr txBox="1"/>
          <p:nvPr/>
        </p:nvSpPr>
        <p:spPr>
          <a:xfrm>
            <a:off x="10994759" y="2827000"/>
            <a:ext cx="800219" cy="492827"/>
          </a:xfrm>
          <a:prstGeom prst="rect">
            <a:avLst/>
          </a:prstGeom>
          <a:noFill/>
        </p:spPr>
        <p:txBody>
          <a:bodyPr wrap="none" rtlCol="0">
            <a:spAutoFit/>
          </a:bodyPr>
          <a:lstStyle/>
          <a:p>
            <a:pPr algn="ctr">
              <a:lnSpc>
                <a:spcPct val="120000"/>
              </a:lnSpc>
              <a:spcAft>
                <a:spcPts val="1200"/>
              </a:spcAft>
            </a:pPr>
            <a:r>
              <a:rPr lang="ja-JP" altLang="en-US" sz="2400" dirty="0">
                <a:latin typeface="Segoe UI" panose="020B0502040204020203" pitchFamily="34" charset="0"/>
                <a:ea typeface="Meiryo UI" panose="020B0604030504040204" pitchFamily="50" charset="-128"/>
              </a:rPr>
              <a:t>吸気</a:t>
            </a:r>
            <a:endParaRPr kumimoji="1" lang="ja-JP" altLang="en-US" sz="2400" dirty="0">
              <a:latin typeface="Segoe UI" panose="020B0502040204020203" pitchFamily="34" charset="0"/>
              <a:ea typeface="Meiryo UI" panose="020B0604030504040204" pitchFamily="50" charset="-128"/>
            </a:endParaRPr>
          </a:p>
        </p:txBody>
      </p:sp>
      <p:grpSp>
        <p:nvGrpSpPr>
          <p:cNvPr id="100" name="グループ化 99">
            <a:extLst>
              <a:ext uri="{FF2B5EF4-FFF2-40B4-BE49-F238E27FC236}">
                <a16:creationId xmlns:a16="http://schemas.microsoft.com/office/drawing/2014/main" id="{66178A28-B38B-BF36-3643-583B372E5F69}"/>
              </a:ext>
            </a:extLst>
          </p:cNvPr>
          <p:cNvGrpSpPr/>
          <p:nvPr/>
        </p:nvGrpSpPr>
        <p:grpSpPr>
          <a:xfrm>
            <a:off x="9779502" y="3650594"/>
            <a:ext cx="1663708" cy="1091780"/>
            <a:chOff x="9840883" y="3912414"/>
            <a:chExt cx="1663708" cy="1091780"/>
          </a:xfrm>
        </p:grpSpPr>
        <p:sp>
          <p:nvSpPr>
            <p:cNvPr id="58" name="正方形/長方形 57">
              <a:extLst>
                <a:ext uri="{FF2B5EF4-FFF2-40B4-BE49-F238E27FC236}">
                  <a16:creationId xmlns:a16="http://schemas.microsoft.com/office/drawing/2014/main" id="{1F6DF8C6-4359-55C7-68D3-D3675598F943}"/>
                </a:ext>
              </a:extLst>
            </p:cNvPr>
            <p:cNvSpPr/>
            <p:nvPr/>
          </p:nvSpPr>
          <p:spPr>
            <a:xfrm>
              <a:off x="9847060" y="3912414"/>
              <a:ext cx="1637469" cy="1091780"/>
            </a:xfrm>
            <a:prstGeom prst="rect">
              <a:avLst/>
            </a:prstGeom>
            <a:solidFill>
              <a:schemeClr val="bg1"/>
            </a:solidFill>
            <a:ln w="3810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grpSp>
          <p:nvGrpSpPr>
            <p:cNvPr id="61" name="グループ化 60">
              <a:extLst>
                <a:ext uri="{FF2B5EF4-FFF2-40B4-BE49-F238E27FC236}">
                  <a16:creationId xmlns:a16="http://schemas.microsoft.com/office/drawing/2014/main" id="{5CBC21A0-B72E-F13E-4452-A0662DAC1B36}"/>
                </a:ext>
              </a:extLst>
            </p:cNvPr>
            <p:cNvGrpSpPr/>
            <p:nvPr/>
          </p:nvGrpSpPr>
          <p:grpSpPr>
            <a:xfrm>
              <a:off x="9840883" y="4004113"/>
              <a:ext cx="1663708" cy="910764"/>
              <a:chOff x="8720139" y="4004113"/>
              <a:chExt cx="1663708" cy="910764"/>
            </a:xfrm>
          </p:grpSpPr>
          <p:pic>
            <p:nvPicPr>
              <p:cNvPr id="62" name="図 61">
                <a:extLst>
                  <a:ext uri="{FF2B5EF4-FFF2-40B4-BE49-F238E27FC236}">
                    <a16:creationId xmlns:a16="http://schemas.microsoft.com/office/drawing/2014/main" id="{D72B5E48-B859-002E-FABE-E6596A1BEC30}"/>
                  </a:ext>
                </a:extLst>
              </p:cNvPr>
              <p:cNvPicPr>
                <a:picLocks noChangeAspect="1"/>
              </p:cNvPicPr>
              <p:nvPr/>
            </p:nvPicPr>
            <p:blipFill>
              <a:blip r:embed="rId3">
                <a:duotone>
                  <a:prstClr val="black"/>
                  <a:schemeClr val="accent3">
                    <a:lumMod val="60000"/>
                    <a:lumOff val="40000"/>
                    <a:tint val="45000"/>
                    <a:satMod val="400000"/>
                  </a:schemeClr>
                </a:duotone>
                <a:alphaModFix amt="70000"/>
              </a:blip>
              <a:srcRect l="-486" r="7299"/>
              <a:stretch>
                <a:fillRect/>
              </a:stretch>
            </p:blipFill>
            <p:spPr>
              <a:xfrm>
                <a:off x="8720139" y="4004113"/>
                <a:ext cx="1545430" cy="908383"/>
              </a:xfrm>
              <a:prstGeom prst="rect">
                <a:avLst/>
              </a:prstGeom>
            </p:spPr>
          </p:pic>
          <p:pic>
            <p:nvPicPr>
              <p:cNvPr id="63" name="図 62">
                <a:extLst>
                  <a:ext uri="{FF2B5EF4-FFF2-40B4-BE49-F238E27FC236}">
                    <a16:creationId xmlns:a16="http://schemas.microsoft.com/office/drawing/2014/main" id="{AB1AB279-C9FA-A513-EB3B-73303B0893B2}"/>
                  </a:ext>
                </a:extLst>
              </p:cNvPr>
              <p:cNvPicPr>
                <a:picLocks noChangeAspect="1"/>
              </p:cNvPicPr>
              <p:nvPr/>
            </p:nvPicPr>
            <p:blipFill>
              <a:blip r:embed="rId4"/>
              <a:srcRect l="92086" r="-176"/>
              <a:stretch>
                <a:fillRect/>
              </a:stretch>
            </p:blipFill>
            <p:spPr>
              <a:xfrm>
                <a:off x="10249725" y="4006494"/>
                <a:ext cx="134122" cy="908383"/>
              </a:xfrm>
              <a:prstGeom prst="rect">
                <a:avLst/>
              </a:prstGeom>
            </p:spPr>
          </p:pic>
        </p:grpSp>
      </p:grpSp>
      <p:sp>
        <p:nvSpPr>
          <p:cNvPr id="68" name="テキスト ボックス 67">
            <a:extLst>
              <a:ext uri="{FF2B5EF4-FFF2-40B4-BE49-F238E27FC236}">
                <a16:creationId xmlns:a16="http://schemas.microsoft.com/office/drawing/2014/main" id="{E4717B48-2A3B-A0D0-BFEB-FB72ED98B961}"/>
              </a:ext>
            </a:extLst>
          </p:cNvPr>
          <p:cNvSpPr txBox="1"/>
          <p:nvPr/>
        </p:nvSpPr>
        <p:spPr>
          <a:xfrm>
            <a:off x="2882409" y="5306580"/>
            <a:ext cx="3299301" cy="936025"/>
          </a:xfrm>
          <a:prstGeom prst="rect">
            <a:avLst/>
          </a:prstGeom>
          <a:noFill/>
        </p:spPr>
        <p:txBody>
          <a:bodyPr wrap="none" rtlCol="0">
            <a:spAutoFit/>
          </a:bodyPr>
          <a:lstStyle/>
          <a:p>
            <a:pPr algn="ctr">
              <a:lnSpc>
                <a:spcPct val="120000"/>
              </a:lnSpc>
              <a:spcAft>
                <a:spcPts val="1200"/>
              </a:spcAft>
            </a:pPr>
            <a:r>
              <a:rPr kumimoji="1" lang="ja-JP" altLang="en-US" sz="2400" dirty="0">
                <a:latin typeface="Segoe UI" panose="020B0502040204020203" pitchFamily="34" charset="0"/>
                <a:ea typeface="Meiryo UI" panose="020B0604030504040204" pitchFamily="50" charset="-128"/>
              </a:rPr>
              <a:t>入力波形</a:t>
            </a:r>
            <a:br>
              <a:rPr kumimoji="1" lang="en-US" altLang="ja-JP" sz="2400" dirty="0">
                <a:latin typeface="Segoe UI" panose="020B0502040204020203" pitchFamily="34" charset="0"/>
                <a:ea typeface="Meiryo UI" panose="020B0604030504040204" pitchFamily="50" charset="-128"/>
              </a:rPr>
            </a:br>
            <a:r>
              <a:rPr kumimoji="1" lang="ja-JP" altLang="en-US" sz="2400" dirty="0">
                <a:latin typeface="Segoe UI" panose="020B0502040204020203" pitchFamily="34" charset="0"/>
                <a:ea typeface="Meiryo UI" panose="020B0604030504040204" pitchFamily="50" charset="-128"/>
              </a:rPr>
              <a:t>（直前</a:t>
            </a:r>
            <a:r>
              <a:rPr kumimoji="1" lang="en-US" altLang="ja-JP" sz="2400" dirty="0">
                <a:latin typeface="Segoe UI" panose="020B0502040204020203" pitchFamily="34" charset="0"/>
                <a:ea typeface="Meiryo UI" panose="020B0604030504040204" pitchFamily="50" charset="-128"/>
              </a:rPr>
              <a:t>4.0</a:t>
            </a:r>
            <a:r>
              <a:rPr kumimoji="1" lang="ja-JP" altLang="en-US" sz="2400" dirty="0">
                <a:latin typeface="Segoe UI" panose="020B0502040204020203" pitchFamily="34" charset="0"/>
                <a:ea typeface="Meiryo UI" panose="020B0604030504040204" pitchFamily="50" charset="-128"/>
              </a:rPr>
              <a:t>秒間</a:t>
            </a:r>
            <a:r>
              <a:rPr lang="ja-JP" altLang="en-US" sz="2400" dirty="0">
                <a:latin typeface="Segoe UI" panose="020B0502040204020203" pitchFamily="34" charset="0"/>
                <a:ea typeface="Meiryo UI" panose="020B0604030504040204" pitchFamily="50" charset="-128"/>
              </a:rPr>
              <a:t>の</a:t>
            </a:r>
            <a:r>
              <a:rPr kumimoji="1" lang="ja-JP" altLang="en-US" sz="2400" dirty="0">
                <a:latin typeface="Segoe UI" panose="020B0502040204020203" pitchFamily="34" charset="0"/>
                <a:ea typeface="Meiryo UI" panose="020B0604030504040204" pitchFamily="50" charset="-128"/>
              </a:rPr>
              <a:t>波形）</a:t>
            </a:r>
          </a:p>
        </p:txBody>
      </p:sp>
      <p:grpSp>
        <p:nvGrpSpPr>
          <p:cNvPr id="102" name="グループ化 101">
            <a:extLst>
              <a:ext uri="{FF2B5EF4-FFF2-40B4-BE49-F238E27FC236}">
                <a16:creationId xmlns:a16="http://schemas.microsoft.com/office/drawing/2014/main" id="{00CE6919-00C5-7B52-9F81-3C8178BCD602}"/>
              </a:ext>
            </a:extLst>
          </p:cNvPr>
          <p:cNvGrpSpPr/>
          <p:nvPr/>
        </p:nvGrpSpPr>
        <p:grpSpPr>
          <a:xfrm>
            <a:off x="3670283" y="4234070"/>
            <a:ext cx="1723549" cy="1039221"/>
            <a:chOff x="3624811" y="4155094"/>
            <a:chExt cx="1723549" cy="1039221"/>
          </a:xfrm>
        </p:grpSpPr>
        <p:grpSp>
          <p:nvGrpSpPr>
            <p:cNvPr id="65" name="グループ化 64">
              <a:extLst>
                <a:ext uri="{FF2B5EF4-FFF2-40B4-BE49-F238E27FC236}">
                  <a16:creationId xmlns:a16="http://schemas.microsoft.com/office/drawing/2014/main" id="{75D3CE4B-7841-832D-84E9-4E1F0A63CE4F}"/>
                </a:ext>
              </a:extLst>
            </p:cNvPr>
            <p:cNvGrpSpPr/>
            <p:nvPr/>
          </p:nvGrpSpPr>
          <p:grpSpPr>
            <a:xfrm>
              <a:off x="3904191" y="4155094"/>
              <a:ext cx="1164788" cy="1039221"/>
              <a:chOff x="3874868" y="3268300"/>
              <a:chExt cx="1001932" cy="893921"/>
            </a:xfrm>
          </p:grpSpPr>
          <p:sp>
            <p:nvSpPr>
              <p:cNvPr id="9" name="正方形/長方形 8">
                <a:extLst>
                  <a:ext uri="{FF2B5EF4-FFF2-40B4-BE49-F238E27FC236}">
                    <a16:creationId xmlns:a16="http://schemas.microsoft.com/office/drawing/2014/main" id="{EC132683-FE49-E111-8348-0B16DF749041}"/>
                  </a:ext>
                </a:extLst>
              </p:cNvPr>
              <p:cNvSpPr/>
              <p:nvPr/>
            </p:nvSpPr>
            <p:spPr>
              <a:xfrm>
                <a:off x="3874868" y="3268300"/>
                <a:ext cx="996284" cy="893921"/>
              </a:xfrm>
              <a:prstGeom prst="rect">
                <a:avLst/>
              </a:prstGeom>
              <a:solidFill>
                <a:schemeClr val="bg1"/>
              </a:solidFill>
              <a:ln w="381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pic>
            <p:nvPicPr>
              <p:cNvPr id="31" name="図 30">
                <a:extLst>
                  <a:ext uri="{FF2B5EF4-FFF2-40B4-BE49-F238E27FC236}">
                    <a16:creationId xmlns:a16="http://schemas.microsoft.com/office/drawing/2014/main" id="{528D3096-BD0F-66A2-58D9-2062AF9E5074}"/>
                  </a:ext>
                </a:extLst>
              </p:cNvPr>
              <p:cNvPicPr>
                <a:picLocks noChangeAspect="1"/>
              </p:cNvPicPr>
              <p:nvPr/>
            </p:nvPicPr>
            <p:blipFill>
              <a:blip r:embed="rId3">
                <a:alphaModFix amt="70000"/>
              </a:blip>
              <a:srcRect l="14525" r="11820"/>
              <a:stretch>
                <a:fillRect/>
              </a:stretch>
            </p:blipFill>
            <p:spPr>
              <a:xfrm>
                <a:off x="3876675" y="3343381"/>
                <a:ext cx="1000125" cy="743760"/>
              </a:xfrm>
              <a:prstGeom prst="rect">
                <a:avLst/>
              </a:prstGeom>
            </p:spPr>
          </p:pic>
          <p:sp>
            <p:nvSpPr>
              <p:cNvPr id="12" name="正方形/長方形 11">
                <a:extLst>
                  <a:ext uri="{FF2B5EF4-FFF2-40B4-BE49-F238E27FC236}">
                    <a16:creationId xmlns:a16="http://schemas.microsoft.com/office/drawing/2014/main" id="{05697D68-1A15-88E4-9D2A-D311CC2C1997}"/>
                  </a:ext>
                </a:extLst>
              </p:cNvPr>
              <p:cNvSpPr/>
              <p:nvPr/>
            </p:nvSpPr>
            <p:spPr>
              <a:xfrm>
                <a:off x="3874868" y="3268300"/>
                <a:ext cx="996284" cy="893921"/>
              </a:xfrm>
              <a:prstGeom prst="rect">
                <a:avLst/>
              </a:prstGeom>
              <a:noFill/>
              <a:ln w="381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grpSp>
        <p:sp>
          <p:nvSpPr>
            <p:cNvPr id="64" name="テキスト ボックス 63">
              <a:extLst>
                <a:ext uri="{FF2B5EF4-FFF2-40B4-BE49-F238E27FC236}">
                  <a16:creationId xmlns:a16="http://schemas.microsoft.com/office/drawing/2014/main" id="{682FC3B1-B920-C89A-13BF-140968B640C6}"/>
                </a:ext>
              </a:extLst>
            </p:cNvPr>
            <p:cNvSpPr txBox="1"/>
            <p:nvPr/>
          </p:nvSpPr>
          <p:spPr>
            <a:xfrm>
              <a:off x="3624811" y="4428292"/>
              <a:ext cx="1723549" cy="492827"/>
            </a:xfrm>
            <a:prstGeom prst="rect">
              <a:avLst/>
            </a:prstGeom>
            <a:noFill/>
          </p:spPr>
          <p:txBody>
            <a:bodyPr wrap="none" rtlCol="0">
              <a:spAutoFit/>
            </a:bodyPr>
            <a:lstStyle/>
            <a:p>
              <a:pPr algn="ctr">
                <a:lnSpc>
                  <a:spcPct val="120000"/>
                </a:lnSpc>
                <a:spcBef>
                  <a:spcPts val="1200"/>
                </a:spcBef>
                <a:buClr>
                  <a:schemeClr val="tx1"/>
                </a:buClr>
              </a:pPr>
              <a:r>
                <a:rPr kumimoji="1" lang="ja-JP" altLang="en-US" sz="2400" dirty="0">
                  <a:effectLst>
                    <a:glow rad="127000">
                      <a:schemeClr val="bg1"/>
                    </a:glow>
                  </a:effectLst>
                  <a:latin typeface="Segoe UI" panose="020B0502040204020203" pitchFamily="34" charset="0"/>
                  <a:ea typeface="Meiryo UI" panose="020B0604030504040204" pitchFamily="50" charset="-128"/>
                </a:rPr>
                <a:t>一次微分値</a:t>
              </a:r>
            </a:p>
          </p:txBody>
        </p:sp>
      </p:grpSp>
      <p:grpSp>
        <p:nvGrpSpPr>
          <p:cNvPr id="101" name="グループ化 100">
            <a:extLst>
              <a:ext uri="{FF2B5EF4-FFF2-40B4-BE49-F238E27FC236}">
                <a16:creationId xmlns:a16="http://schemas.microsoft.com/office/drawing/2014/main" id="{60B023A3-89D2-B9D1-888E-A6695A88AC84}"/>
              </a:ext>
            </a:extLst>
          </p:cNvPr>
          <p:cNvGrpSpPr/>
          <p:nvPr/>
        </p:nvGrpSpPr>
        <p:grpSpPr>
          <a:xfrm>
            <a:off x="3670283" y="3119678"/>
            <a:ext cx="1723549" cy="1039220"/>
            <a:chOff x="3624811" y="3040702"/>
            <a:chExt cx="1723549" cy="1039220"/>
          </a:xfrm>
        </p:grpSpPr>
        <p:grpSp>
          <p:nvGrpSpPr>
            <p:cNvPr id="66" name="グループ化 65">
              <a:extLst>
                <a:ext uri="{FF2B5EF4-FFF2-40B4-BE49-F238E27FC236}">
                  <a16:creationId xmlns:a16="http://schemas.microsoft.com/office/drawing/2014/main" id="{CEBB81FE-D030-E188-E6A4-DE5F3977CA5B}"/>
                </a:ext>
              </a:extLst>
            </p:cNvPr>
            <p:cNvGrpSpPr/>
            <p:nvPr/>
          </p:nvGrpSpPr>
          <p:grpSpPr>
            <a:xfrm>
              <a:off x="3901894" y="3040702"/>
              <a:ext cx="1169382" cy="1039220"/>
              <a:chOff x="3874294" y="4322400"/>
              <a:chExt cx="1005884" cy="893921"/>
            </a:xfrm>
          </p:grpSpPr>
          <p:sp>
            <p:nvSpPr>
              <p:cNvPr id="32" name="正方形/長方形 31">
                <a:extLst>
                  <a:ext uri="{FF2B5EF4-FFF2-40B4-BE49-F238E27FC236}">
                    <a16:creationId xmlns:a16="http://schemas.microsoft.com/office/drawing/2014/main" id="{24428F0D-7347-AE8C-1AE5-501B5CB25767}"/>
                  </a:ext>
                </a:extLst>
              </p:cNvPr>
              <p:cNvSpPr/>
              <p:nvPr/>
            </p:nvSpPr>
            <p:spPr>
              <a:xfrm>
                <a:off x="3874868" y="4322400"/>
                <a:ext cx="996284" cy="893921"/>
              </a:xfrm>
              <a:prstGeom prst="rect">
                <a:avLst/>
              </a:prstGeom>
              <a:solidFill>
                <a:schemeClr val="bg1"/>
              </a:solidFill>
              <a:ln w="381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pic>
            <p:nvPicPr>
              <p:cNvPr id="25" name="図 24">
                <a:extLst>
                  <a:ext uri="{FF2B5EF4-FFF2-40B4-BE49-F238E27FC236}">
                    <a16:creationId xmlns:a16="http://schemas.microsoft.com/office/drawing/2014/main" id="{8B979E0D-8919-1FDD-A9E7-7C28A0726E58}"/>
                  </a:ext>
                </a:extLst>
              </p:cNvPr>
              <p:cNvPicPr>
                <a:picLocks noChangeAspect="1"/>
              </p:cNvPicPr>
              <p:nvPr/>
            </p:nvPicPr>
            <p:blipFill>
              <a:blip r:embed="rId3">
                <a:alphaModFix amt="70000"/>
              </a:blip>
              <a:srcRect l="25925" r="-4"/>
              <a:stretch>
                <a:fillRect/>
              </a:stretch>
            </p:blipFill>
            <p:spPr>
              <a:xfrm>
                <a:off x="3874294" y="4397481"/>
                <a:ext cx="1005884" cy="743760"/>
              </a:xfrm>
              <a:prstGeom prst="rect">
                <a:avLst/>
              </a:prstGeom>
            </p:spPr>
          </p:pic>
          <p:sp>
            <p:nvSpPr>
              <p:cNvPr id="24" name="正方形/長方形 23">
                <a:extLst>
                  <a:ext uri="{FF2B5EF4-FFF2-40B4-BE49-F238E27FC236}">
                    <a16:creationId xmlns:a16="http://schemas.microsoft.com/office/drawing/2014/main" id="{D6C69A10-A05E-7B53-27F8-0AA8B19E4D13}"/>
                  </a:ext>
                </a:extLst>
              </p:cNvPr>
              <p:cNvSpPr/>
              <p:nvPr/>
            </p:nvSpPr>
            <p:spPr>
              <a:xfrm>
                <a:off x="3874868" y="4322400"/>
                <a:ext cx="996284" cy="893921"/>
              </a:xfrm>
              <a:prstGeom prst="rect">
                <a:avLst/>
              </a:prstGeom>
              <a:noFill/>
              <a:ln w="381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grpSp>
        <p:sp>
          <p:nvSpPr>
            <p:cNvPr id="74" name="テキスト ボックス 73">
              <a:extLst>
                <a:ext uri="{FF2B5EF4-FFF2-40B4-BE49-F238E27FC236}">
                  <a16:creationId xmlns:a16="http://schemas.microsoft.com/office/drawing/2014/main" id="{9E2D0F3C-2BFC-3F99-7E0F-0B096EB43EE1}"/>
                </a:ext>
              </a:extLst>
            </p:cNvPr>
            <p:cNvSpPr txBox="1"/>
            <p:nvPr/>
          </p:nvSpPr>
          <p:spPr>
            <a:xfrm>
              <a:off x="3624811" y="3313900"/>
              <a:ext cx="1723549" cy="492827"/>
            </a:xfrm>
            <a:prstGeom prst="rect">
              <a:avLst/>
            </a:prstGeom>
            <a:noFill/>
          </p:spPr>
          <p:txBody>
            <a:bodyPr wrap="none" rtlCol="0">
              <a:spAutoFit/>
            </a:bodyPr>
            <a:lstStyle/>
            <a:p>
              <a:pPr algn="ctr">
                <a:lnSpc>
                  <a:spcPct val="120000"/>
                </a:lnSpc>
                <a:spcBef>
                  <a:spcPts val="1200"/>
                </a:spcBef>
                <a:buClr>
                  <a:schemeClr val="tx1"/>
                </a:buClr>
              </a:pPr>
              <a:r>
                <a:rPr kumimoji="1" lang="ja-JP" altLang="en-US" sz="2400" dirty="0">
                  <a:effectLst>
                    <a:glow rad="127000">
                      <a:schemeClr val="bg1"/>
                    </a:glow>
                  </a:effectLst>
                  <a:latin typeface="Segoe UI" panose="020B0502040204020203" pitchFamily="34" charset="0"/>
                  <a:ea typeface="Meiryo UI" panose="020B0604030504040204" pitchFamily="50" charset="-128"/>
                </a:rPr>
                <a:t>胸部圧迫力</a:t>
              </a:r>
            </a:p>
          </p:txBody>
        </p:sp>
      </p:grpSp>
      <p:cxnSp>
        <p:nvCxnSpPr>
          <p:cNvPr id="60" name="直線矢印コネクタ 59">
            <a:extLst>
              <a:ext uri="{FF2B5EF4-FFF2-40B4-BE49-F238E27FC236}">
                <a16:creationId xmlns:a16="http://schemas.microsoft.com/office/drawing/2014/main" id="{8CE1FA0C-FC89-A2D2-0F35-4D75926F97A2}"/>
              </a:ext>
            </a:extLst>
          </p:cNvPr>
          <p:cNvCxnSpPr>
            <a:cxnSpLocks/>
            <a:stCxn id="6" idx="2"/>
          </p:cNvCxnSpPr>
          <p:nvPr/>
        </p:nvCxnSpPr>
        <p:spPr>
          <a:xfrm flipH="1">
            <a:off x="11394868" y="3319827"/>
            <a:ext cx="1" cy="847002"/>
          </a:xfrm>
          <a:prstGeom prst="straightConnector1">
            <a:avLst/>
          </a:prstGeom>
          <a:ln w="38100">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cxnSp>
        <p:nvCxnSpPr>
          <p:cNvPr id="121" name="直線矢印コネクタ 120">
            <a:extLst>
              <a:ext uri="{FF2B5EF4-FFF2-40B4-BE49-F238E27FC236}">
                <a16:creationId xmlns:a16="http://schemas.microsoft.com/office/drawing/2014/main" id="{44094D29-45F7-BB86-DAB1-F4F6F623DA8F}"/>
              </a:ext>
            </a:extLst>
          </p:cNvPr>
          <p:cNvCxnSpPr>
            <a:cxnSpLocks/>
            <a:stCxn id="229" idx="2"/>
          </p:cNvCxnSpPr>
          <p:nvPr/>
        </p:nvCxnSpPr>
        <p:spPr>
          <a:xfrm>
            <a:off x="2085621" y="3541426"/>
            <a:ext cx="0" cy="625403"/>
          </a:xfrm>
          <a:prstGeom prst="straightConnector1">
            <a:avLst/>
          </a:prstGeom>
          <a:ln w="38100">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073583BC-EEA9-2C1A-184B-BF41CF6BDD26}"/>
              </a:ext>
            </a:extLst>
          </p:cNvPr>
          <p:cNvSpPr txBox="1"/>
          <p:nvPr/>
        </p:nvSpPr>
        <p:spPr>
          <a:xfrm>
            <a:off x="8609619" y="418136"/>
            <a:ext cx="2457916" cy="360420"/>
          </a:xfrm>
          <a:prstGeom prst="rect">
            <a:avLst/>
          </a:prstGeom>
          <a:noFill/>
        </p:spPr>
        <p:txBody>
          <a:bodyPr wrap="none" rtlCol="0">
            <a:spAutoFit/>
          </a:bodyPr>
          <a:lstStyle/>
          <a:p>
            <a:pPr lvl="0">
              <a:lnSpc>
                <a:spcPct val="120000"/>
              </a:lnSpc>
              <a:spcAft>
                <a:spcPts val="1200"/>
              </a:spcAft>
              <a:defRPr/>
            </a:pPr>
            <a:r>
              <a:rPr lang="da-DK" altLang="zh-TW" sz="1600" dirty="0">
                <a:latin typeface="Segoe UI" panose="020B0502040204020203" pitchFamily="34" charset="0"/>
                <a:ea typeface="Meiryo UI" panose="020B0604030504040204" pitchFamily="50" charset="-128"/>
              </a:rPr>
              <a:t>[3] Bai et al., TPAMI, 2021</a:t>
            </a:r>
          </a:p>
        </p:txBody>
      </p:sp>
    </p:spTree>
    <p:extLst>
      <p:ext uri="{BB962C8B-B14F-4D97-AF65-F5344CB8AC3E}">
        <p14:creationId xmlns:p14="http://schemas.microsoft.com/office/powerpoint/2010/main" val="1641338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2"/>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29"/>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19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4E367-6224-0C4B-CBD7-DD81AB629A81}"/>
            </a:ext>
          </a:extLst>
        </p:cNvPr>
        <p:cNvGrpSpPr/>
        <p:nvPr/>
      </p:nvGrpSpPr>
      <p:grpSpPr>
        <a:xfrm>
          <a:off x="0" y="0"/>
          <a:ext cx="0" cy="0"/>
          <a:chOff x="0" y="0"/>
          <a:chExt cx="0" cy="0"/>
        </a:xfrm>
      </p:grpSpPr>
      <p:sp>
        <p:nvSpPr>
          <p:cNvPr id="27" name="スライド番号プレースホルダー 26">
            <a:extLst>
              <a:ext uri="{FF2B5EF4-FFF2-40B4-BE49-F238E27FC236}">
                <a16:creationId xmlns:a16="http://schemas.microsoft.com/office/drawing/2014/main" id="{05A33E14-0B7B-DDEF-E17C-1D7E750FB17D}"/>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7</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1ECDD03A-52C1-DDEF-1D61-F1201DCC1368}"/>
              </a:ext>
            </a:extLst>
          </p:cNvPr>
          <p:cNvSpPr>
            <a:spLocks noGrp="1"/>
          </p:cNvSpPr>
          <p:nvPr>
            <p:ph type="title"/>
          </p:nvPr>
        </p:nvSpPr>
        <p:spPr/>
        <p:txBody>
          <a:bodyPr>
            <a:normAutofit/>
          </a:bodyPr>
          <a:lstStyle/>
          <a:p>
            <a:r>
              <a:rPr lang="ja-JP" altLang="en-US" dirty="0"/>
              <a:t>呼吸状態判別実験｜概要</a:t>
            </a:r>
            <a:endParaRPr kumimoji="1" lang="ja-JP" altLang="en-US" dirty="0"/>
          </a:p>
        </p:txBody>
      </p:sp>
      <p:sp>
        <p:nvSpPr>
          <p:cNvPr id="2" name="TextBox 7">
            <a:extLst>
              <a:ext uri="{FF2B5EF4-FFF2-40B4-BE49-F238E27FC236}">
                <a16:creationId xmlns:a16="http://schemas.microsoft.com/office/drawing/2014/main" id="{A809F12B-21D4-A4AB-C52C-68133A8D0886}"/>
              </a:ext>
            </a:extLst>
          </p:cNvPr>
          <p:cNvSpPr txBox="1"/>
          <p:nvPr/>
        </p:nvSpPr>
        <p:spPr>
          <a:xfrm>
            <a:off x="215030" y="827371"/>
            <a:ext cx="1415772"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実験目的</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25" name="テキスト ボックス 24">
            <a:extLst>
              <a:ext uri="{FF2B5EF4-FFF2-40B4-BE49-F238E27FC236}">
                <a16:creationId xmlns:a16="http://schemas.microsoft.com/office/drawing/2014/main" id="{4CB9A40B-C53E-25C6-A081-CBD785290603}"/>
              </a:ext>
            </a:extLst>
          </p:cNvPr>
          <p:cNvSpPr txBox="1"/>
          <p:nvPr/>
        </p:nvSpPr>
        <p:spPr>
          <a:xfrm>
            <a:off x="215030" y="1241978"/>
            <a:ext cx="10543848" cy="492827"/>
          </a:xfrm>
          <a:prstGeom prst="rect">
            <a:avLst/>
          </a:prstGeom>
          <a:noFill/>
        </p:spPr>
        <p:txBody>
          <a:bodyPr wrap="none">
            <a:spAutoFit/>
          </a:bodyPr>
          <a:lstStyle/>
          <a:p>
            <a:pPr lvl="0">
              <a:lnSpc>
                <a:spcPct val="120000"/>
              </a:lnSpc>
              <a:spcAft>
                <a:spcPts val="1200"/>
              </a:spcAft>
              <a:defRPr/>
            </a:pPr>
            <a:r>
              <a:rPr lang="ja-JP" altLang="en-US" sz="2400" dirty="0">
                <a:latin typeface="Segoe UI" panose="020B0502040204020203" pitchFamily="34" charset="0"/>
                <a:ea typeface="Meiryo UI" panose="020B0604030504040204" pitchFamily="50" charset="-128"/>
              </a:rPr>
              <a:t>閾値および深層学習（</a:t>
            </a:r>
            <a:r>
              <a:rPr lang="en-US" altLang="ja-JP" sz="2400" dirty="0">
                <a:latin typeface="Segoe UI" panose="020B0502040204020203" pitchFamily="34" charset="0"/>
                <a:ea typeface="Meiryo UI" panose="020B0604030504040204" pitchFamily="50" charset="-128"/>
              </a:rPr>
              <a:t>TCN</a:t>
            </a:r>
            <a:r>
              <a:rPr lang="ja-JP" altLang="en-US" sz="2400" dirty="0">
                <a:latin typeface="Segoe UI" panose="020B0502040204020203" pitchFamily="34" charset="0"/>
                <a:ea typeface="Meiryo UI" panose="020B0604030504040204" pitchFamily="50" charset="-128"/>
              </a:rPr>
              <a:t>）を用いた呼吸状態判別の精度および推論速度の比較</a:t>
            </a:r>
            <a:endParaRPr lang="en-US" altLang="ja-JP" sz="2400" dirty="0">
              <a:solidFill>
                <a:prstClr val="black"/>
              </a:solidFill>
              <a:latin typeface="Segoe UI" panose="020B0502040204020203" pitchFamily="34" charset="0"/>
              <a:ea typeface="Meiryo UI" panose="020B0604030504040204" pitchFamily="50" charset="-128"/>
            </a:endParaRPr>
          </a:p>
        </p:txBody>
      </p:sp>
      <p:graphicFrame>
        <p:nvGraphicFramePr>
          <p:cNvPr id="9" name="表 8">
            <a:extLst>
              <a:ext uri="{FF2B5EF4-FFF2-40B4-BE49-F238E27FC236}">
                <a16:creationId xmlns:a16="http://schemas.microsoft.com/office/drawing/2014/main" id="{4B890393-7433-C293-3FCB-661DE20E93AA}"/>
              </a:ext>
            </a:extLst>
          </p:cNvPr>
          <p:cNvGraphicFramePr>
            <a:graphicFrameLocks noGrp="1"/>
          </p:cNvGraphicFramePr>
          <p:nvPr>
            <p:extLst>
              <p:ext uri="{D42A27DB-BD31-4B8C-83A1-F6EECF244321}">
                <p14:modId xmlns:p14="http://schemas.microsoft.com/office/powerpoint/2010/main" val="723136552"/>
              </p:ext>
            </p:extLst>
          </p:nvPr>
        </p:nvGraphicFramePr>
        <p:xfrm>
          <a:off x="415608" y="3487950"/>
          <a:ext cx="11360785" cy="1605375"/>
        </p:xfrm>
        <a:graphic>
          <a:graphicData uri="http://schemas.openxmlformats.org/drawingml/2006/table">
            <a:tbl>
              <a:tblPr firstRow="1" bandRow="1">
                <a:tableStyleId>{5C22544A-7EE6-4342-B048-85BDC9FD1C3A}</a:tableStyleId>
              </a:tblPr>
              <a:tblGrid>
                <a:gridCol w="3446780">
                  <a:extLst>
                    <a:ext uri="{9D8B030D-6E8A-4147-A177-3AD203B41FA5}">
                      <a16:colId xmlns:a16="http://schemas.microsoft.com/office/drawing/2014/main" val="2920579830"/>
                    </a:ext>
                  </a:extLst>
                </a:gridCol>
                <a:gridCol w="7914005">
                  <a:extLst>
                    <a:ext uri="{9D8B030D-6E8A-4147-A177-3AD203B41FA5}">
                      <a16:colId xmlns:a16="http://schemas.microsoft.com/office/drawing/2014/main" val="2113837506"/>
                    </a:ext>
                  </a:extLst>
                </a:gridCol>
              </a:tblGrid>
              <a:tr h="535125">
                <a:tc>
                  <a:txBody>
                    <a:bodyPr/>
                    <a:lstStyle/>
                    <a:p>
                      <a:pPr algn="ctr">
                        <a:lnSpc>
                          <a:spcPct val="120000"/>
                        </a:lnSpc>
                      </a:pPr>
                      <a:endParaRPr kumimoji="1" lang="ja-JP" altLang="en-US"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spcAft>
                          <a:spcPts val="1200"/>
                        </a:spcAft>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説明</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6075831"/>
                  </a:ext>
                </a:extLst>
              </a:tr>
              <a:tr h="535125">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呼吸時間指定データセット</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spcAft>
                          <a:spcPts val="1200"/>
                        </a:spcAft>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メトロノームを用いて，</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1</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呼吸の時間を</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0.8</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 </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 </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4.0</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秒の範囲で指定</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8947851"/>
                  </a:ext>
                </a:extLst>
              </a:tr>
              <a:tr h="535125">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息止め含有データセット</a:t>
                      </a: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通常呼吸中に</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5</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秒間の息止めを含む</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9610402"/>
                  </a:ext>
                </a:extLst>
              </a:tr>
            </a:tbl>
          </a:graphicData>
        </a:graphic>
      </p:graphicFrame>
      <p:grpSp>
        <p:nvGrpSpPr>
          <p:cNvPr id="18" name="グループ化 17">
            <a:extLst>
              <a:ext uri="{FF2B5EF4-FFF2-40B4-BE49-F238E27FC236}">
                <a16:creationId xmlns:a16="http://schemas.microsoft.com/office/drawing/2014/main" id="{DAC26D0D-2142-09A3-BED9-EA9DE91865EA}"/>
              </a:ext>
            </a:extLst>
          </p:cNvPr>
          <p:cNvGrpSpPr/>
          <p:nvPr/>
        </p:nvGrpSpPr>
        <p:grpSpPr>
          <a:xfrm>
            <a:off x="215030" y="5790313"/>
            <a:ext cx="9348137" cy="907434"/>
            <a:chOff x="215030" y="5364255"/>
            <a:chExt cx="9348137" cy="907434"/>
          </a:xfrm>
        </p:grpSpPr>
        <p:sp>
          <p:nvSpPr>
            <p:cNvPr id="11" name="TextBox 7">
              <a:extLst>
                <a:ext uri="{FF2B5EF4-FFF2-40B4-BE49-F238E27FC236}">
                  <a16:creationId xmlns:a16="http://schemas.microsoft.com/office/drawing/2014/main" id="{C7B998BB-D2E6-B98F-F02E-71D6B86434A5}"/>
                </a:ext>
              </a:extLst>
            </p:cNvPr>
            <p:cNvSpPr txBox="1"/>
            <p:nvPr/>
          </p:nvSpPr>
          <p:spPr>
            <a:xfrm>
              <a:off x="215030" y="5364255"/>
              <a:ext cx="2954655"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判別精度の評価方法</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10" name="TextBox 7">
              <a:extLst>
                <a:ext uri="{FF2B5EF4-FFF2-40B4-BE49-F238E27FC236}">
                  <a16:creationId xmlns:a16="http://schemas.microsoft.com/office/drawing/2014/main" id="{330B7E70-1825-AFD2-9797-B321F132858D}"/>
                </a:ext>
              </a:extLst>
            </p:cNvPr>
            <p:cNvSpPr txBox="1"/>
            <p:nvPr/>
          </p:nvSpPr>
          <p:spPr>
            <a:xfrm>
              <a:off x="215030" y="5778862"/>
              <a:ext cx="9348137" cy="492827"/>
            </a:xfrm>
            <a:prstGeom prst="rect">
              <a:avLst/>
            </a:prstGeom>
            <a:noFill/>
          </p:spPr>
          <p:txBody>
            <a:bodyPr wrap="none" rtlCol="0">
              <a:spAutoFit/>
            </a:bodyPr>
            <a:lstStyle/>
            <a:p>
              <a:pPr>
                <a:lnSpc>
                  <a:spcPct val="120000"/>
                </a:lnSpc>
              </a:pPr>
              <a:r>
                <a:rPr lang="en-US" altLang="ja-JP" sz="2400" dirty="0">
                  <a:latin typeface="Segoe UI" panose="020B0502040204020203" pitchFamily="34" charset="0"/>
                  <a:ea typeface="Meiryo UI" panose="020B0604030504040204" pitchFamily="50" charset="-128"/>
                </a:rPr>
                <a:t>10-fold LOPO*</a:t>
              </a:r>
              <a:r>
                <a:rPr lang="ja-JP" altLang="en-US" sz="2400" dirty="0">
                  <a:latin typeface="Segoe UI" panose="020B0502040204020203" pitchFamily="34" charset="0"/>
                  <a:ea typeface="Meiryo UI" panose="020B0604030504040204" pitchFamily="50" charset="-128"/>
                </a:rPr>
                <a:t>交差検証を用いて，正解率およびマクロ</a:t>
              </a:r>
              <a:r>
                <a:rPr lang="en-US" altLang="ja-JP" sz="2400" dirty="0">
                  <a:latin typeface="Segoe UI" panose="020B0502040204020203" pitchFamily="34" charset="0"/>
                  <a:ea typeface="Meiryo UI" panose="020B0604030504040204" pitchFamily="50" charset="-128"/>
                </a:rPr>
                <a:t>F1</a:t>
              </a:r>
              <a:r>
                <a:rPr lang="ja-JP" altLang="en-US" sz="2400" dirty="0">
                  <a:latin typeface="Segoe UI" panose="020B0502040204020203" pitchFamily="34" charset="0"/>
                  <a:ea typeface="Meiryo UI" panose="020B0604030504040204" pitchFamily="50" charset="-128"/>
                </a:rPr>
                <a:t>スコアにより評価</a:t>
              </a:r>
              <a:endParaRPr lang="en-JP" altLang="ja-JP" sz="2400" u="sng" dirty="0">
                <a:solidFill>
                  <a:sysClr val="windowText" lastClr="000000"/>
                </a:solidFill>
                <a:latin typeface="Segoe UI" panose="020B0502040204020203" pitchFamily="34" charset="0"/>
                <a:ea typeface="Meiryo UI" panose="020B0604030504040204" pitchFamily="50" charset="-128"/>
              </a:endParaRPr>
            </a:p>
          </p:txBody>
        </p:sp>
      </p:grpSp>
      <p:grpSp>
        <p:nvGrpSpPr>
          <p:cNvPr id="5" name="グループ化 4">
            <a:extLst>
              <a:ext uri="{FF2B5EF4-FFF2-40B4-BE49-F238E27FC236}">
                <a16:creationId xmlns:a16="http://schemas.microsoft.com/office/drawing/2014/main" id="{D3EE652D-8560-710E-B058-30828F173DA3}"/>
              </a:ext>
            </a:extLst>
          </p:cNvPr>
          <p:cNvGrpSpPr/>
          <p:nvPr/>
        </p:nvGrpSpPr>
        <p:grpSpPr>
          <a:xfrm>
            <a:off x="215030" y="2431794"/>
            <a:ext cx="8602035" cy="907434"/>
            <a:chOff x="215030" y="2281273"/>
            <a:chExt cx="8602035" cy="907434"/>
          </a:xfrm>
        </p:grpSpPr>
        <p:sp>
          <p:nvSpPr>
            <p:cNvPr id="7" name="TextBox 7">
              <a:extLst>
                <a:ext uri="{FF2B5EF4-FFF2-40B4-BE49-F238E27FC236}">
                  <a16:creationId xmlns:a16="http://schemas.microsoft.com/office/drawing/2014/main" id="{0FD6CACE-62CF-4795-F366-FEBA5D5B438C}"/>
                </a:ext>
              </a:extLst>
            </p:cNvPr>
            <p:cNvSpPr txBox="1"/>
            <p:nvPr/>
          </p:nvSpPr>
          <p:spPr>
            <a:xfrm>
              <a:off x="215030" y="2281273"/>
              <a:ext cx="1675459"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データセット</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8" name="テキスト ボックス 7">
              <a:extLst>
                <a:ext uri="{FF2B5EF4-FFF2-40B4-BE49-F238E27FC236}">
                  <a16:creationId xmlns:a16="http://schemas.microsoft.com/office/drawing/2014/main" id="{818726CA-B4D1-F641-70F2-86D16F3AADC3}"/>
                </a:ext>
              </a:extLst>
            </p:cNvPr>
            <p:cNvSpPr txBox="1"/>
            <p:nvPr/>
          </p:nvSpPr>
          <p:spPr>
            <a:xfrm>
              <a:off x="215030" y="2695880"/>
              <a:ext cx="8602035" cy="492827"/>
            </a:xfrm>
            <a:prstGeom prst="rect">
              <a:avLst/>
            </a:prstGeom>
            <a:noFill/>
          </p:spPr>
          <p:txBody>
            <a:bodyPr wrap="none">
              <a:spAutoFit/>
            </a:bodyPr>
            <a:lstStyle/>
            <a:p>
              <a:pPr lvl="0">
                <a:lnSpc>
                  <a:spcPct val="120000"/>
                </a:lnSpc>
                <a:spcAft>
                  <a:spcPts val="1200"/>
                </a:spcAft>
                <a:defRPr/>
              </a:pPr>
              <a:r>
                <a:rPr lang="ja-JP" altLang="en-US" sz="2400" dirty="0">
                  <a:latin typeface="Segoe UI" panose="020B0502040204020203" pitchFamily="34" charset="0"/>
                  <a:ea typeface="Meiryo UI" panose="020B0604030504040204" pitchFamily="50" charset="-128"/>
                </a:rPr>
                <a:t>被験者</a:t>
              </a:r>
              <a:r>
                <a:rPr lang="en-US" altLang="ja-JP" sz="2400" dirty="0">
                  <a:latin typeface="Segoe UI" panose="020B0502040204020203" pitchFamily="34" charset="0"/>
                  <a:ea typeface="Meiryo UI" panose="020B0604030504040204" pitchFamily="50" charset="-128"/>
                </a:rPr>
                <a:t>10</a:t>
              </a:r>
              <a:r>
                <a:rPr lang="ja-JP" altLang="en-US" sz="2400" dirty="0">
                  <a:latin typeface="Segoe UI" panose="020B0502040204020203" pitchFamily="34" charset="0"/>
                  <a:ea typeface="Meiryo UI" panose="020B0604030504040204" pitchFamily="50" charset="-128"/>
                </a:rPr>
                <a:t>名（女性：</a:t>
              </a:r>
              <a:r>
                <a:rPr lang="en-US" altLang="ja-JP" sz="2400" dirty="0">
                  <a:latin typeface="Segoe UI" panose="020B0502040204020203" pitchFamily="34" charset="0"/>
                  <a:ea typeface="Meiryo UI" panose="020B0604030504040204" pitchFamily="50" charset="-128"/>
                </a:rPr>
                <a:t>3</a:t>
              </a:r>
              <a:r>
                <a:rPr lang="ja-JP" altLang="en-US" sz="2400" dirty="0">
                  <a:latin typeface="Segoe UI" panose="020B0502040204020203" pitchFamily="34" charset="0"/>
                  <a:ea typeface="Meiryo UI" panose="020B0604030504040204" pitchFamily="50" charset="-128"/>
                </a:rPr>
                <a:t>名）を対象に，</a:t>
              </a:r>
              <a:r>
                <a:rPr lang="en-US" altLang="ja-JP" sz="2400" dirty="0">
                  <a:latin typeface="Segoe UI" panose="020B0502040204020203" pitchFamily="34" charset="0"/>
                  <a:ea typeface="Meiryo UI" panose="020B0604030504040204" pitchFamily="50" charset="-128"/>
                </a:rPr>
                <a:t>2</a:t>
              </a:r>
              <a:r>
                <a:rPr lang="ja-JP" altLang="en-US" sz="2400" dirty="0">
                  <a:latin typeface="Segoe UI" panose="020B0502040204020203" pitchFamily="34" charset="0"/>
                  <a:ea typeface="Meiryo UI" panose="020B0604030504040204" pitchFamily="50" charset="-128"/>
                </a:rPr>
                <a:t>種類のデータセットを収集</a:t>
              </a:r>
              <a:endParaRPr lang="en-US" altLang="ja-JP" sz="2400" dirty="0">
                <a:solidFill>
                  <a:prstClr val="black"/>
                </a:solidFill>
                <a:latin typeface="Segoe UI" panose="020B0502040204020203" pitchFamily="34" charset="0"/>
                <a:ea typeface="Meiryo UI" panose="020B0604030504040204" pitchFamily="50" charset="-128"/>
              </a:endParaRPr>
            </a:p>
          </p:txBody>
        </p:sp>
      </p:grpSp>
      <p:sp>
        <p:nvSpPr>
          <p:cNvPr id="24" name="テキスト ボックス 23">
            <a:extLst>
              <a:ext uri="{FF2B5EF4-FFF2-40B4-BE49-F238E27FC236}">
                <a16:creationId xmlns:a16="http://schemas.microsoft.com/office/drawing/2014/main" id="{7D858F41-944B-4E1C-262B-92485A2967F7}"/>
              </a:ext>
            </a:extLst>
          </p:cNvPr>
          <p:cNvSpPr txBox="1"/>
          <p:nvPr/>
        </p:nvSpPr>
        <p:spPr>
          <a:xfrm>
            <a:off x="8720226" y="418136"/>
            <a:ext cx="2347309" cy="360420"/>
          </a:xfrm>
          <a:prstGeom prst="rect">
            <a:avLst/>
          </a:prstGeom>
          <a:noFill/>
        </p:spPr>
        <p:txBody>
          <a:bodyPr wrap="none" rtlCol="0">
            <a:spAutoFit/>
          </a:bodyPr>
          <a:lstStyle/>
          <a:p>
            <a:pPr lvl="0">
              <a:lnSpc>
                <a:spcPct val="120000"/>
              </a:lnSpc>
              <a:spcAft>
                <a:spcPts val="1200"/>
              </a:spcAft>
              <a:defRPr/>
            </a:pPr>
            <a:r>
              <a:rPr lang="en-US" altLang="zh-TW" sz="1600" dirty="0">
                <a:latin typeface="Segoe UI" panose="020B0502040204020203" pitchFamily="34" charset="0"/>
                <a:ea typeface="Meiryo UI" panose="020B0604030504040204" pitchFamily="50" charset="-128"/>
              </a:rPr>
              <a:t>* Leave One Patient Out</a:t>
            </a:r>
          </a:p>
        </p:txBody>
      </p:sp>
    </p:spTree>
    <p:extLst>
      <p:ext uri="{BB962C8B-B14F-4D97-AF65-F5344CB8AC3E}">
        <p14:creationId xmlns:p14="http://schemas.microsoft.com/office/powerpoint/2010/main" val="1607353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36F0C-F9AC-4594-87C7-74C9CEA3AE50}"/>
            </a:ext>
          </a:extLst>
        </p:cNvPr>
        <p:cNvGrpSpPr/>
        <p:nvPr/>
      </p:nvGrpSpPr>
      <p:grpSpPr>
        <a:xfrm>
          <a:off x="0" y="0"/>
          <a:ext cx="0" cy="0"/>
          <a:chOff x="0" y="0"/>
          <a:chExt cx="0" cy="0"/>
        </a:xfrm>
      </p:grpSpPr>
      <p:sp>
        <p:nvSpPr>
          <p:cNvPr id="27" name="スライド番号プレースホルダー 26">
            <a:extLst>
              <a:ext uri="{FF2B5EF4-FFF2-40B4-BE49-F238E27FC236}">
                <a16:creationId xmlns:a16="http://schemas.microsoft.com/office/drawing/2014/main" id="{FEE79F6D-F07C-2DBA-F3DF-A8C6F9EC733C}"/>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8</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9B40DC14-6D5A-593A-2F2A-84271F21E52B}"/>
              </a:ext>
            </a:extLst>
          </p:cNvPr>
          <p:cNvSpPr>
            <a:spLocks noGrp="1"/>
          </p:cNvSpPr>
          <p:nvPr>
            <p:ph type="title"/>
          </p:nvPr>
        </p:nvSpPr>
        <p:spPr/>
        <p:txBody>
          <a:bodyPr>
            <a:normAutofit/>
          </a:bodyPr>
          <a:lstStyle/>
          <a:p>
            <a:r>
              <a:rPr lang="ja-JP" altLang="en-US" dirty="0"/>
              <a:t>呼吸状態判別実験｜結果</a:t>
            </a:r>
            <a:endParaRPr kumimoji="1" lang="ja-JP" altLang="en-US" dirty="0"/>
          </a:p>
        </p:txBody>
      </p:sp>
      <p:graphicFrame>
        <p:nvGraphicFramePr>
          <p:cNvPr id="6" name="表 5">
            <a:extLst>
              <a:ext uri="{FF2B5EF4-FFF2-40B4-BE49-F238E27FC236}">
                <a16:creationId xmlns:a16="http://schemas.microsoft.com/office/drawing/2014/main" id="{53A99180-C778-72E8-0DD1-45AC47A4CF26}"/>
              </a:ext>
            </a:extLst>
          </p:cNvPr>
          <p:cNvGraphicFramePr>
            <a:graphicFrameLocks noGrp="1"/>
          </p:cNvGraphicFramePr>
          <p:nvPr>
            <p:extLst>
              <p:ext uri="{D42A27DB-BD31-4B8C-83A1-F6EECF244321}">
                <p14:modId xmlns:p14="http://schemas.microsoft.com/office/powerpoint/2010/main" val="4161774264"/>
              </p:ext>
            </p:extLst>
          </p:nvPr>
        </p:nvGraphicFramePr>
        <p:xfrm>
          <a:off x="2207777" y="1327918"/>
          <a:ext cx="7776446" cy="2869433"/>
        </p:xfrm>
        <a:graphic>
          <a:graphicData uri="http://schemas.openxmlformats.org/drawingml/2006/table">
            <a:tbl>
              <a:tblPr firstRow="1" bandRow="1">
                <a:tableStyleId>{5C22544A-7EE6-4342-B048-85BDC9FD1C3A}</a:tableStyleId>
              </a:tblPr>
              <a:tblGrid>
                <a:gridCol w="2662572">
                  <a:extLst>
                    <a:ext uri="{9D8B030D-6E8A-4147-A177-3AD203B41FA5}">
                      <a16:colId xmlns:a16="http://schemas.microsoft.com/office/drawing/2014/main" val="2514526844"/>
                    </a:ext>
                  </a:extLst>
                </a:gridCol>
                <a:gridCol w="2479709">
                  <a:extLst>
                    <a:ext uri="{9D8B030D-6E8A-4147-A177-3AD203B41FA5}">
                      <a16:colId xmlns:a16="http://schemas.microsoft.com/office/drawing/2014/main" val="3473382385"/>
                    </a:ext>
                  </a:extLst>
                </a:gridCol>
                <a:gridCol w="2634165">
                  <a:extLst>
                    <a:ext uri="{9D8B030D-6E8A-4147-A177-3AD203B41FA5}">
                      <a16:colId xmlns:a16="http://schemas.microsoft.com/office/drawing/2014/main" val="3035085465"/>
                    </a:ext>
                  </a:extLst>
                </a:gridCol>
              </a:tblGrid>
              <a:tr h="608002">
                <a:tc>
                  <a:txBody>
                    <a:bodyPr/>
                    <a:lstStyle/>
                    <a:p>
                      <a:pPr algn="ctr">
                        <a:lnSpc>
                          <a:spcPct val="120000"/>
                        </a:lnSpc>
                      </a:pPr>
                      <a:endParaRPr kumimoji="1" lang="ja-JP" altLang="en-US"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閾値</a:t>
                      </a:r>
                      <a:endParaRPr kumimoji="1" lang="en-US" altLang="ja-JP"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0" baseline="0" dirty="0">
                          <a:solidFill>
                            <a:schemeClr val="tx1"/>
                          </a:solidFill>
                          <a:latin typeface="Segoe UI" panose="020B0502040204020203" pitchFamily="34" charset="0"/>
                          <a:ea typeface="Meiryo UI" panose="020B0604030504040204" pitchFamily="50" charset="-128"/>
                        </a:rPr>
                        <a:t>TCN</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566873"/>
                  </a:ext>
                </a:extLst>
              </a:tr>
              <a:tr h="608002">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正解率</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0.817 ± 0.033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20000"/>
                        </a:lnSpc>
                      </a:pPr>
                      <a:r>
                        <a:rPr kumimoji="1" lang="en-US" altLang="ja-JP" sz="2400" b="1" baseline="0" dirty="0">
                          <a:solidFill>
                            <a:srgbClr val="C00000"/>
                          </a:solidFill>
                          <a:latin typeface="Segoe UI" panose="020B0502040204020203" pitchFamily="34" charset="0"/>
                          <a:ea typeface="Meiryo UI" panose="020B0604030504040204" pitchFamily="50" charset="-128"/>
                        </a:rPr>
                        <a:t>0.907 ± 0.028</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2908142"/>
                  </a:ext>
                </a:extLst>
              </a:tr>
              <a:tr h="608002">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マクロ</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F1</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スコア</a:t>
                      </a: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0.681 ± 0.053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20000"/>
                        </a:lnSpc>
                      </a:pPr>
                      <a:r>
                        <a:rPr kumimoji="1" lang="en-US" altLang="ja-JP" sz="2400" b="1" baseline="0" dirty="0">
                          <a:solidFill>
                            <a:srgbClr val="C00000"/>
                          </a:solidFill>
                          <a:latin typeface="Segoe UI" panose="020B0502040204020203" pitchFamily="34" charset="0"/>
                          <a:ea typeface="Meiryo UI" panose="020B0604030504040204" pitchFamily="50" charset="-128"/>
                        </a:rPr>
                        <a:t>0.856 ± 0.048</a:t>
                      </a:r>
                    </a:p>
                  </a:txBody>
                  <a:tcPr anchor="ctr">
                    <a:lnL w="12700" cap="flat" cmpd="sng" algn="ctr">
                      <a:solidFill>
                        <a:schemeClr val="tx1"/>
                      </a:solid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8071606"/>
                  </a:ext>
                </a:extLst>
              </a:tr>
              <a:tr h="1045427">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平均判別速度</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a:t>
                      </a:r>
                      <a:br>
                        <a:rPr kumimoji="1" lang="en-US" altLang="ja-JP" sz="2400" b="0" baseline="0" dirty="0">
                          <a:solidFill>
                            <a:sysClr val="windowText" lastClr="000000"/>
                          </a:solidFill>
                          <a:latin typeface="Segoe UI" panose="020B0502040204020203" pitchFamily="34" charset="0"/>
                          <a:ea typeface="Meiryo UI" panose="020B0604030504040204" pitchFamily="50" charset="-128"/>
                        </a:rPr>
                      </a:b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秒</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サンプル</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a:t>
                      </a:r>
                      <a:endParaRPr kumimoji="1" lang="ja-JP" altLang="en-US"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1" baseline="0" dirty="0">
                          <a:solidFill>
                            <a:srgbClr val="C00000"/>
                          </a:solidFill>
                          <a:latin typeface="Segoe UI" panose="020B0502040204020203" pitchFamily="34" charset="0"/>
                          <a:ea typeface="Meiryo UI" panose="020B0604030504040204" pitchFamily="50" charset="-128"/>
                        </a:rPr>
                        <a:t>9.8×10</a:t>
                      </a:r>
                      <a:r>
                        <a:rPr kumimoji="1" lang="en-US" altLang="ja-JP" sz="2400" b="1" baseline="30000" dirty="0">
                          <a:solidFill>
                            <a:srgbClr val="C00000"/>
                          </a:solidFill>
                          <a:latin typeface="Segoe UI" panose="020B0502040204020203" pitchFamily="34" charset="0"/>
                          <a:ea typeface="Meiryo UI" panose="020B0604030504040204" pitchFamily="50" charset="-128"/>
                        </a:rPr>
                        <a:t>-7</a:t>
                      </a:r>
                      <a:endParaRPr kumimoji="1" lang="en-US" altLang="ja-JP" sz="2400" b="1" baseline="0" dirty="0">
                        <a:solidFill>
                          <a:srgbClr val="C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20000"/>
                        </a:lnSpc>
                      </a:pPr>
                      <a:r>
                        <a:rPr kumimoji="1" lang="en-US" altLang="ja-JP" sz="2400" b="0" baseline="0" dirty="0">
                          <a:solidFill>
                            <a:schemeClr val="tx1"/>
                          </a:solidFill>
                          <a:latin typeface="Segoe UI" panose="020B0502040204020203" pitchFamily="34" charset="0"/>
                          <a:ea typeface="Meiryo UI" panose="020B0604030504040204" pitchFamily="50" charset="-128"/>
                        </a:rPr>
                        <a:t>1.1×10</a:t>
                      </a:r>
                      <a:r>
                        <a:rPr kumimoji="1" lang="en-US" altLang="ja-JP" sz="2400" b="0" baseline="30000" dirty="0">
                          <a:solidFill>
                            <a:schemeClr val="tx1"/>
                          </a:solidFill>
                          <a:latin typeface="Segoe UI" panose="020B0502040204020203" pitchFamily="34" charset="0"/>
                          <a:ea typeface="Meiryo UI" panose="020B0604030504040204" pitchFamily="50" charset="-128"/>
                        </a:rPr>
                        <a:t>-3</a:t>
                      </a: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99758229"/>
                  </a:ext>
                </a:extLst>
              </a:tr>
            </a:tbl>
          </a:graphicData>
        </a:graphic>
      </p:graphicFrame>
      <p:sp>
        <p:nvSpPr>
          <p:cNvPr id="56" name="テキスト ボックス 55">
            <a:extLst>
              <a:ext uri="{FF2B5EF4-FFF2-40B4-BE49-F238E27FC236}">
                <a16:creationId xmlns:a16="http://schemas.microsoft.com/office/drawing/2014/main" id="{2B880067-9358-D263-1AF8-325E4D7DC045}"/>
              </a:ext>
            </a:extLst>
          </p:cNvPr>
          <p:cNvSpPr txBox="1"/>
          <p:nvPr/>
        </p:nvSpPr>
        <p:spPr>
          <a:xfrm>
            <a:off x="3246090" y="928972"/>
            <a:ext cx="5699830"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LOPO</a:t>
            </a:r>
            <a:r>
              <a:rPr kumimoji="1" lang="ja-JP" altLang="en-US" sz="2000" dirty="0">
                <a:latin typeface="Segoe UI" panose="020B0502040204020203" pitchFamily="34" charset="0"/>
                <a:ea typeface="Meiryo UI" panose="020B0604030504040204" pitchFamily="50" charset="-128"/>
              </a:rPr>
              <a:t>交差検証における結果（平均値</a:t>
            </a:r>
            <a:r>
              <a:rPr kumimoji="1" lang="en-US" altLang="ja-JP" sz="2000" dirty="0">
                <a:latin typeface="Segoe UI" panose="020B0502040204020203" pitchFamily="34" charset="0"/>
                <a:ea typeface="Meiryo UI" panose="020B0604030504040204" pitchFamily="50" charset="-128"/>
              </a:rPr>
              <a:t>±</a:t>
            </a:r>
            <a:r>
              <a:rPr kumimoji="1" lang="ja-JP" altLang="en-US" sz="2000" dirty="0">
                <a:latin typeface="Segoe UI" panose="020B0502040204020203" pitchFamily="34" charset="0"/>
                <a:ea typeface="Meiryo UI" panose="020B0604030504040204" pitchFamily="50" charset="-128"/>
              </a:rPr>
              <a:t>標準偏差）</a:t>
            </a:r>
            <a:endParaRPr lang="en-US" altLang="ja-JP" sz="2000" dirty="0">
              <a:latin typeface="Segoe UI" panose="020B0502040204020203" pitchFamily="34" charset="0"/>
              <a:ea typeface="Meiryo UI" panose="020B0604030504040204" pitchFamily="50" charset="-128"/>
            </a:endParaRPr>
          </a:p>
        </p:txBody>
      </p:sp>
      <p:sp>
        <p:nvSpPr>
          <p:cNvPr id="58" name="テキスト ボックス 57">
            <a:extLst>
              <a:ext uri="{FF2B5EF4-FFF2-40B4-BE49-F238E27FC236}">
                <a16:creationId xmlns:a16="http://schemas.microsoft.com/office/drawing/2014/main" id="{14B9CF2A-6FBB-B6F6-8808-1660AEA13299}"/>
              </a:ext>
            </a:extLst>
          </p:cNvPr>
          <p:cNvSpPr txBox="1"/>
          <p:nvPr/>
        </p:nvSpPr>
        <p:spPr>
          <a:xfrm>
            <a:off x="1131051" y="4646095"/>
            <a:ext cx="9929898" cy="2053447"/>
          </a:xfrm>
          <a:prstGeom prst="rect">
            <a:avLst/>
          </a:prstGeom>
          <a:noFill/>
        </p:spPr>
        <p:txBody>
          <a:bodyPr wrap="none">
            <a:spAutoFit/>
          </a:bodyPr>
          <a:lstStyle/>
          <a:p>
            <a:pPr marL="342900" lvl="0" indent="-342900">
              <a:lnSpc>
                <a:spcPct val="120000"/>
              </a:lnSpc>
              <a:spcAft>
                <a:spcPts val="1800"/>
              </a:spcAft>
              <a:buFont typeface="Arial" panose="020B0604020202020204" pitchFamily="34" charset="0"/>
              <a:buChar char="•"/>
              <a:defRPr/>
            </a:pPr>
            <a:r>
              <a:rPr lang="en-US" altLang="ja-JP" sz="2400" dirty="0">
                <a:latin typeface="Segoe UI" panose="020B0502040204020203" pitchFamily="34" charset="0"/>
                <a:ea typeface="Meiryo UI" panose="020B0604030504040204" pitchFamily="50" charset="-128"/>
              </a:rPr>
              <a:t>TCN</a:t>
            </a:r>
            <a:r>
              <a:rPr lang="ja-JP" altLang="en-US" sz="2400" dirty="0">
                <a:latin typeface="Segoe UI" panose="020B0502040204020203" pitchFamily="34" charset="0"/>
                <a:ea typeface="Meiryo UI" panose="020B0604030504040204" pitchFamily="50" charset="-128"/>
              </a:rPr>
              <a:t>を用いた判別は全被験者で高い精度を達成</a:t>
            </a:r>
            <a:br>
              <a:rPr lang="en-US" altLang="ja-JP" sz="2400" dirty="0">
                <a:latin typeface="Segoe UI" panose="020B0502040204020203" pitchFamily="34" charset="0"/>
                <a:ea typeface="Meiryo UI" panose="020B0604030504040204" pitchFamily="50" charset="-128"/>
              </a:rPr>
            </a:br>
            <a:r>
              <a:rPr lang="ja-JP" altLang="en-US" sz="2400" dirty="0">
                <a:latin typeface="Segoe UI" panose="020B0502040204020203" pitchFamily="34" charset="0"/>
                <a:ea typeface="Meiryo UI" panose="020B0604030504040204" pitchFamily="50" charset="-128"/>
              </a:rPr>
              <a:t>⇒ </a:t>
            </a:r>
            <a:r>
              <a:rPr lang="en-US" altLang="ja-JP" sz="2400" dirty="0">
                <a:latin typeface="Segoe UI" panose="020B0502040204020203" pitchFamily="34" charset="0"/>
                <a:ea typeface="Meiryo UI" panose="020B0604030504040204" pitchFamily="50" charset="-128"/>
              </a:rPr>
              <a:t>TCN</a:t>
            </a:r>
            <a:r>
              <a:rPr lang="ja-JP" altLang="en-US" sz="2400" dirty="0">
                <a:latin typeface="Segoe UI" panose="020B0502040204020203" pitchFamily="34" charset="0"/>
                <a:ea typeface="Meiryo UI" panose="020B0604030504040204" pitchFamily="50" charset="-128"/>
              </a:rPr>
              <a:t>により，入力波形の時間変化を考慮した判別が可能であることを示唆</a:t>
            </a:r>
            <a:endParaRPr lang="en-US" altLang="ja-JP" sz="2400" dirty="0">
              <a:latin typeface="Segoe UI" panose="020B0502040204020203" pitchFamily="34" charset="0"/>
              <a:ea typeface="Meiryo UI" panose="020B0604030504040204" pitchFamily="50" charset="-128"/>
            </a:endParaRPr>
          </a:p>
          <a:p>
            <a:pPr marL="342900" lvl="0" indent="-342900">
              <a:lnSpc>
                <a:spcPct val="120000"/>
              </a:lnSpc>
              <a:spcAft>
                <a:spcPts val="1800"/>
              </a:spcAft>
              <a:buFont typeface="Arial" panose="020B0604020202020204" pitchFamily="34" charset="0"/>
              <a:buChar char="•"/>
              <a:defRPr/>
            </a:pPr>
            <a:r>
              <a:rPr lang="ja-JP" altLang="en-US" sz="2400" dirty="0">
                <a:latin typeface="Segoe UI" panose="020B0502040204020203" pitchFamily="34" charset="0"/>
                <a:ea typeface="Meiryo UI" panose="020B0604030504040204" pitchFamily="50" charset="-128"/>
              </a:rPr>
              <a:t>両手法で判別速度は平均呼吸時間（</a:t>
            </a:r>
            <a:r>
              <a:rPr lang="en-US" altLang="ja-JP" sz="2400" dirty="0">
                <a:latin typeface="Segoe UI" panose="020B0502040204020203" pitchFamily="34" charset="0"/>
                <a:ea typeface="Meiryo UI" panose="020B0604030504040204" pitchFamily="50" charset="-128"/>
              </a:rPr>
              <a:t>2.39</a:t>
            </a:r>
            <a:r>
              <a:rPr lang="ja-JP" altLang="en-US" sz="2400" dirty="0">
                <a:latin typeface="Segoe UI" panose="020B0502040204020203" pitchFamily="34" charset="0"/>
                <a:ea typeface="Meiryo UI" panose="020B0604030504040204" pitchFamily="50" charset="-128"/>
              </a:rPr>
              <a:t>秒）</a:t>
            </a:r>
            <a:r>
              <a:rPr lang="en-US" altLang="ja-JP" sz="2400" dirty="0">
                <a:latin typeface="Segoe UI" panose="020B0502040204020203" pitchFamily="34" charset="0"/>
                <a:ea typeface="Meiryo UI" panose="020B0604030504040204" pitchFamily="50" charset="-128"/>
              </a:rPr>
              <a:t>**</a:t>
            </a:r>
            <a:r>
              <a:rPr lang="ja-JP" altLang="en-US" sz="2400" dirty="0">
                <a:latin typeface="Segoe UI" panose="020B0502040204020203" pitchFamily="34" charset="0"/>
                <a:ea typeface="Meiryo UI" panose="020B0604030504040204" pitchFamily="50" charset="-128"/>
              </a:rPr>
              <a:t>に対して十分短い</a:t>
            </a:r>
            <a:br>
              <a:rPr lang="en-US" altLang="ja-JP" sz="2400" dirty="0">
                <a:latin typeface="Segoe UI" panose="020B0502040204020203" pitchFamily="34" charset="0"/>
                <a:ea typeface="Meiryo UI" panose="020B0604030504040204" pitchFamily="50" charset="-128"/>
              </a:rPr>
            </a:br>
            <a:r>
              <a:rPr lang="ja-JP" altLang="en-US" sz="2400" dirty="0">
                <a:latin typeface="Segoe UI" panose="020B0502040204020203" pitchFamily="34" charset="0"/>
                <a:ea typeface="Meiryo UI" panose="020B0604030504040204" pitchFamily="50" charset="-128"/>
              </a:rPr>
              <a:t>⇒ リアルタイム判別が可能</a:t>
            </a:r>
            <a:endParaRPr lang="en-US" altLang="ja-JP" sz="2400" dirty="0">
              <a:latin typeface="Segoe UI" panose="020B0502040204020203" pitchFamily="34" charset="0"/>
              <a:ea typeface="Meiryo UI" panose="020B0604030504040204" pitchFamily="50" charset="-128"/>
            </a:endParaRPr>
          </a:p>
        </p:txBody>
      </p:sp>
      <p:grpSp>
        <p:nvGrpSpPr>
          <p:cNvPr id="9" name="グループ化 8">
            <a:extLst>
              <a:ext uri="{FF2B5EF4-FFF2-40B4-BE49-F238E27FC236}">
                <a16:creationId xmlns:a16="http://schemas.microsoft.com/office/drawing/2014/main" id="{438F1B14-E630-D85C-932E-28A0BB419CC8}"/>
              </a:ext>
            </a:extLst>
          </p:cNvPr>
          <p:cNvGrpSpPr/>
          <p:nvPr/>
        </p:nvGrpSpPr>
        <p:grpSpPr>
          <a:xfrm>
            <a:off x="6825668" y="185681"/>
            <a:ext cx="4241867" cy="591784"/>
            <a:chOff x="6930967" y="185681"/>
            <a:chExt cx="4241867" cy="591784"/>
          </a:xfrm>
        </p:grpSpPr>
        <p:sp>
          <p:nvSpPr>
            <p:cNvPr id="48" name="テキスト ボックス 47">
              <a:extLst>
                <a:ext uri="{FF2B5EF4-FFF2-40B4-BE49-F238E27FC236}">
                  <a16:creationId xmlns:a16="http://schemas.microsoft.com/office/drawing/2014/main" id="{7C8D0FD5-9294-B16B-5EE5-369B7B4EABE7}"/>
                </a:ext>
              </a:extLst>
            </p:cNvPr>
            <p:cNvSpPr txBox="1"/>
            <p:nvPr/>
          </p:nvSpPr>
          <p:spPr>
            <a:xfrm>
              <a:off x="6930967" y="418136"/>
              <a:ext cx="4241867" cy="359329"/>
            </a:xfrm>
            <a:prstGeom prst="rect">
              <a:avLst/>
            </a:prstGeom>
            <a:noFill/>
          </p:spPr>
          <p:txBody>
            <a:bodyPr wrap="none" rtlCol="0">
              <a:spAutoFit/>
            </a:bodyPr>
            <a:lstStyle/>
            <a:p>
              <a:pPr lvl="0">
                <a:lnSpc>
                  <a:spcPct val="120000"/>
                </a:lnSpc>
                <a:spcAft>
                  <a:spcPts val="1200"/>
                </a:spcAft>
                <a:defRPr/>
              </a:pPr>
              <a:r>
                <a:rPr lang="en-US" altLang="ja-JP" sz="1600" dirty="0">
                  <a:latin typeface="Segoe UI" panose="020B0502040204020203" pitchFamily="34" charset="0"/>
                  <a:ea typeface="Meiryo UI" panose="020B0604030504040204" pitchFamily="50" charset="-128"/>
                </a:rPr>
                <a:t>** </a:t>
              </a:r>
              <a:r>
                <a:rPr lang="ja-JP" altLang="en-US" sz="1600" dirty="0">
                  <a:latin typeface="Segoe UI" panose="020B0502040204020203" pitchFamily="34" charset="0"/>
                  <a:ea typeface="Meiryo UI" panose="020B0604030504040204" pitchFamily="50" charset="-128"/>
                </a:rPr>
                <a:t>平均呼吸時間は使用したデータセットから算出</a:t>
              </a:r>
            </a:p>
          </p:txBody>
        </p:sp>
        <p:sp>
          <p:nvSpPr>
            <p:cNvPr id="2" name="テキスト ボックス 1">
              <a:extLst>
                <a:ext uri="{FF2B5EF4-FFF2-40B4-BE49-F238E27FC236}">
                  <a16:creationId xmlns:a16="http://schemas.microsoft.com/office/drawing/2014/main" id="{A04C24A1-F845-FA5F-2BDA-7222A27D569F}"/>
                </a:ext>
              </a:extLst>
            </p:cNvPr>
            <p:cNvSpPr txBox="1"/>
            <p:nvPr/>
          </p:nvSpPr>
          <p:spPr>
            <a:xfrm>
              <a:off x="7014311" y="185681"/>
              <a:ext cx="4053224" cy="359329"/>
            </a:xfrm>
            <a:prstGeom prst="rect">
              <a:avLst/>
            </a:prstGeom>
            <a:noFill/>
          </p:spPr>
          <p:txBody>
            <a:bodyPr wrap="none" rtlCol="0">
              <a:spAutoFit/>
            </a:bodyPr>
            <a:lstStyle/>
            <a:p>
              <a:pPr lvl="0">
                <a:lnSpc>
                  <a:spcPct val="120000"/>
                </a:lnSpc>
                <a:spcAft>
                  <a:spcPts val="1200"/>
                </a:spcAft>
                <a:defRPr/>
              </a:pPr>
              <a:r>
                <a:rPr lang="en-US" altLang="ja-JP" sz="1600" dirty="0">
                  <a:latin typeface="Segoe UI" panose="020B0502040204020203" pitchFamily="34" charset="0"/>
                  <a:ea typeface="Meiryo UI" panose="020B0604030504040204" pitchFamily="50" charset="-128"/>
                </a:rPr>
                <a:t>* CPU</a:t>
              </a:r>
              <a:r>
                <a:rPr lang="ja-JP" altLang="en-US" sz="1600" dirty="0">
                  <a:latin typeface="Segoe UI" panose="020B0502040204020203" pitchFamily="34" charset="0"/>
                  <a:ea typeface="Meiryo UI" panose="020B0604030504040204" pitchFamily="50" charset="-128"/>
                </a:rPr>
                <a:t>：</a:t>
              </a:r>
              <a:r>
                <a:rPr lang="en-US" altLang="ja-JP" sz="1600" dirty="0">
                  <a:latin typeface="Segoe UI" panose="020B0502040204020203" pitchFamily="34" charset="0"/>
                  <a:ea typeface="Meiryo UI" panose="020B0604030504040204" pitchFamily="50" charset="-128"/>
                </a:rPr>
                <a:t>Ryzen </a:t>
              </a:r>
              <a:r>
                <a:rPr lang="en-US" altLang="ja-JP" sz="1600" dirty="0" err="1">
                  <a:latin typeface="Segoe UI" panose="020B0502040204020203" pitchFamily="34" charset="0"/>
                  <a:ea typeface="Meiryo UI" panose="020B0604030504040204" pitchFamily="50" charset="-128"/>
                </a:rPr>
                <a:t>Threadripper</a:t>
              </a:r>
              <a:r>
                <a:rPr lang="en-US" altLang="ja-JP" sz="1600" dirty="0">
                  <a:latin typeface="Segoe UI" panose="020B0502040204020203" pitchFamily="34" charset="0"/>
                  <a:ea typeface="Meiryo UI" panose="020B0604030504040204" pitchFamily="50" charset="-128"/>
                </a:rPr>
                <a:t> 3960X</a:t>
              </a:r>
              <a:r>
                <a:rPr lang="ja-JP" altLang="en-US" sz="1600" dirty="0">
                  <a:latin typeface="Segoe UI" panose="020B0502040204020203" pitchFamily="34" charset="0"/>
                  <a:ea typeface="Meiryo UI" panose="020B0604030504040204" pitchFamily="50" charset="-128"/>
                </a:rPr>
                <a:t>（</a:t>
              </a:r>
              <a:r>
                <a:rPr lang="en-US" altLang="ja-JP" sz="1600" dirty="0">
                  <a:latin typeface="Segoe UI" panose="020B0502040204020203" pitchFamily="34" charset="0"/>
                  <a:ea typeface="Meiryo UI" panose="020B0604030504040204" pitchFamily="50" charset="-128"/>
                </a:rPr>
                <a:t>24C</a:t>
              </a:r>
              <a:r>
                <a:rPr lang="ja-JP" altLang="en-US" sz="1600" dirty="0">
                  <a:latin typeface="Segoe UI" panose="020B0502040204020203" pitchFamily="34" charset="0"/>
                  <a:ea typeface="Meiryo UI" panose="020B0604030504040204" pitchFamily="50" charset="-128"/>
                </a:rPr>
                <a:t>）</a:t>
              </a:r>
            </a:p>
          </p:txBody>
        </p:sp>
      </p:grpSp>
    </p:spTree>
    <p:extLst>
      <p:ext uri="{BB962C8B-B14F-4D97-AF65-F5344CB8AC3E}">
        <p14:creationId xmlns:p14="http://schemas.microsoft.com/office/powerpoint/2010/main" val="469702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2BD2F-E362-1859-9F55-F00D25D5E14F}"/>
            </a:ext>
          </a:extLst>
        </p:cNvPr>
        <p:cNvGrpSpPr/>
        <p:nvPr/>
      </p:nvGrpSpPr>
      <p:grpSpPr>
        <a:xfrm>
          <a:off x="0" y="0"/>
          <a:ext cx="0" cy="0"/>
          <a:chOff x="0" y="0"/>
          <a:chExt cx="0" cy="0"/>
        </a:xfrm>
      </p:grpSpPr>
      <p:sp>
        <p:nvSpPr>
          <p:cNvPr id="27" name="スライド番号プレースホルダー 26">
            <a:extLst>
              <a:ext uri="{FF2B5EF4-FFF2-40B4-BE49-F238E27FC236}">
                <a16:creationId xmlns:a16="http://schemas.microsoft.com/office/drawing/2014/main" id="{936D32DF-9D09-EF04-1B85-A01C4CE9790A}"/>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9</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A198D8DA-CC8E-87E0-4FB3-CCBD5A30E704}"/>
              </a:ext>
            </a:extLst>
          </p:cNvPr>
          <p:cNvSpPr>
            <a:spLocks noGrp="1"/>
          </p:cNvSpPr>
          <p:nvPr>
            <p:ph type="title"/>
          </p:nvPr>
        </p:nvSpPr>
        <p:spPr/>
        <p:txBody>
          <a:bodyPr>
            <a:normAutofit/>
          </a:bodyPr>
          <a:lstStyle/>
          <a:p>
            <a:r>
              <a:rPr lang="ja-JP" altLang="en-US" dirty="0"/>
              <a:t>呼吸状態判別実験｜グラフ結果</a:t>
            </a:r>
            <a:endParaRPr kumimoji="1" lang="ja-JP" altLang="en-US" dirty="0"/>
          </a:p>
        </p:txBody>
      </p:sp>
      <p:grpSp>
        <p:nvGrpSpPr>
          <p:cNvPr id="44" name="グループ化 43">
            <a:extLst>
              <a:ext uri="{FF2B5EF4-FFF2-40B4-BE49-F238E27FC236}">
                <a16:creationId xmlns:a16="http://schemas.microsoft.com/office/drawing/2014/main" id="{318582A4-46DE-FA2D-CA75-C93532ECAAD5}"/>
              </a:ext>
            </a:extLst>
          </p:cNvPr>
          <p:cNvGrpSpPr/>
          <p:nvPr/>
        </p:nvGrpSpPr>
        <p:grpSpPr>
          <a:xfrm>
            <a:off x="7778656" y="827371"/>
            <a:ext cx="4226665" cy="400110"/>
            <a:chOff x="9504516" y="1314450"/>
            <a:chExt cx="4226665" cy="400110"/>
          </a:xfrm>
        </p:grpSpPr>
        <p:grpSp>
          <p:nvGrpSpPr>
            <p:cNvPr id="39" name="グループ化 38">
              <a:extLst>
                <a:ext uri="{FF2B5EF4-FFF2-40B4-BE49-F238E27FC236}">
                  <a16:creationId xmlns:a16="http://schemas.microsoft.com/office/drawing/2014/main" id="{CB946A01-B23D-DBFC-C71E-A905454E75CA}"/>
                </a:ext>
              </a:extLst>
            </p:cNvPr>
            <p:cNvGrpSpPr/>
            <p:nvPr/>
          </p:nvGrpSpPr>
          <p:grpSpPr>
            <a:xfrm>
              <a:off x="9504516" y="1314450"/>
              <a:ext cx="1092496" cy="400110"/>
              <a:chOff x="9504516" y="1314450"/>
              <a:chExt cx="1092496" cy="400110"/>
            </a:xfrm>
          </p:grpSpPr>
          <p:cxnSp>
            <p:nvCxnSpPr>
              <p:cNvPr id="28" name="直線コネクタ 27">
                <a:extLst>
                  <a:ext uri="{FF2B5EF4-FFF2-40B4-BE49-F238E27FC236}">
                    <a16:creationId xmlns:a16="http://schemas.microsoft.com/office/drawing/2014/main" id="{FAB45162-F38D-00B2-6DE7-C2CD6B06C25F}"/>
                  </a:ext>
                </a:extLst>
              </p:cNvPr>
              <p:cNvCxnSpPr>
                <a:cxnSpLocks/>
              </p:cNvCxnSpPr>
              <p:nvPr/>
            </p:nvCxnSpPr>
            <p:spPr>
              <a:xfrm>
                <a:off x="9504516" y="1514505"/>
                <a:ext cx="360000" cy="0"/>
              </a:xfrm>
              <a:prstGeom prst="line">
                <a:avLst/>
              </a:prstGeom>
              <a:ln w="57150">
                <a:solidFill>
                  <a:srgbClr val="FF8D00"/>
                </a:solidFill>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240BF348-75EA-F02E-5D32-3FB0ECB495EC}"/>
                  </a:ext>
                </a:extLst>
              </p:cNvPr>
              <p:cNvSpPr txBox="1"/>
              <p:nvPr/>
            </p:nvSpPr>
            <p:spPr>
              <a:xfrm>
                <a:off x="9899385" y="1314450"/>
                <a:ext cx="697627"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吸気</a:t>
                </a:r>
              </a:p>
            </p:txBody>
          </p:sp>
        </p:grpSp>
        <p:grpSp>
          <p:nvGrpSpPr>
            <p:cNvPr id="43" name="グループ化 42">
              <a:extLst>
                <a:ext uri="{FF2B5EF4-FFF2-40B4-BE49-F238E27FC236}">
                  <a16:creationId xmlns:a16="http://schemas.microsoft.com/office/drawing/2014/main" id="{CFBFB599-6920-812A-1E3C-6C33111C1F94}"/>
                </a:ext>
              </a:extLst>
            </p:cNvPr>
            <p:cNvGrpSpPr/>
            <p:nvPr/>
          </p:nvGrpSpPr>
          <p:grpSpPr>
            <a:xfrm>
              <a:off x="10966604" y="1314450"/>
              <a:ext cx="1092496" cy="400110"/>
              <a:chOff x="10938617" y="1314450"/>
              <a:chExt cx="1092496" cy="400110"/>
            </a:xfrm>
          </p:grpSpPr>
          <p:cxnSp>
            <p:nvCxnSpPr>
              <p:cNvPr id="37" name="直線コネクタ 36">
                <a:extLst>
                  <a:ext uri="{FF2B5EF4-FFF2-40B4-BE49-F238E27FC236}">
                    <a16:creationId xmlns:a16="http://schemas.microsoft.com/office/drawing/2014/main" id="{C17BC793-3036-26F7-F2F4-E60C0B5518F9}"/>
                  </a:ext>
                </a:extLst>
              </p:cNvPr>
              <p:cNvCxnSpPr>
                <a:cxnSpLocks/>
              </p:cNvCxnSpPr>
              <p:nvPr/>
            </p:nvCxnSpPr>
            <p:spPr>
              <a:xfrm>
                <a:off x="10938617" y="1514505"/>
                <a:ext cx="360000" cy="0"/>
              </a:xfrm>
              <a:prstGeom prst="line">
                <a:avLst/>
              </a:prstGeom>
              <a:ln w="57150">
                <a:solidFill>
                  <a:srgbClr val="4B9AE3"/>
                </a:solidFill>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779C2722-3D1A-2245-3706-2EDAC7F8A112}"/>
                  </a:ext>
                </a:extLst>
              </p:cNvPr>
              <p:cNvSpPr txBox="1"/>
              <p:nvPr/>
            </p:nvSpPr>
            <p:spPr>
              <a:xfrm>
                <a:off x="11333486" y="1314450"/>
                <a:ext cx="697627"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呼気</a:t>
                </a:r>
              </a:p>
            </p:txBody>
          </p:sp>
        </p:grpSp>
        <p:grpSp>
          <p:nvGrpSpPr>
            <p:cNvPr id="40" name="グループ化 39">
              <a:extLst>
                <a:ext uri="{FF2B5EF4-FFF2-40B4-BE49-F238E27FC236}">
                  <a16:creationId xmlns:a16="http://schemas.microsoft.com/office/drawing/2014/main" id="{FD392031-2868-B2AF-A6F0-F12DC9F71D41}"/>
                </a:ext>
              </a:extLst>
            </p:cNvPr>
            <p:cNvGrpSpPr/>
            <p:nvPr/>
          </p:nvGrpSpPr>
          <p:grpSpPr>
            <a:xfrm>
              <a:off x="12428691" y="1314450"/>
              <a:ext cx="1302490" cy="400110"/>
              <a:chOff x="9504516" y="1314450"/>
              <a:chExt cx="1302490" cy="400110"/>
            </a:xfrm>
          </p:grpSpPr>
          <p:cxnSp>
            <p:nvCxnSpPr>
              <p:cNvPr id="41" name="直線コネクタ 40">
                <a:extLst>
                  <a:ext uri="{FF2B5EF4-FFF2-40B4-BE49-F238E27FC236}">
                    <a16:creationId xmlns:a16="http://schemas.microsoft.com/office/drawing/2014/main" id="{32ED6124-F213-DB2F-B6FE-CF8E3933E3CE}"/>
                  </a:ext>
                </a:extLst>
              </p:cNvPr>
              <p:cNvCxnSpPr>
                <a:cxnSpLocks/>
              </p:cNvCxnSpPr>
              <p:nvPr/>
            </p:nvCxnSpPr>
            <p:spPr>
              <a:xfrm>
                <a:off x="9504516" y="1514505"/>
                <a:ext cx="3600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0ABC2993-45F0-E322-EAFF-4E508821D564}"/>
                  </a:ext>
                </a:extLst>
              </p:cNvPr>
              <p:cNvSpPr txBox="1"/>
              <p:nvPr/>
            </p:nvSpPr>
            <p:spPr>
              <a:xfrm>
                <a:off x="9899385" y="1314450"/>
                <a:ext cx="907621" cy="400110"/>
              </a:xfrm>
              <a:prstGeom prst="rect">
                <a:avLst/>
              </a:prstGeom>
              <a:noFill/>
            </p:spPr>
            <p:txBody>
              <a:bodyPr wrap="none" rtlCol="0">
                <a:spAutoFit/>
              </a:bodyPr>
              <a:lstStyle/>
              <a:p>
                <a:r>
                  <a:rPr lang="ja-JP" altLang="en-US" sz="2000" dirty="0">
                    <a:latin typeface="Segoe UI" panose="020B0502040204020203" pitchFamily="34" charset="0"/>
                    <a:ea typeface="Meiryo UI" panose="020B0604030504040204" pitchFamily="50" charset="-128"/>
                  </a:rPr>
                  <a:t>息止め</a:t>
                </a:r>
                <a:endParaRPr kumimoji="1" lang="ja-JP" altLang="en-US" sz="2000" dirty="0">
                  <a:latin typeface="Segoe UI" panose="020B0502040204020203" pitchFamily="34" charset="0"/>
                  <a:ea typeface="Meiryo UI" panose="020B0604030504040204" pitchFamily="50" charset="-128"/>
                </a:endParaRPr>
              </a:p>
            </p:txBody>
          </p:sp>
        </p:grpSp>
      </p:grpSp>
      <p:sp>
        <p:nvSpPr>
          <p:cNvPr id="102" name="正方形/長方形 101">
            <a:extLst>
              <a:ext uri="{FF2B5EF4-FFF2-40B4-BE49-F238E27FC236}">
                <a16:creationId xmlns:a16="http://schemas.microsoft.com/office/drawing/2014/main" id="{7A2E102E-F168-D462-1E25-F6ADA0F5E9D3}"/>
              </a:ext>
            </a:extLst>
          </p:cNvPr>
          <p:cNvSpPr/>
          <p:nvPr/>
        </p:nvSpPr>
        <p:spPr>
          <a:xfrm>
            <a:off x="204005" y="1247829"/>
            <a:ext cx="5781675" cy="4328160"/>
          </a:xfrm>
          <a:prstGeom prst="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テキスト ボックス 105">
            <a:extLst>
              <a:ext uri="{FF2B5EF4-FFF2-40B4-BE49-F238E27FC236}">
                <a16:creationId xmlns:a16="http://schemas.microsoft.com/office/drawing/2014/main" id="{8320B52C-78A2-2642-2D29-F5A21F8996BD}"/>
              </a:ext>
            </a:extLst>
          </p:cNvPr>
          <p:cNvSpPr txBox="1"/>
          <p:nvPr/>
        </p:nvSpPr>
        <p:spPr>
          <a:xfrm>
            <a:off x="1055662" y="5149060"/>
            <a:ext cx="4078361" cy="400110"/>
          </a:xfrm>
          <a:prstGeom prst="rect">
            <a:avLst/>
          </a:prstGeom>
          <a:noFill/>
        </p:spPr>
        <p:txBody>
          <a:bodyPr wrap="none" rtlCol="0">
            <a:spAutoFit/>
          </a:bodyPr>
          <a:lstStyle/>
          <a:p>
            <a:pPr algn="ctr"/>
            <a:r>
              <a:rPr lang="ja-JP" altLang="en-US" sz="2000" b="1" dirty="0">
                <a:latin typeface="Segoe UI" panose="020B0502040204020203" pitchFamily="34" charset="0"/>
                <a:ea typeface="Meiryo UI" panose="020B0604030504040204" pitchFamily="50" charset="-128"/>
              </a:rPr>
              <a:t>閾値</a:t>
            </a:r>
            <a:r>
              <a:rPr kumimoji="1" lang="ja-JP" altLang="en-US" sz="2000" dirty="0">
                <a:latin typeface="Segoe UI" panose="020B0502040204020203" pitchFamily="34" charset="0"/>
                <a:ea typeface="Meiryo UI" panose="020B0604030504040204" pitchFamily="50" charset="-128"/>
              </a:rPr>
              <a:t>を用いた呼吸状態判別結果の例</a:t>
            </a:r>
          </a:p>
        </p:txBody>
      </p:sp>
      <p:pic>
        <p:nvPicPr>
          <p:cNvPr id="15" name="図 14" descr="グラフ, 折れ線グラフ&#10;&#10;AI 生成コンテンツは誤りを含む可能性があります。">
            <a:extLst>
              <a:ext uri="{FF2B5EF4-FFF2-40B4-BE49-F238E27FC236}">
                <a16:creationId xmlns:a16="http://schemas.microsoft.com/office/drawing/2014/main" id="{90D79FB5-3BA7-A414-B2EC-4ED9279A818F}"/>
              </a:ext>
            </a:extLst>
          </p:cNvPr>
          <p:cNvPicPr>
            <a:picLocks noChangeAspect="1"/>
          </p:cNvPicPr>
          <p:nvPr/>
        </p:nvPicPr>
        <p:blipFill>
          <a:blip r:embed="rId3"/>
          <a:srcRect l="6670" t="1658" r="14452" b="7292"/>
          <a:stretch>
            <a:fillRect/>
          </a:stretch>
        </p:blipFill>
        <p:spPr>
          <a:xfrm>
            <a:off x="1821434" y="1649587"/>
            <a:ext cx="3968788" cy="3147154"/>
          </a:xfrm>
          <a:prstGeom prst="rect">
            <a:avLst/>
          </a:prstGeom>
        </p:spPr>
      </p:pic>
      <p:sp>
        <p:nvSpPr>
          <p:cNvPr id="92" name="テキスト ボックス 91">
            <a:extLst>
              <a:ext uri="{FF2B5EF4-FFF2-40B4-BE49-F238E27FC236}">
                <a16:creationId xmlns:a16="http://schemas.microsoft.com/office/drawing/2014/main" id="{A3E588A3-270C-5568-AD5C-3AD8D58FF735}"/>
              </a:ext>
            </a:extLst>
          </p:cNvPr>
          <p:cNvSpPr txBox="1"/>
          <p:nvPr/>
        </p:nvSpPr>
        <p:spPr>
          <a:xfrm>
            <a:off x="4743465" y="4764223"/>
            <a:ext cx="1178528"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時間 </a:t>
            </a:r>
            <a:r>
              <a:rPr kumimoji="1" lang="en-US" altLang="ja-JP" sz="2000" dirty="0">
                <a:latin typeface="Segoe UI" panose="020B0502040204020203" pitchFamily="34" charset="0"/>
                <a:ea typeface="Meiryo UI" panose="020B0604030504040204" pitchFamily="50" charset="-128"/>
              </a:rPr>
              <a:t>[</a:t>
            </a:r>
            <a:r>
              <a:rPr kumimoji="1" lang="ja-JP" altLang="en-US" sz="2000" dirty="0">
                <a:latin typeface="Segoe UI" panose="020B0502040204020203" pitchFamily="34" charset="0"/>
                <a:ea typeface="Meiryo UI" panose="020B0604030504040204" pitchFamily="50" charset="-128"/>
              </a:rPr>
              <a:t>秒</a:t>
            </a:r>
            <a:r>
              <a:rPr kumimoji="1" lang="en-US" altLang="ja-JP" sz="2000" dirty="0">
                <a:latin typeface="Segoe UI" panose="020B0502040204020203" pitchFamily="34" charset="0"/>
                <a:ea typeface="Meiryo UI" panose="020B0604030504040204" pitchFamily="50" charset="-128"/>
              </a:rPr>
              <a:t>]</a:t>
            </a:r>
            <a:endParaRPr kumimoji="1" lang="ja-JP" altLang="en-US" sz="2000" dirty="0">
              <a:latin typeface="Segoe UI" panose="020B0502040204020203" pitchFamily="34" charset="0"/>
              <a:ea typeface="Meiryo UI" panose="020B0604030504040204" pitchFamily="50" charset="-128"/>
            </a:endParaRPr>
          </a:p>
        </p:txBody>
      </p:sp>
      <p:sp>
        <p:nvSpPr>
          <p:cNvPr id="93" name="テキスト ボックス 92">
            <a:extLst>
              <a:ext uri="{FF2B5EF4-FFF2-40B4-BE49-F238E27FC236}">
                <a16:creationId xmlns:a16="http://schemas.microsoft.com/office/drawing/2014/main" id="{4D8C8BAE-54B4-6B41-D7B0-D37E3FAED03D}"/>
              </a:ext>
            </a:extLst>
          </p:cNvPr>
          <p:cNvSpPr txBox="1"/>
          <p:nvPr/>
        </p:nvSpPr>
        <p:spPr>
          <a:xfrm>
            <a:off x="3592012" y="4764223"/>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40</a:t>
            </a:r>
            <a:endParaRPr kumimoji="1" lang="ja-JP" altLang="en-US" sz="2000" dirty="0">
              <a:latin typeface="Segoe UI" panose="020B0502040204020203" pitchFamily="34" charset="0"/>
              <a:ea typeface="Meiryo UI" panose="020B0604030504040204" pitchFamily="50" charset="-128"/>
            </a:endParaRPr>
          </a:p>
        </p:txBody>
      </p:sp>
      <p:sp>
        <p:nvSpPr>
          <p:cNvPr id="95" name="テキスト ボックス 94">
            <a:extLst>
              <a:ext uri="{FF2B5EF4-FFF2-40B4-BE49-F238E27FC236}">
                <a16:creationId xmlns:a16="http://schemas.microsoft.com/office/drawing/2014/main" id="{6160585E-B318-A389-C58B-E9FFCD09BCCA}"/>
              </a:ext>
            </a:extLst>
          </p:cNvPr>
          <p:cNvSpPr txBox="1"/>
          <p:nvPr/>
        </p:nvSpPr>
        <p:spPr>
          <a:xfrm>
            <a:off x="1404141" y="2020699"/>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25</a:t>
            </a:r>
            <a:endParaRPr kumimoji="1" lang="ja-JP" altLang="en-US" sz="2000" dirty="0">
              <a:latin typeface="Segoe UI" panose="020B0502040204020203" pitchFamily="34" charset="0"/>
              <a:ea typeface="Meiryo UI" panose="020B0604030504040204" pitchFamily="50" charset="-128"/>
            </a:endParaRPr>
          </a:p>
        </p:txBody>
      </p:sp>
      <p:sp>
        <p:nvSpPr>
          <p:cNvPr id="97" name="テキスト ボックス 96">
            <a:extLst>
              <a:ext uri="{FF2B5EF4-FFF2-40B4-BE49-F238E27FC236}">
                <a16:creationId xmlns:a16="http://schemas.microsoft.com/office/drawing/2014/main" id="{017B836F-BF25-6748-801D-20F8F6C5B5DE}"/>
              </a:ext>
            </a:extLst>
          </p:cNvPr>
          <p:cNvSpPr txBox="1"/>
          <p:nvPr/>
        </p:nvSpPr>
        <p:spPr>
          <a:xfrm>
            <a:off x="1392094" y="3746151"/>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10</a:t>
            </a:r>
            <a:endParaRPr kumimoji="1" lang="ja-JP" altLang="en-US" sz="2000" dirty="0">
              <a:latin typeface="Segoe UI" panose="020B0502040204020203" pitchFamily="34" charset="0"/>
              <a:ea typeface="Meiryo UI" panose="020B0604030504040204" pitchFamily="50" charset="-128"/>
            </a:endParaRPr>
          </a:p>
        </p:txBody>
      </p:sp>
      <p:sp>
        <p:nvSpPr>
          <p:cNvPr id="96" name="テキスト ボックス 95">
            <a:extLst>
              <a:ext uri="{FF2B5EF4-FFF2-40B4-BE49-F238E27FC236}">
                <a16:creationId xmlns:a16="http://schemas.microsoft.com/office/drawing/2014/main" id="{DBD1019D-6AC6-2A18-8EC2-3F35F2C2BAB2}"/>
              </a:ext>
            </a:extLst>
          </p:cNvPr>
          <p:cNvSpPr txBox="1"/>
          <p:nvPr/>
        </p:nvSpPr>
        <p:spPr>
          <a:xfrm>
            <a:off x="267692" y="2797606"/>
            <a:ext cx="1370888" cy="707886"/>
          </a:xfrm>
          <a:prstGeom prst="rect">
            <a:avLst/>
          </a:prstGeom>
          <a:noFill/>
        </p:spPr>
        <p:txBody>
          <a:bodyPr vert="horz" wrap="none" rtlCol="0">
            <a:spAutoFit/>
          </a:bodyPr>
          <a:lstStyle/>
          <a:p>
            <a:pPr algn="ctr"/>
            <a:r>
              <a:rPr kumimoji="1" lang="ja-JP" altLang="en-US" sz="2000" dirty="0">
                <a:latin typeface="Segoe UI" panose="020B0502040204020203" pitchFamily="34" charset="0"/>
                <a:ea typeface="Meiryo UI" panose="020B0604030504040204" pitchFamily="50" charset="-128"/>
              </a:rPr>
              <a:t>胸部</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圧迫力 </a:t>
            </a:r>
            <a:r>
              <a:rPr kumimoji="1" lang="en-US" altLang="ja-JP" sz="2000" dirty="0">
                <a:latin typeface="Segoe UI" panose="020B0502040204020203" pitchFamily="34" charset="0"/>
                <a:ea typeface="Meiryo UI" panose="020B0604030504040204" pitchFamily="50" charset="-128"/>
              </a:rPr>
              <a:t>[N]</a:t>
            </a:r>
            <a:endParaRPr kumimoji="1" lang="ja-JP" altLang="en-US" sz="2000" dirty="0">
              <a:latin typeface="Segoe UI" panose="020B0502040204020203" pitchFamily="34" charset="0"/>
              <a:ea typeface="Meiryo UI" panose="020B0604030504040204" pitchFamily="50" charset="-128"/>
            </a:endParaRPr>
          </a:p>
        </p:txBody>
      </p:sp>
      <p:sp>
        <p:nvSpPr>
          <p:cNvPr id="74" name="テキスト ボックス 73">
            <a:extLst>
              <a:ext uri="{FF2B5EF4-FFF2-40B4-BE49-F238E27FC236}">
                <a16:creationId xmlns:a16="http://schemas.microsoft.com/office/drawing/2014/main" id="{A0F0EE8C-EC87-4874-D07B-7E001BE64D11}"/>
              </a:ext>
            </a:extLst>
          </p:cNvPr>
          <p:cNvSpPr txBox="1"/>
          <p:nvPr/>
        </p:nvSpPr>
        <p:spPr>
          <a:xfrm>
            <a:off x="305362" y="1320016"/>
            <a:ext cx="1295546" cy="400110"/>
          </a:xfrm>
          <a:prstGeom prst="rect">
            <a:avLst/>
          </a:prstGeom>
          <a:noFill/>
        </p:spPr>
        <p:txBody>
          <a:bodyPr vert="horz" wrap="none" rtlCol="0">
            <a:spAutoFit/>
          </a:bodyPr>
          <a:lstStyle/>
          <a:p>
            <a:pPr algn="ctr"/>
            <a:r>
              <a:rPr lang="ja-JP" altLang="en-US" sz="2000" dirty="0">
                <a:latin typeface="Segoe UI" panose="020B0502040204020203" pitchFamily="34" charset="0"/>
                <a:ea typeface="Meiryo UI" panose="020B0604030504040204" pitchFamily="50" charset="-128"/>
              </a:rPr>
              <a:t>正解ラベル</a:t>
            </a:r>
          </a:p>
        </p:txBody>
      </p:sp>
      <p:sp>
        <p:nvSpPr>
          <p:cNvPr id="34" name="正方形/長方形 33">
            <a:extLst>
              <a:ext uri="{FF2B5EF4-FFF2-40B4-BE49-F238E27FC236}">
                <a16:creationId xmlns:a16="http://schemas.microsoft.com/office/drawing/2014/main" id="{4E8682E3-DAA9-67EF-B2FA-651524418F89}"/>
              </a:ext>
            </a:extLst>
          </p:cNvPr>
          <p:cNvSpPr/>
          <p:nvPr/>
        </p:nvSpPr>
        <p:spPr>
          <a:xfrm>
            <a:off x="2049720" y="1368731"/>
            <a:ext cx="562696" cy="302680"/>
          </a:xfrm>
          <a:prstGeom prst="rect">
            <a:avLst/>
          </a:prstGeom>
          <a:solidFill>
            <a:srgbClr val="4B9AE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sp>
        <p:nvSpPr>
          <p:cNvPr id="16" name="テキスト ボックス 15">
            <a:extLst>
              <a:ext uri="{FF2B5EF4-FFF2-40B4-BE49-F238E27FC236}">
                <a16:creationId xmlns:a16="http://schemas.microsoft.com/office/drawing/2014/main" id="{CDE2E464-8F51-4049-16A4-025571806244}"/>
              </a:ext>
            </a:extLst>
          </p:cNvPr>
          <p:cNvSpPr txBox="1"/>
          <p:nvPr/>
        </p:nvSpPr>
        <p:spPr>
          <a:xfrm>
            <a:off x="1621496" y="4764223"/>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30</a:t>
            </a:r>
            <a:endParaRPr kumimoji="1" lang="ja-JP" altLang="en-US" sz="2000" dirty="0">
              <a:latin typeface="Segoe UI" panose="020B0502040204020203" pitchFamily="34" charset="0"/>
              <a:ea typeface="Meiryo UI" panose="020B0604030504040204" pitchFamily="50" charset="-128"/>
            </a:endParaRPr>
          </a:p>
        </p:txBody>
      </p:sp>
      <p:sp>
        <p:nvSpPr>
          <p:cNvPr id="4" name="正方形/長方形 3">
            <a:extLst>
              <a:ext uri="{FF2B5EF4-FFF2-40B4-BE49-F238E27FC236}">
                <a16:creationId xmlns:a16="http://schemas.microsoft.com/office/drawing/2014/main" id="{49227C97-7AD9-B575-E088-B43C411C64AF}"/>
              </a:ext>
            </a:extLst>
          </p:cNvPr>
          <p:cNvSpPr/>
          <p:nvPr/>
        </p:nvSpPr>
        <p:spPr>
          <a:xfrm>
            <a:off x="2573958" y="1368731"/>
            <a:ext cx="440888" cy="302680"/>
          </a:xfrm>
          <a:prstGeom prst="rect">
            <a:avLst/>
          </a:prstGeom>
          <a:solidFill>
            <a:srgbClr val="FFA4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90" name="直線コネクタ 89">
            <a:extLst>
              <a:ext uri="{FF2B5EF4-FFF2-40B4-BE49-F238E27FC236}">
                <a16:creationId xmlns:a16="http://schemas.microsoft.com/office/drawing/2014/main" id="{C9D96376-ED7B-708A-7C15-DA1B8E10619E}"/>
              </a:ext>
            </a:extLst>
          </p:cNvPr>
          <p:cNvCxnSpPr>
            <a:cxnSpLocks/>
          </p:cNvCxnSpPr>
          <p:nvPr/>
        </p:nvCxnSpPr>
        <p:spPr>
          <a:xfrm flipV="1">
            <a:off x="2573958"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E0BBCB82-EF70-EB79-5723-20A51B3F19DD}"/>
              </a:ext>
            </a:extLst>
          </p:cNvPr>
          <p:cNvCxnSpPr>
            <a:cxnSpLocks/>
          </p:cNvCxnSpPr>
          <p:nvPr/>
        </p:nvCxnSpPr>
        <p:spPr>
          <a:xfrm flipV="1">
            <a:off x="2049720"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24" name="正方形/長方形 23">
            <a:extLst>
              <a:ext uri="{FF2B5EF4-FFF2-40B4-BE49-F238E27FC236}">
                <a16:creationId xmlns:a16="http://schemas.microsoft.com/office/drawing/2014/main" id="{44360774-D584-7F52-EAAB-06B28FE66939}"/>
              </a:ext>
            </a:extLst>
          </p:cNvPr>
          <p:cNvSpPr/>
          <p:nvPr/>
        </p:nvSpPr>
        <p:spPr>
          <a:xfrm>
            <a:off x="2973554" y="1368731"/>
            <a:ext cx="1119063" cy="3026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99" name="直線コネクタ 98">
            <a:extLst>
              <a:ext uri="{FF2B5EF4-FFF2-40B4-BE49-F238E27FC236}">
                <a16:creationId xmlns:a16="http://schemas.microsoft.com/office/drawing/2014/main" id="{C1DC809B-647E-9924-96C4-AEE0C22FFBB6}"/>
              </a:ext>
            </a:extLst>
          </p:cNvPr>
          <p:cNvCxnSpPr>
            <a:cxnSpLocks/>
          </p:cNvCxnSpPr>
          <p:nvPr/>
        </p:nvCxnSpPr>
        <p:spPr>
          <a:xfrm flipV="1">
            <a:off x="2973554"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19" name="正方形/長方形 18">
            <a:extLst>
              <a:ext uri="{FF2B5EF4-FFF2-40B4-BE49-F238E27FC236}">
                <a16:creationId xmlns:a16="http://schemas.microsoft.com/office/drawing/2014/main" id="{06B68219-B2A4-2291-3D73-21CB57502868}"/>
              </a:ext>
            </a:extLst>
          </p:cNvPr>
          <p:cNvSpPr/>
          <p:nvPr/>
        </p:nvSpPr>
        <p:spPr>
          <a:xfrm>
            <a:off x="4047644" y="1368731"/>
            <a:ext cx="562696" cy="302680"/>
          </a:xfrm>
          <a:prstGeom prst="rect">
            <a:avLst/>
          </a:prstGeom>
          <a:solidFill>
            <a:srgbClr val="4B9AE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100" name="直線コネクタ 99">
            <a:extLst>
              <a:ext uri="{FF2B5EF4-FFF2-40B4-BE49-F238E27FC236}">
                <a16:creationId xmlns:a16="http://schemas.microsoft.com/office/drawing/2014/main" id="{EF9F10D1-0232-8794-376B-DA6CA7059C39}"/>
              </a:ext>
            </a:extLst>
          </p:cNvPr>
          <p:cNvCxnSpPr>
            <a:cxnSpLocks/>
          </p:cNvCxnSpPr>
          <p:nvPr/>
        </p:nvCxnSpPr>
        <p:spPr>
          <a:xfrm flipV="1">
            <a:off x="4047644"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20" name="正方形/長方形 19">
            <a:extLst>
              <a:ext uri="{FF2B5EF4-FFF2-40B4-BE49-F238E27FC236}">
                <a16:creationId xmlns:a16="http://schemas.microsoft.com/office/drawing/2014/main" id="{AEA38CA0-2060-E7D9-13BD-E650C2ED64CE}"/>
              </a:ext>
            </a:extLst>
          </p:cNvPr>
          <p:cNvSpPr/>
          <p:nvPr/>
        </p:nvSpPr>
        <p:spPr>
          <a:xfrm>
            <a:off x="4501515" y="1368731"/>
            <a:ext cx="627241" cy="302680"/>
          </a:xfrm>
          <a:prstGeom prst="rect">
            <a:avLst/>
          </a:prstGeom>
          <a:solidFill>
            <a:srgbClr val="FFA4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101" name="直線コネクタ 100">
            <a:extLst>
              <a:ext uri="{FF2B5EF4-FFF2-40B4-BE49-F238E27FC236}">
                <a16:creationId xmlns:a16="http://schemas.microsoft.com/office/drawing/2014/main" id="{6C1F8EF3-9BEE-A2A0-7EB2-9ACBE8C3D82D}"/>
              </a:ext>
            </a:extLst>
          </p:cNvPr>
          <p:cNvCxnSpPr>
            <a:cxnSpLocks/>
          </p:cNvCxnSpPr>
          <p:nvPr/>
        </p:nvCxnSpPr>
        <p:spPr>
          <a:xfrm flipV="1">
            <a:off x="4501516"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21" name="正方形/長方形 20">
            <a:extLst>
              <a:ext uri="{FF2B5EF4-FFF2-40B4-BE49-F238E27FC236}">
                <a16:creationId xmlns:a16="http://schemas.microsoft.com/office/drawing/2014/main" id="{12E35136-F2B8-D01B-CEEB-692D007B79FF}"/>
              </a:ext>
            </a:extLst>
          </p:cNvPr>
          <p:cNvSpPr/>
          <p:nvPr/>
        </p:nvSpPr>
        <p:spPr>
          <a:xfrm flipV="1">
            <a:off x="5039714" y="1368731"/>
            <a:ext cx="644117" cy="302680"/>
          </a:xfrm>
          <a:prstGeom prst="rect">
            <a:avLst/>
          </a:prstGeom>
          <a:solidFill>
            <a:srgbClr val="4B9AE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103" name="直線コネクタ 102">
            <a:extLst>
              <a:ext uri="{FF2B5EF4-FFF2-40B4-BE49-F238E27FC236}">
                <a16:creationId xmlns:a16="http://schemas.microsoft.com/office/drawing/2014/main" id="{4606CE57-0EDB-339E-6BBB-A5B33160E430}"/>
              </a:ext>
            </a:extLst>
          </p:cNvPr>
          <p:cNvCxnSpPr>
            <a:cxnSpLocks/>
          </p:cNvCxnSpPr>
          <p:nvPr/>
        </p:nvCxnSpPr>
        <p:spPr>
          <a:xfrm flipV="1">
            <a:off x="5039716"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104" name="直線コネクタ 103">
            <a:extLst>
              <a:ext uri="{FF2B5EF4-FFF2-40B4-BE49-F238E27FC236}">
                <a16:creationId xmlns:a16="http://schemas.microsoft.com/office/drawing/2014/main" id="{323400C1-24B0-B85E-A5B5-31609E871C2F}"/>
              </a:ext>
            </a:extLst>
          </p:cNvPr>
          <p:cNvCxnSpPr>
            <a:cxnSpLocks/>
          </p:cNvCxnSpPr>
          <p:nvPr/>
        </p:nvCxnSpPr>
        <p:spPr>
          <a:xfrm flipV="1">
            <a:off x="5679567"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116" name="楕円 115">
            <a:extLst>
              <a:ext uri="{FF2B5EF4-FFF2-40B4-BE49-F238E27FC236}">
                <a16:creationId xmlns:a16="http://schemas.microsoft.com/office/drawing/2014/main" id="{04BD2C3B-9BDA-848F-0082-5534E1CB4A5F}"/>
              </a:ext>
            </a:extLst>
          </p:cNvPr>
          <p:cNvSpPr/>
          <p:nvPr/>
        </p:nvSpPr>
        <p:spPr>
          <a:xfrm rot="19037025">
            <a:off x="2823600" y="1591884"/>
            <a:ext cx="1148675" cy="1958967"/>
          </a:xfrm>
          <a:prstGeom prst="ellipse">
            <a:avLst/>
          </a:prstGeom>
          <a:noFill/>
          <a:ln w="57150">
            <a:solidFill>
              <a:srgbClr val="C00000"/>
            </a:solidFill>
          </a:ln>
          <a:effectLst>
            <a:glow rad="38100">
              <a:schemeClr val="bg1"/>
            </a:glo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lnSpc>
                <a:spcPct val="120000"/>
              </a:lnSpc>
              <a:spcAft>
                <a:spcPts val="1200"/>
              </a:spcAft>
            </a:pPr>
            <a:endParaRPr kumimoji="1" lang="ja-JP" altLang="en-US" sz="2000" dirty="0">
              <a:solidFill>
                <a:sysClr val="windowText" lastClr="000000"/>
              </a:solidFill>
              <a:latin typeface="Segoe UI" panose="020B0502040204020203" pitchFamily="34" charset="0"/>
              <a:ea typeface="Meiryo UI" panose="020B0604030504040204" pitchFamily="50" charset="-128"/>
            </a:endParaRPr>
          </a:p>
        </p:txBody>
      </p:sp>
      <p:sp>
        <p:nvSpPr>
          <p:cNvPr id="80" name="楕円 79">
            <a:extLst>
              <a:ext uri="{FF2B5EF4-FFF2-40B4-BE49-F238E27FC236}">
                <a16:creationId xmlns:a16="http://schemas.microsoft.com/office/drawing/2014/main" id="{F346DCFE-DA7E-49B8-9B89-84CBAF254399}"/>
              </a:ext>
            </a:extLst>
          </p:cNvPr>
          <p:cNvSpPr/>
          <p:nvPr/>
        </p:nvSpPr>
        <p:spPr>
          <a:xfrm rot="19037025">
            <a:off x="4232899" y="4402454"/>
            <a:ext cx="557397" cy="456549"/>
          </a:xfrm>
          <a:prstGeom prst="ellipse">
            <a:avLst/>
          </a:prstGeom>
          <a:noFill/>
          <a:ln w="57150">
            <a:solidFill>
              <a:srgbClr val="C00000"/>
            </a:solidFill>
          </a:ln>
          <a:effectLst>
            <a:glow rad="38100">
              <a:schemeClr val="bg1"/>
            </a:glo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lnSpc>
                <a:spcPct val="120000"/>
              </a:lnSpc>
              <a:spcAft>
                <a:spcPts val="1200"/>
              </a:spcAft>
            </a:pPr>
            <a:endParaRPr kumimoji="1" lang="ja-JP" altLang="en-US" sz="2000" dirty="0">
              <a:solidFill>
                <a:sysClr val="windowText" lastClr="000000"/>
              </a:solidFill>
              <a:latin typeface="Segoe UI" panose="020B0502040204020203" pitchFamily="34" charset="0"/>
              <a:ea typeface="Meiryo UI" panose="020B0604030504040204" pitchFamily="50" charset="-128"/>
            </a:endParaRPr>
          </a:p>
        </p:txBody>
      </p:sp>
      <p:sp>
        <p:nvSpPr>
          <p:cNvPr id="114" name="正方形/長方形 113">
            <a:extLst>
              <a:ext uri="{FF2B5EF4-FFF2-40B4-BE49-F238E27FC236}">
                <a16:creationId xmlns:a16="http://schemas.microsoft.com/office/drawing/2014/main" id="{B73DE96D-4F07-5D5B-A4F3-B3AADE51CBF2}"/>
              </a:ext>
            </a:extLst>
          </p:cNvPr>
          <p:cNvSpPr/>
          <p:nvPr/>
        </p:nvSpPr>
        <p:spPr>
          <a:xfrm>
            <a:off x="6206321" y="1247829"/>
            <a:ext cx="5781675" cy="4328160"/>
          </a:xfrm>
          <a:prstGeom prst="rect">
            <a:avLst/>
          </a:prstGeom>
          <a:solidFill>
            <a:schemeClr val="bg1"/>
          </a:solidFill>
          <a:ln w="38100">
            <a:solidFill>
              <a:schemeClr val="tx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58F7CBA3-F3B1-1A55-95BC-8F8A415972CC}"/>
              </a:ext>
            </a:extLst>
          </p:cNvPr>
          <p:cNvSpPr txBox="1"/>
          <p:nvPr/>
        </p:nvSpPr>
        <p:spPr>
          <a:xfrm>
            <a:off x="7077375" y="5149060"/>
            <a:ext cx="4039567" cy="400110"/>
          </a:xfrm>
          <a:prstGeom prst="rect">
            <a:avLst/>
          </a:prstGeom>
          <a:noFill/>
        </p:spPr>
        <p:txBody>
          <a:bodyPr wrap="none" rtlCol="0">
            <a:spAutoFit/>
          </a:bodyPr>
          <a:lstStyle/>
          <a:p>
            <a:pPr algn="ctr"/>
            <a:r>
              <a:rPr lang="en-US" altLang="ja-JP" sz="2000" b="1" dirty="0">
                <a:latin typeface="Segoe UI" panose="020B0502040204020203" pitchFamily="34" charset="0"/>
                <a:ea typeface="Meiryo UI" panose="020B0604030504040204" pitchFamily="50" charset="-128"/>
              </a:rPr>
              <a:t>TCN</a:t>
            </a:r>
            <a:r>
              <a:rPr lang="ja-JP" altLang="en-US" sz="2000" dirty="0">
                <a:latin typeface="Segoe UI" panose="020B0502040204020203" pitchFamily="34" charset="0"/>
                <a:ea typeface="Meiryo UI" panose="020B0604030504040204" pitchFamily="50" charset="-128"/>
              </a:rPr>
              <a:t>を用いた呼吸状態判別結果の例</a:t>
            </a:r>
          </a:p>
        </p:txBody>
      </p:sp>
      <p:pic>
        <p:nvPicPr>
          <p:cNvPr id="13" name="図 12" descr="グラフ, 折れ線グラフ, ヒストグラム&#10;&#10;AI 生成コンテンツは誤りを含む可能性があります。">
            <a:extLst>
              <a:ext uri="{FF2B5EF4-FFF2-40B4-BE49-F238E27FC236}">
                <a16:creationId xmlns:a16="http://schemas.microsoft.com/office/drawing/2014/main" id="{870D3E92-E7D6-9A56-6A6E-D8918C926817}"/>
              </a:ext>
            </a:extLst>
          </p:cNvPr>
          <p:cNvPicPr>
            <a:picLocks noChangeAspect="1"/>
          </p:cNvPicPr>
          <p:nvPr/>
        </p:nvPicPr>
        <p:blipFill>
          <a:blip r:embed="rId4"/>
          <a:srcRect l="6932" t="1880" r="14300" b="7679"/>
          <a:stretch>
            <a:fillRect/>
          </a:stretch>
        </p:blipFill>
        <p:spPr>
          <a:xfrm>
            <a:off x="7837625" y="1657597"/>
            <a:ext cx="3964163" cy="3126816"/>
          </a:xfrm>
          <a:prstGeom prst="rect">
            <a:avLst/>
          </a:prstGeom>
        </p:spPr>
      </p:pic>
      <p:sp>
        <p:nvSpPr>
          <p:cNvPr id="31" name="テキスト ボックス 30">
            <a:extLst>
              <a:ext uri="{FF2B5EF4-FFF2-40B4-BE49-F238E27FC236}">
                <a16:creationId xmlns:a16="http://schemas.microsoft.com/office/drawing/2014/main" id="{78F1B917-EF0A-591E-9E8C-49AD8B9E2455}"/>
              </a:ext>
            </a:extLst>
          </p:cNvPr>
          <p:cNvSpPr txBox="1"/>
          <p:nvPr/>
        </p:nvSpPr>
        <p:spPr>
          <a:xfrm>
            <a:off x="10745781" y="4764223"/>
            <a:ext cx="1178528"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時間 </a:t>
            </a:r>
            <a:r>
              <a:rPr kumimoji="1" lang="en-US" altLang="ja-JP" sz="2000" dirty="0">
                <a:latin typeface="Segoe UI" panose="020B0502040204020203" pitchFamily="34" charset="0"/>
                <a:ea typeface="Meiryo UI" panose="020B0604030504040204" pitchFamily="50" charset="-128"/>
              </a:rPr>
              <a:t>[</a:t>
            </a:r>
            <a:r>
              <a:rPr kumimoji="1" lang="ja-JP" altLang="en-US" sz="2000" dirty="0">
                <a:latin typeface="Segoe UI" panose="020B0502040204020203" pitchFamily="34" charset="0"/>
                <a:ea typeface="Meiryo UI" panose="020B0604030504040204" pitchFamily="50" charset="-128"/>
              </a:rPr>
              <a:t>秒</a:t>
            </a:r>
            <a:r>
              <a:rPr kumimoji="1" lang="en-US" altLang="ja-JP" sz="2000" dirty="0">
                <a:latin typeface="Segoe UI" panose="020B0502040204020203" pitchFamily="34" charset="0"/>
                <a:ea typeface="Meiryo UI" panose="020B0604030504040204" pitchFamily="50" charset="-128"/>
              </a:rPr>
              <a:t>]</a:t>
            </a:r>
            <a:endParaRPr kumimoji="1" lang="ja-JP" altLang="en-US" sz="2000" dirty="0">
              <a:latin typeface="Segoe UI" panose="020B0502040204020203" pitchFamily="34" charset="0"/>
              <a:ea typeface="Meiryo UI" panose="020B0604030504040204" pitchFamily="50" charset="-128"/>
            </a:endParaRPr>
          </a:p>
        </p:txBody>
      </p:sp>
      <p:sp>
        <p:nvSpPr>
          <p:cNvPr id="45" name="テキスト ボックス 44">
            <a:extLst>
              <a:ext uri="{FF2B5EF4-FFF2-40B4-BE49-F238E27FC236}">
                <a16:creationId xmlns:a16="http://schemas.microsoft.com/office/drawing/2014/main" id="{AAB75030-17EE-788F-5F3D-E56A5737810F}"/>
              </a:ext>
            </a:extLst>
          </p:cNvPr>
          <p:cNvSpPr txBox="1"/>
          <p:nvPr/>
        </p:nvSpPr>
        <p:spPr>
          <a:xfrm>
            <a:off x="9594328" y="4764223"/>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40</a:t>
            </a:r>
            <a:endParaRPr kumimoji="1" lang="ja-JP" altLang="en-US" sz="2000" dirty="0">
              <a:latin typeface="Segoe UI" panose="020B0502040204020203" pitchFamily="34" charset="0"/>
              <a:ea typeface="Meiryo UI" panose="020B0604030504040204" pitchFamily="50" charset="-128"/>
            </a:endParaRPr>
          </a:p>
        </p:txBody>
      </p:sp>
      <p:sp>
        <p:nvSpPr>
          <p:cNvPr id="46" name="テキスト ボックス 45">
            <a:extLst>
              <a:ext uri="{FF2B5EF4-FFF2-40B4-BE49-F238E27FC236}">
                <a16:creationId xmlns:a16="http://schemas.microsoft.com/office/drawing/2014/main" id="{975A12BE-15A0-7CD2-543E-6491C9A61B5A}"/>
              </a:ext>
            </a:extLst>
          </p:cNvPr>
          <p:cNvSpPr txBox="1"/>
          <p:nvPr/>
        </p:nvSpPr>
        <p:spPr>
          <a:xfrm>
            <a:off x="7406457" y="2020699"/>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25</a:t>
            </a:r>
            <a:endParaRPr kumimoji="1" lang="ja-JP" altLang="en-US" sz="2000" dirty="0">
              <a:latin typeface="Segoe UI" panose="020B0502040204020203" pitchFamily="34" charset="0"/>
              <a:ea typeface="Meiryo UI" panose="020B0604030504040204" pitchFamily="50" charset="-128"/>
            </a:endParaRPr>
          </a:p>
        </p:txBody>
      </p:sp>
      <p:sp>
        <p:nvSpPr>
          <p:cNvPr id="47" name="テキスト ボックス 46">
            <a:extLst>
              <a:ext uri="{FF2B5EF4-FFF2-40B4-BE49-F238E27FC236}">
                <a16:creationId xmlns:a16="http://schemas.microsoft.com/office/drawing/2014/main" id="{9442B42F-CE9D-2834-5E4D-111780E95D97}"/>
              </a:ext>
            </a:extLst>
          </p:cNvPr>
          <p:cNvSpPr txBox="1"/>
          <p:nvPr/>
        </p:nvSpPr>
        <p:spPr>
          <a:xfrm>
            <a:off x="7394410" y="3746151"/>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10</a:t>
            </a:r>
            <a:endParaRPr kumimoji="1" lang="ja-JP" altLang="en-US" sz="2000" dirty="0">
              <a:latin typeface="Segoe UI" panose="020B0502040204020203" pitchFamily="34" charset="0"/>
              <a:ea typeface="Meiryo UI" panose="020B0604030504040204" pitchFamily="50" charset="-128"/>
            </a:endParaRPr>
          </a:p>
        </p:txBody>
      </p:sp>
      <p:sp>
        <p:nvSpPr>
          <p:cNvPr id="48" name="テキスト ボックス 47">
            <a:extLst>
              <a:ext uri="{FF2B5EF4-FFF2-40B4-BE49-F238E27FC236}">
                <a16:creationId xmlns:a16="http://schemas.microsoft.com/office/drawing/2014/main" id="{E327FAB3-9D80-D441-85DA-164B854AFBFC}"/>
              </a:ext>
            </a:extLst>
          </p:cNvPr>
          <p:cNvSpPr txBox="1"/>
          <p:nvPr/>
        </p:nvSpPr>
        <p:spPr>
          <a:xfrm>
            <a:off x="6270008" y="2797606"/>
            <a:ext cx="1370888" cy="707886"/>
          </a:xfrm>
          <a:prstGeom prst="rect">
            <a:avLst/>
          </a:prstGeom>
          <a:noFill/>
        </p:spPr>
        <p:txBody>
          <a:bodyPr vert="horz" wrap="none" rtlCol="0">
            <a:spAutoFit/>
          </a:bodyPr>
          <a:lstStyle/>
          <a:p>
            <a:pPr algn="ctr"/>
            <a:r>
              <a:rPr kumimoji="1" lang="ja-JP" altLang="en-US" sz="2000" dirty="0">
                <a:latin typeface="Segoe UI" panose="020B0502040204020203" pitchFamily="34" charset="0"/>
                <a:ea typeface="Meiryo UI" panose="020B0604030504040204" pitchFamily="50" charset="-128"/>
              </a:rPr>
              <a:t>胸部</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圧迫力 </a:t>
            </a:r>
            <a:r>
              <a:rPr kumimoji="1" lang="en-US" altLang="ja-JP" sz="2000" dirty="0">
                <a:latin typeface="Segoe UI" panose="020B0502040204020203" pitchFamily="34" charset="0"/>
                <a:ea typeface="Meiryo UI" panose="020B0604030504040204" pitchFamily="50" charset="-128"/>
              </a:rPr>
              <a:t>[N]</a:t>
            </a:r>
            <a:endParaRPr kumimoji="1" lang="ja-JP" altLang="en-US" sz="2000" dirty="0">
              <a:latin typeface="Segoe UI" panose="020B0502040204020203" pitchFamily="34" charset="0"/>
              <a:ea typeface="Meiryo UI" panose="020B0604030504040204" pitchFamily="50" charset="-128"/>
            </a:endParaRPr>
          </a:p>
        </p:txBody>
      </p:sp>
      <p:sp>
        <p:nvSpPr>
          <p:cNvPr id="49" name="テキスト ボックス 48">
            <a:extLst>
              <a:ext uri="{FF2B5EF4-FFF2-40B4-BE49-F238E27FC236}">
                <a16:creationId xmlns:a16="http://schemas.microsoft.com/office/drawing/2014/main" id="{6C8E24AF-0BBE-1757-0E01-1B137BC27343}"/>
              </a:ext>
            </a:extLst>
          </p:cNvPr>
          <p:cNvSpPr txBox="1"/>
          <p:nvPr/>
        </p:nvSpPr>
        <p:spPr>
          <a:xfrm>
            <a:off x="6307678" y="1320016"/>
            <a:ext cx="1295546" cy="400110"/>
          </a:xfrm>
          <a:prstGeom prst="rect">
            <a:avLst/>
          </a:prstGeom>
          <a:noFill/>
        </p:spPr>
        <p:txBody>
          <a:bodyPr vert="horz" wrap="none" rtlCol="0">
            <a:spAutoFit/>
          </a:bodyPr>
          <a:lstStyle/>
          <a:p>
            <a:pPr algn="ctr"/>
            <a:r>
              <a:rPr lang="ja-JP" altLang="en-US" sz="2000" dirty="0">
                <a:latin typeface="Segoe UI" panose="020B0502040204020203" pitchFamily="34" charset="0"/>
                <a:ea typeface="Meiryo UI" panose="020B0604030504040204" pitchFamily="50" charset="-128"/>
              </a:rPr>
              <a:t>正解ラベル</a:t>
            </a:r>
          </a:p>
        </p:txBody>
      </p:sp>
      <p:sp>
        <p:nvSpPr>
          <p:cNvPr id="50" name="正方形/長方形 49">
            <a:extLst>
              <a:ext uri="{FF2B5EF4-FFF2-40B4-BE49-F238E27FC236}">
                <a16:creationId xmlns:a16="http://schemas.microsoft.com/office/drawing/2014/main" id="{FD6B82E7-757B-DE17-EAED-B47C9971DB41}"/>
              </a:ext>
            </a:extLst>
          </p:cNvPr>
          <p:cNvSpPr/>
          <p:nvPr/>
        </p:nvSpPr>
        <p:spPr>
          <a:xfrm>
            <a:off x="8052036" y="1368731"/>
            <a:ext cx="562696" cy="302680"/>
          </a:xfrm>
          <a:prstGeom prst="rect">
            <a:avLst/>
          </a:prstGeom>
          <a:solidFill>
            <a:srgbClr val="4B9AE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sp>
        <p:nvSpPr>
          <p:cNvPr id="55" name="テキスト ボックス 54">
            <a:extLst>
              <a:ext uri="{FF2B5EF4-FFF2-40B4-BE49-F238E27FC236}">
                <a16:creationId xmlns:a16="http://schemas.microsoft.com/office/drawing/2014/main" id="{84BD4DE4-57EA-8C18-C5EF-682638DEBDA2}"/>
              </a:ext>
            </a:extLst>
          </p:cNvPr>
          <p:cNvSpPr txBox="1"/>
          <p:nvPr/>
        </p:nvSpPr>
        <p:spPr>
          <a:xfrm>
            <a:off x="7623812" y="4764223"/>
            <a:ext cx="460382"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30</a:t>
            </a:r>
            <a:endParaRPr kumimoji="1" lang="ja-JP" altLang="en-US" sz="2000" dirty="0">
              <a:latin typeface="Segoe UI" panose="020B0502040204020203" pitchFamily="34" charset="0"/>
              <a:ea typeface="Meiryo UI" panose="020B0604030504040204" pitchFamily="50" charset="-128"/>
            </a:endParaRPr>
          </a:p>
        </p:txBody>
      </p:sp>
      <p:sp>
        <p:nvSpPr>
          <p:cNvPr id="56" name="正方形/長方形 55">
            <a:extLst>
              <a:ext uri="{FF2B5EF4-FFF2-40B4-BE49-F238E27FC236}">
                <a16:creationId xmlns:a16="http://schemas.microsoft.com/office/drawing/2014/main" id="{7FC8A7FB-DAAC-6F63-5FB8-2C92C0489F61}"/>
              </a:ext>
            </a:extLst>
          </p:cNvPr>
          <p:cNvSpPr/>
          <p:nvPr/>
        </p:nvSpPr>
        <p:spPr>
          <a:xfrm>
            <a:off x="8576274" y="1368731"/>
            <a:ext cx="440888" cy="302680"/>
          </a:xfrm>
          <a:prstGeom prst="rect">
            <a:avLst/>
          </a:prstGeom>
          <a:solidFill>
            <a:srgbClr val="FFA4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57" name="直線コネクタ 56">
            <a:extLst>
              <a:ext uri="{FF2B5EF4-FFF2-40B4-BE49-F238E27FC236}">
                <a16:creationId xmlns:a16="http://schemas.microsoft.com/office/drawing/2014/main" id="{232AB665-33AD-FC15-2387-4748C5346366}"/>
              </a:ext>
            </a:extLst>
          </p:cNvPr>
          <p:cNvCxnSpPr>
            <a:cxnSpLocks/>
          </p:cNvCxnSpPr>
          <p:nvPr/>
        </p:nvCxnSpPr>
        <p:spPr>
          <a:xfrm flipV="1">
            <a:off x="8576274"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58" name="直線コネクタ 57">
            <a:extLst>
              <a:ext uri="{FF2B5EF4-FFF2-40B4-BE49-F238E27FC236}">
                <a16:creationId xmlns:a16="http://schemas.microsoft.com/office/drawing/2014/main" id="{37B88415-1627-C161-1607-01037578DB14}"/>
              </a:ext>
            </a:extLst>
          </p:cNvPr>
          <p:cNvCxnSpPr>
            <a:cxnSpLocks/>
          </p:cNvCxnSpPr>
          <p:nvPr/>
        </p:nvCxnSpPr>
        <p:spPr>
          <a:xfrm flipV="1">
            <a:off x="8052036"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59" name="正方形/長方形 58">
            <a:extLst>
              <a:ext uri="{FF2B5EF4-FFF2-40B4-BE49-F238E27FC236}">
                <a16:creationId xmlns:a16="http://schemas.microsoft.com/office/drawing/2014/main" id="{E198D784-12B8-A731-BC9C-56B20E5FE509}"/>
              </a:ext>
            </a:extLst>
          </p:cNvPr>
          <p:cNvSpPr/>
          <p:nvPr/>
        </p:nvSpPr>
        <p:spPr>
          <a:xfrm>
            <a:off x="8975870" y="1368731"/>
            <a:ext cx="1119063" cy="30268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61" name="直線コネクタ 60">
            <a:extLst>
              <a:ext uri="{FF2B5EF4-FFF2-40B4-BE49-F238E27FC236}">
                <a16:creationId xmlns:a16="http://schemas.microsoft.com/office/drawing/2014/main" id="{2AEBDF7E-6928-16C2-CD95-6F10796978DB}"/>
              </a:ext>
            </a:extLst>
          </p:cNvPr>
          <p:cNvCxnSpPr>
            <a:cxnSpLocks/>
          </p:cNvCxnSpPr>
          <p:nvPr/>
        </p:nvCxnSpPr>
        <p:spPr>
          <a:xfrm flipV="1">
            <a:off x="8975870"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62" name="正方形/長方形 61">
            <a:extLst>
              <a:ext uri="{FF2B5EF4-FFF2-40B4-BE49-F238E27FC236}">
                <a16:creationId xmlns:a16="http://schemas.microsoft.com/office/drawing/2014/main" id="{F4806654-ED38-F9FD-EF47-53EAE58E22CD}"/>
              </a:ext>
            </a:extLst>
          </p:cNvPr>
          <p:cNvSpPr/>
          <p:nvPr/>
        </p:nvSpPr>
        <p:spPr>
          <a:xfrm>
            <a:off x="10049960" y="1368731"/>
            <a:ext cx="562696" cy="302680"/>
          </a:xfrm>
          <a:prstGeom prst="rect">
            <a:avLst/>
          </a:prstGeom>
          <a:solidFill>
            <a:srgbClr val="4B9AE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63" name="直線コネクタ 62">
            <a:extLst>
              <a:ext uri="{FF2B5EF4-FFF2-40B4-BE49-F238E27FC236}">
                <a16:creationId xmlns:a16="http://schemas.microsoft.com/office/drawing/2014/main" id="{D33299E8-DF40-66D9-0D7F-EA35DB201212}"/>
              </a:ext>
            </a:extLst>
          </p:cNvPr>
          <p:cNvCxnSpPr>
            <a:cxnSpLocks/>
          </p:cNvCxnSpPr>
          <p:nvPr/>
        </p:nvCxnSpPr>
        <p:spPr>
          <a:xfrm flipV="1">
            <a:off x="10049960"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64" name="正方形/長方形 63">
            <a:extLst>
              <a:ext uri="{FF2B5EF4-FFF2-40B4-BE49-F238E27FC236}">
                <a16:creationId xmlns:a16="http://schemas.microsoft.com/office/drawing/2014/main" id="{DECC76BD-51E8-107C-34AC-9AE3EF448D77}"/>
              </a:ext>
            </a:extLst>
          </p:cNvPr>
          <p:cNvSpPr/>
          <p:nvPr/>
        </p:nvSpPr>
        <p:spPr>
          <a:xfrm>
            <a:off x="10503831" y="1368731"/>
            <a:ext cx="627241" cy="302680"/>
          </a:xfrm>
          <a:prstGeom prst="rect">
            <a:avLst/>
          </a:prstGeom>
          <a:solidFill>
            <a:srgbClr val="FFA4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65" name="直線コネクタ 64">
            <a:extLst>
              <a:ext uri="{FF2B5EF4-FFF2-40B4-BE49-F238E27FC236}">
                <a16:creationId xmlns:a16="http://schemas.microsoft.com/office/drawing/2014/main" id="{B0DA99FD-7C1C-D093-53F4-F284154AA82E}"/>
              </a:ext>
            </a:extLst>
          </p:cNvPr>
          <p:cNvCxnSpPr>
            <a:cxnSpLocks/>
          </p:cNvCxnSpPr>
          <p:nvPr/>
        </p:nvCxnSpPr>
        <p:spPr>
          <a:xfrm flipV="1">
            <a:off x="10503832"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66" name="正方形/長方形 65">
            <a:extLst>
              <a:ext uri="{FF2B5EF4-FFF2-40B4-BE49-F238E27FC236}">
                <a16:creationId xmlns:a16="http://schemas.microsoft.com/office/drawing/2014/main" id="{D3852BA8-65B0-7ABA-C3CC-4CF28592F4C1}"/>
              </a:ext>
            </a:extLst>
          </p:cNvPr>
          <p:cNvSpPr/>
          <p:nvPr/>
        </p:nvSpPr>
        <p:spPr>
          <a:xfrm>
            <a:off x="11042030" y="1368731"/>
            <a:ext cx="644117" cy="302680"/>
          </a:xfrm>
          <a:prstGeom prst="rect">
            <a:avLst/>
          </a:prstGeom>
          <a:solidFill>
            <a:srgbClr val="4B9AE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endParaRPr kumimoji="1" lang="ja-JP" altLang="en-US" sz="2000"/>
          </a:p>
        </p:txBody>
      </p:sp>
      <p:cxnSp>
        <p:nvCxnSpPr>
          <p:cNvPr id="67" name="直線コネクタ 66">
            <a:extLst>
              <a:ext uri="{FF2B5EF4-FFF2-40B4-BE49-F238E27FC236}">
                <a16:creationId xmlns:a16="http://schemas.microsoft.com/office/drawing/2014/main" id="{BB83CFF8-F04B-9A3D-4358-483F91C158EE}"/>
              </a:ext>
            </a:extLst>
          </p:cNvPr>
          <p:cNvCxnSpPr>
            <a:cxnSpLocks/>
          </p:cNvCxnSpPr>
          <p:nvPr/>
        </p:nvCxnSpPr>
        <p:spPr>
          <a:xfrm flipV="1">
            <a:off x="11042032"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cxnSp>
        <p:nvCxnSpPr>
          <p:cNvPr id="68" name="直線コネクタ 67">
            <a:extLst>
              <a:ext uri="{FF2B5EF4-FFF2-40B4-BE49-F238E27FC236}">
                <a16:creationId xmlns:a16="http://schemas.microsoft.com/office/drawing/2014/main" id="{E6B69DE8-15B4-2A56-F7F2-E1D86E008D3F}"/>
              </a:ext>
            </a:extLst>
          </p:cNvPr>
          <p:cNvCxnSpPr>
            <a:cxnSpLocks/>
          </p:cNvCxnSpPr>
          <p:nvPr/>
        </p:nvCxnSpPr>
        <p:spPr>
          <a:xfrm flipV="1">
            <a:off x="11681883" y="1368731"/>
            <a:ext cx="0" cy="3348000"/>
          </a:xfrm>
          <a:prstGeom prst="line">
            <a:avLst/>
          </a:prstGeom>
          <a:ln w="19050">
            <a:solidFill>
              <a:schemeClr val="tx1">
                <a:lumMod val="85000"/>
                <a:lumOff val="15000"/>
                <a:alpha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79" name="楕円 78">
            <a:extLst>
              <a:ext uri="{FF2B5EF4-FFF2-40B4-BE49-F238E27FC236}">
                <a16:creationId xmlns:a16="http://schemas.microsoft.com/office/drawing/2014/main" id="{F0B87DAD-6493-00C5-0690-B8946D05D4A7}"/>
              </a:ext>
            </a:extLst>
          </p:cNvPr>
          <p:cNvSpPr/>
          <p:nvPr/>
        </p:nvSpPr>
        <p:spPr>
          <a:xfrm rot="19037025">
            <a:off x="8877735" y="1591884"/>
            <a:ext cx="1148675" cy="1958967"/>
          </a:xfrm>
          <a:prstGeom prst="ellipse">
            <a:avLst/>
          </a:prstGeom>
          <a:noFill/>
          <a:ln w="57150">
            <a:solidFill>
              <a:srgbClr val="C00000"/>
            </a:solidFill>
          </a:ln>
          <a:effectLst>
            <a:glow rad="38100">
              <a:schemeClr val="bg1"/>
            </a:glo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lnSpc>
                <a:spcPct val="120000"/>
              </a:lnSpc>
              <a:spcAft>
                <a:spcPts val="1200"/>
              </a:spcAft>
            </a:pPr>
            <a:endParaRPr kumimoji="1" lang="ja-JP" altLang="en-US" sz="2000" dirty="0">
              <a:solidFill>
                <a:sysClr val="windowText" lastClr="000000"/>
              </a:solidFill>
              <a:latin typeface="Segoe UI" panose="020B0502040204020203" pitchFamily="34" charset="0"/>
              <a:ea typeface="Meiryo UI" panose="020B0604030504040204" pitchFamily="50" charset="-128"/>
            </a:endParaRPr>
          </a:p>
        </p:txBody>
      </p:sp>
      <p:sp>
        <p:nvSpPr>
          <p:cNvPr id="81" name="楕円 80">
            <a:extLst>
              <a:ext uri="{FF2B5EF4-FFF2-40B4-BE49-F238E27FC236}">
                <a16:creationId xmlns:a16="http://schemas.microsoft.com/office/drawing/2014/main" id="{18F99A48-5BB7-5823-D27F-28AE0A457326}"/>
              </a:ext>
            </a:extLst>
          </p:cNvPr>
          <p:cNvSpPr/>
          <p:nvPr/>
        </p:nvSpPr>
        <p:spPr>
          <a:xfrm rot="19037025">
            <a:off x="10227797" y="4402454"/>
            <a:ext cx="557397" cy="456549"/>
          </a:xfrm>
          <a:prstGeom prst="ellipse">
            <a:avLst/>
          </a:prstGeom>
          <a:noFill/>
          <a:ln w="57150">
            <a:solidFill>
              <a:srgbClr val="C00000"/>
            </a:solidFill>
          </a:ln>
          <a:effectLst>
            <a:glow rad="38100">
              <a:schemeClr val="bg1"/>
            </a:glo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lnSpc>
                <a:spcPct val="120000"/>
              </a:lnSpc>
              <a:spcAft>
                <a:spcPts val="1200"/>
              </a:spcAft>
            </a:pPr>
            <a:endParaRPr kumimoji="1" lang="ja-JP" altLang="en-US" sz="2000" dirty="0">
              <a:solidFill>
                <a:sysClr val="windowText" lastClr="000000"/>
              </a:solidFill>
              <a:latin typeface="Segoe UI" panose="020B0502040204020203" pitchFamily="34" charset="0"/>
              <a:ea typeface="Meiryo UI" panose="020B0604030504040204" pitchFamily="50" charset="-128"/>
            </a:endParaRPr>
          </a:p>
        </p:txBody>
      </p:sp>
      <p:sp>
        <p:nvSpPr>
          <p:cNvPr id="51" name="テキスト ボックス 50">
            <a:extLst>
              <a:ext uri="{FF2B5EF4-FFF2-40B4-BE49-F238E27FC236}">
                <a16:creationId xmlns:a16="http://schemas.microsoft.com/office/drawing/2014/main" id="{E8331A41-8747-0791-D5ED-D23F70AA2D6D}"/>
              </a:ext>
            </a:extLst>
          </p:cNvPr>
          <p:cNvSpPr txBox="1"/>
          <p:nvPr/>
        </p:nvSpPr>
        <p:spPr>
          <a:xfrm>
            <a:off x="1769944" y="6204920"/>
            <a:ext cx="8652113" cy="492827"/>
          </a:xfrm>
          <a:prstGeom prst="rect">
            <a:avLst/>
          </a:prstGeom>
          <a:noFill/>
        </p:spPr>
        <p:txBody>
          <a:bodyPr wrap="none">
            <a:spAutoFit/>
          </a:bodyPr>
          <a:lstStyle/>
          <a:p>
            <a:pPr lvl="0" algn="ctr">
              <a:lnSpc>
                <a:spcPct val="120000"/>
              </a:lnSpc>
              <a:spcAft>
                <a:spcPts val="1200"/>
              </a:spcAft>
              <a:defRPr/>
            </a:pPr>
            <a:r>
              <a:rPr lang="ja-JP" altLang="en-US" sz="2400" b="1" dirty="0">
                <a:latin typeface="Segoe UI" panose="020B0502040204020203" pitchFamily="34" charset="0"/>
                <a:ea typeface="Meiryo UI" panose="020B0604030504040204" pitchFamily="50" charset="-128"/>
              </a:rPr>
              <a:t>精度および推論速度から</a:t>
            </a:r>
            <a:r>
              <a:rPr lang="en-US" altLang="ja-JP" sz="2400" b="1" dirty="0">
                <a:latin typeface="Segoe UI" panose="020B0502040204020203" pitchFamily="34" charset="0"/>
                <a:ea typeface="Meiryo UI" panose="020B0604030504040204" pitchFamily="50" charset="-128"/>
              </a:rPr>
              <a:t>TCN</a:t>
            </a:r>
            <a:r>
              <a:rPr lang="ja-JP" altLang="en-US" sz="2400" b="1" dirty="0">
                <a:latin typeface="Segoe UI" panose="020B0502040204020203" pitchFamily="34" charset="0"/>
                <a:ea typeface="Meiryo UI" panose="020B0604030504040204" pitchFamily="50" charset="-128"/>
              </a:rPr>
              <a:t>を用いた判別が最良であることを示唆</a:t>
            </a:r>
          </a:p>
        </p:txBody>
      </p:sp>
      <p:sp>
        <p:nvSpPr>
          <p:cNvPr id="87" name="テキスト ボックス 86">
            <a:extLst>
              <a:ext uri="{FF2B5EF4-FFF2-40B4-BE49-F238E27FC236}">
                <a16:creationId xmlns:a16="http://schemas.microsoft.com/office/drawing/2014/main" id="{4D02BBD9-00FC-663B-8C19-9BBDE7E52D6E}"/>
              </a:ext>
            </a:extLst>
          </p:cNvPr>
          <p:cNvSpPr txBox="1"/>
          <p:nvPr/>
        </p:nvSpPr>
        <p:spPr>
          <a:xfrm>
            <a:off x="629312" y="5684914"/>
            <a:ext cx="10933378" cy="492827"/>
          </a:xfrm>
          <a:prstGeom prst="rect">
            <a:avLst/>
          </a:prstGeom>
          <a:noFill/>
        </p:spPr>
        <p:txBody>
          <a:bodyPr wrap="none">
            <a:spAutoFit/>
          </a:bodyPr>
          <a:lstStyle/>
          <a:p>
            <a:pPr lvl="0" algn="ctr">
              <a:lnSpc>
                <a:spcPct val="120000"/>
              </a:lnSpc>
              <a:spcAft>
                <a:spcPts val="1800"/>
              </a:spcAft>
              <a:defRPr/>
            </a:pPr>
            <a:r>
              <a:rPr lang="en-US" altLang="ja-JP" sz="2400" dirty="0">
                <a:latin typeface="Segoe UI" panose="020B0502040204020203" pitchFamily="34" charset="0"/>
                <a:ea typeface="Meiryo UI" panose="020B0604030504040204" pitchFamily="50" charset="-128"/>
              </a:rPr>
              <a:t>TCN</a:t>
            </a:r>
            <a:r>
              <a:rPr lang="ja-JP" altLang="en-US" sz="2400" dirty="0">
                <a:latin typeface="Segoe UI" panose="020B0502040204020203" pitchFamily="34" charset="0"/>
                <a:ea typeface="Meiryo UI" panose="020B0604030504040204" pitchFamily="50" charset="-128"/>
              </a:rPr>
              <a:t>を用いた判別は，</a:t>
            </a:r>
            <a:r>
              <a:rPr lang="ja-JP" altLang="en-US" sz="2400" u="sng" dirty="0">
                <a:latin typeface="Segoe UI" panose="020B0502040204020203" pitchFamily="34" charset="0"/>
                <a:ea typeface="Meiryo UI" panose="020B0604030504040204" pitchFamily="50" charset="-128"/>
              </a:rPr>
              <a:t>息止め状態</a:t>
            </a:r>
            <a:r>
              <a:rPr lang="ja-JP" altLang="en-US" sz="2400" dirty="0">
                <a:latin typeface="Segoe UI" panose="020B0502040204020203" pitchFamily="34" charset="0"/>
                <a:ea typeface="Meiryo UI" panose="020B0604030504040204" pitchFamily="50" charset="-128"/>
              </a:rPr>
              <a:t>および</a:t>
            </a:r>
            <a:r>
              <a:rPr lang="ja-JP" altLang="en-US" sz="2400" u="sng" dirty="0">
                <a:latin typeface="Segoe UI" panose="020B0502040204020203" pitchFamily="34" charset="0"/>
                <a:ea typeface="Meiryo UI" panose="020B0604030504040204" pitchFamily="50" charset="-128"/>
              </a:rPr>
              <a:t>呼吸状態の遷移区間</a:t>
            </a:r>
            <a:r>
              <a:rPr lang="ja-JP" altLang="en-US" sz="2400" dirty="0">
                <a:latin typeface="Segoe UI" panose="020B0502040204020203" pitchFamily="34" charset="0"/>
                <a:ea typeface="Meiryo UI" panose="020B0604030504040204" pitchFamily="50" charset="-128"/>
              </a:rPr>
              <a:t>における判別精度が高い</a:t>
            </a:r>
            <a:endParaRPr lang="en-US" altLang="ja-JP" sz="2400" dirty="0">
              <a:latin typeface="Segoe UI" panose="020B0502040204020203" pitchFamily="34" charset="0"/>
              <a:ea typeface="Meiryo UI" panose="020B0604030504040204" pitchFamily="50" charset="-128"/>
            </a:endParaRPr>
          </a:p>
        </p:txBody>
      </p:sp>
    </p:spTree>
    <p:extLst>
      <p:ext uri="{BB962C8B-B14F-4D97-AF65-F5344CB8AC3E}">
        <p14:creationId xmlns:p14="http://schemas.microsoft.com/office/powerpoint/2010/main" val="3360401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80" grpId="0" animBg="1"/>
      <p:bldP spid="79" grpId="0" animBg="1"/>
      <p:bldP spid="8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949A2-ECA6-FD5D-6C8F-E05D4B20A27A}"/>
            </a:ext>
          </a:extLst>
        </p:cNvPr>
        <p:cNvGrpSpPr/>
        <p:nvPr/>
      </p:nvGrpSpPr>
      <p:grpSpPr>
        <a:xfrm>
          <a:off x="0" y="0"/>
          <a:ext cx="0" cy="0"/>
          <a:chOff x="0" y="0"/>
          <a:chExt cx="0" cy="0"/>
        </a:xfrm>
      </p:grpSpPr>
      <p:grpSp>
        <p:nvGrpSpPr>
          <p:cNvPr id="6" name="グループ化 5">
            <a:extLst>
              <a:ext uri="{FF2B5EF4-FFF2-40B4-BE49-F238E27FC236}">
                <a16:creationId xmlns:a16="http://schemas.microsoft.com/office/drawing/2014/main" id="{F0B1D551-1F64-956A-A22C-2394CC75E424}"/>
              </a:ext>
            </a:extLst>
          </p:cNvPr>
          <p:cNvGrpSpPr/>
          <p:nvPr/>
        </p:nvGrpSpPr>
        <p:grpSpPr>
          <a:xfrm>
            <a:off x="3327400" y="952902"/>
            <a:ext cx="8585200" cy="5619750"/>
            <a:chOff x="3327400" y="952902"/>
            <a:chExt cx="8585200" cy="5619750"/>
          </a:xfrm>
        </p:grpSpPr>
        <p:sp>
          <p:nvSpPr>
            <p:cNvPr id="10" name="TextBox 7">
              <a:extLst>
                <a:ext uri="{FF2B5EF4-FFF2-40B4-BE49-F238E27FC236}">
                  <a16:creationId xmlns:a16="http://schemas.microsoft.com/office/drawing/2014/main" id="{D103D009-228B-A761-9431-945C077E78CC}"/>
                </a:ext>
              </a:extLst>
            </p:cNvPr>
            <p:cNvSpPr txBox="1"/>
            <p:nvPr/>
          </p:nvSpPr>
          <p:spPr>
            <a:xfrm>
              <a:off x="3365500" y="3598963"/>
              <a:ext cx="2031325" cy="461665"/>
            </a:xfrm>
            <a:prstGeom prst="rect">
              <a:avLst/>
            </a:prstGeom>
            <a:noFill/>
          </p:spPr>
          <p:txBody>
            <a:bodyPr wrap="none" rtlCol="0">
              <a:spAutoFit/>
            </a:bodyPr>
            <a:lstStyle/>
            <a:p>
              <a:pPr algn="ctr"/>
              <a:r>
                <a:rPr lang="ja-JP" altLang="en-US" sz="2400" b="1" dirty="0">
                  <a:solidFill>
                    <a:sysClr val="windowText" lastClr="000000"/>
                  </a:solidFill>
                  <a:latin typeface="Segoe UI" panose="020B0502040204020203" pitchFamily="34" charset="0"/>
                  <a:ea typeface="Meiryo UI" panose="020B0604030504040204" pitchFamily="50" charset="-128"/>
                </a:rPr>
                <a:t>呼吸時間推定</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29" name="フローチャート: 処理 28">
              <a:extLst>
                <a:ext uri="{FF2B5EF4-FFF2-40B4-BE49-F238E27FC236}">
                  <a16:creationId xmlns:a16="http://schemas.microsoft.com/office/drawing/2014/main" id="{13C3B904-3532-DB70-B7B0-71A46D1398B1}"/>
                </a:ext>
              </a:extLst>
            </p:cNvPr>
            <p:cNvSpPr/>
            <p:nvPr/>
          </p:nvSpPr>
          <p:spPr>
            <a:xfrm>
              <a:off x="3327400" y="3560863"/>
              <a:ext cx="8585200" cy="3011789"/>
            </a:xfrm>
            <a:prstGeom prst="flowChartProcess">
              <a:avLst/>
            </a:prstGeom>
            <a:solidFill>
              <a:schemeClr val="accent3">
                <a:lumMod val="20000"/>
                <a:lumOff val="80000"/>
              </a:schemeClr>
            </a:solid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00" dirty="0">
                <a:solidFill>
                  <a:schemeClr val="tx1"/>
                </a:solidFill>
                <a:latin typeface="Segoe UI" panose="020B0502040204020203" pitchFamily="34" charset="0"/>
                <a:ea typeface="Meiryo UI" panose="020B0604030504040204" pitchFamily="50" charset="-128"/>
              </a:endParaRPr>
            </a:p>
          </p:txBody>
        </p:sp>
        <p:sp>
          <p:nvSpPr>
            <p:cNvPr id="30" name="フローチャート: 処理 29">
              <a:extLst>
                <a:ext uri="{FF2B5EF4-FFF2-40B4-BE49-F238E27FC236}">
                  <a16:creationId xmlns:a16="http://schemas.microsoft.com/office/drawing/2014/main" id="{44BE2F9B-F141-7025-AED0-BA402250640C}"/>
                </a:ext>
              </a:extLst>
            </p:cNvPr>
            <p:cNvSpPr/>
            <p:nvPr/>
          </p:nvSpPr>
          <p:spPr>
            <a:xfrm>
              <a:off x="3327400" y="952902"/>
              <a:ext cx="8585200" cy="2523302"/>
            </a:xfrm>
            <a:prstGeom prst="flowChartProcess">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00" dirty="0">
                <a:solidFill>
                  <a:schemeClr val="tx1"/>
                </a:solidFill>
                <a:latin typeface="Segoe UI" panose="020B0502040204020203" pitchFamily="34" charset="0"/>
                <a:ea typeface="Meiryo UI" panose="020B0604030504040204" pitchFamily="50" charset="-128"/>
              </a:endParaRPr>
            </a:p>
          </p:txBody>
        </p:sp>
        <p:sp>
          <p:nvSpPr>
            <p:cNvPr id="31" name="TextBox 7">
              <a:extLst>
                <a:ext uri="{FF2B5EF4-FFF2-40B4-BE49-F238E27FC236}">
                  <a16:creationId xmlns:a16="http://schemas.microsoft.com/office/drawing/2014/main" id="{175BF1D0-3AB3-8BCC-92CE-89C1ACFCA1EF}"/>
                </a:ext>
              </a:extLst>
            </p:cNvPr>
            <p:cNvSpPr txBox="1"/>
            <p:nvPr/>
          </p:nvSpPr>
          <p:spPr>
            <a:xfrm>
              <a:off x="3365500" y="971952"/>
              <a:ext cx="2031325" cy="461665"/>
            </a:xfrm>
            <a:prstGeom prst="rect">
              <a:avLst/>
            </a:prstGeom>
            <a:noFill/>
          </p:spPr>
          <p:txBody>
            <a:bodyPr wrap="none" rtlCol="0">
              <a:spAutoFit/>
            </a:bodyPr>
            <a:lstStyle/>
            <a:p>
              <a:pPr algn="ctr"/>
              <a:r>
                <a:rPr lang="ja-JP" altLang="en-US" sz="2400" b="1" dirty="0">
                  <a:solidFill>
                    <a:sysClr val="windowText" lastClr="000000"/>
                  </a:solidFill>
                  <a:latin typeface="Segoe UI" panose="020B0502040204020203" pitchFamily="34" charset="0"/>
                  <a:ea typeface="Meiryo UI" panose="020B0604030504040204" pitchFamily="50" charset="-128"/>
                </a:rPr>
                <a:t>呼吸状態判別</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33" name="テキスト ボックス 32">
              <a:extLst>
                <a:ext uri="{FF2B5EF4-FFF2-40B4-BE49-F238E27FC236}">
                  <a16:creationId xmlns:a16="http://schemas.microsoft.com/office/drawing/2014/main" id="{26B4F0D4-E2E7-629A-CF7A-94906CEFE7C6}"/>
                </a:ext>
              </a:extLst>
            </p:cNvPr>
            <p:cNvSpPr txBox="1"/>
            <p:nvPr/>
          </p:nvSpPr>
          <p:spPr>
            <a:xfrm>
              <a:off x="7535279" y="5811243"/>
              <a:ext cx="1467068"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呼吸進行度</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推定結果</a:t>
              </a:r>
            </a:p>
          </p:txBody>
        </p:sp>
        <p:cxnSp>
          <p:nvCxnSpPr>
            <p:cNvPr id="34" name="直線コネクタ 33">
              <a:extLst>
                <a:ext uri="{FF2B5EF4-FFF2-40B4-BE49-F238E27FC236}">
                  <a16:creationId xmlns:a16="http://schemas.microsoft.com/office/drawing/2014/main" id="{B3F6E60F-579C-76C0-4C1F-EB0BA40F586A}"/>
                </a:ext>
              </a:extLst>
            </p:cNvPr>
            <p:cNvCxnSpPr>
              <a:cxnSpLocks/>
            </p:cNvCxnSpPr>
            <p:nvPr/>
          </p:nvCxnSpPr>
          <p:spPr>
            <a:xfrm flipV="1">
              <a:off x="8749396" y="4481194"/>
              <a:ext cx="0" cy="9694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003634E4-09C6-EF1F-606C-FCF058698E7D}"/>
                </a:ext>
              </a:extLst>
            </p:cNvPr>
            <p:cNvSpPr txBox="1"/>
            <p:nvPr/>
          </p:nvSpPr>
          <p:spPr>
            <a:xfrm>
              <a:off x="8122171" y="3606282"/>
              <a:ext cx="1467068" cy="707886"/>
            </a:xfrm>
            <a:prstGeom prst="rect">
              <a:avLst/>
            </a:prstGeom>
            <a:noFill/>
          </p:spPr>
          <p:txBody>
            <a:bodyPr wrap="none" rtlCol="0">
              <a:spAutoFit/>
            </a:bodyPr>
            <a:lstStyle/>
            <a:p>
              <a:pPr algn="ctr"/>
              <a:r>
                <a:rPr kumimoji="1" lang="ja-JP" altLang="en-US" sz="2000" dirty="0">
                  <a:effectLst>
                    <a:glow rad="127000">
                      <a:schemeClr val="bg1"/>
                    </a:glow>
                  </a:effectLst>
                  <a:latin typeface="Segoe UI" panose="020B0502040204020203" pitchFamily="34" charset="0"/>
                  <a:ea typeface="Meiryo UI" panose="020B0604030504040204" pitchFamily="50" charset="-128"/>
                </a:rPr>
                <a:t>呼吸進行度</a:t>
              </a:r>
              <a:br>
                <a:rPr kumimoji="1" lang="en-US" altLang="ja-JP" sz="2000" dirty="0">
                  <a:effectLst>
                    <a:glow rad="127000">
                      <a:schemeClr val="bg1"/>
                    </a:glow>
                  </a:effectLst>
                  <a:latin typeface="Segoe UI" panose="020B0502040204020203" pitchFamily="34" charset="0"/>
                  <a:ea typeface="Meiryo UI" panose="020B0604030504040204" pitchFamily="50" charset="-128"/>
                </a:rPr>
              </a:br>
              <a:r>
                <a:rPr kumimoji="1" lang="en-US" altLang="ja-JP" sz="2000" dirty="0">
                  <a:effectLst>
                    <a:glow rad="127000">
                      <a:schemeClr val="bg1"/>
                    </a:glow>
                  </a:effectLst>
                  <a:latin typeface="Segoe UI" panose="020B0502040204020203" pitchFamily="34" charset="0"/>
                  <a:ea typeface="Meiryo UI" panose="020B0604030504040204" pitchFamily="50" charset="-128"/>
                </a:rPr>
                <a:t>20%</a:t>
              </a:r>
              <a:endParaRPr kumimoji="1" lang="ja-JP" altLang="en-US" sz="2000" dirty="0">
                <a:effectLst>
                  <a:glow rad="127000">
                    <a:schemeClr val="bg1"/>
                  </a:glow>
                </a:effectLst>
                <a:latin typeface="Segoe UI" panose="020B0502040204020203" pitchFamily="34" charset="0"/>
                <a:ea typeface="Meiryo UI" panose="020B0604030504040204" pitchFamily="50" charset="-128"/>
              </a:endParaRPr>
            </a:p>
          </p:txBody>
        </p:sp>
        <p:sp>
          <p:nvSpPr>
            <p:cNvPr id="46" name="矢印: 左右 45">
              <a:extLst>
                <a:ext uri="{FF2B5EF4-FFF2-40B4-BE49-F238E27FC236}">
                  <a16:creationId xmlns:a16="http://schemas.microsoft.com/office/drawing/2014/main" id="{1333EFA5-8EB8-DE97-C205-C93B9C858611}"/>
                </a:ext>
              </a:extLst>
            </p:cNvPr>
            <p:cNvSpPr/>
            <p:nvPr/>
          </p:nvSpPr>
          <p:spPr>
            <a:xfrm>
              <a:off x="8742514" y="4338961"/>
              <a:ext cx="226383" cy="118421"/>
            </a:xfrm>
            <a:prstGeom prst="leftRightArrow">
              <a:avLst>
                <a:gd name="adj1" fmla="val 82102"/>
                <a:gd name="adj2" fmla="val 41603"/>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47" name="テキスト ボックス 46">
              <a:extLst>
                <a:ext uri="{FF2B5EF4-FFF2-40B4-BE49-F238E27FC236}">
                  <a16:creationId xmlns:a16="http://schemas.microsoft.com/office/drawing/2014/main" id="{218484A9-E0CC-C44F-B4E8-330A87442DC4}"/>
                </a:ext>
              </a:extLst>
            </p:cNvPr>
            <p:cNvSpPr txBox="1"/>
            <p:nvPr/>
          </p:nvSpPr>
          <p:spPr>
            <a:xfrm>
              <a:off x="3624461" y="5811243"/>
              <a:ext cx="1210589"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計測結果</a:t>
              </a:r>
            </a:p>
          </p:txBody>
        </p:sp>
        <p:sp>
          <p:nvSpPr>
            <p:cNvPr id="48" name="テキスト ボックス 47">
              <a:extLst>
                <a:ext uri="{FF2B5EF4-FFF2-40B4-BE49-F238E27FC236}">
                  <a16:creationId xmlns:a16="http://schemas.microsoft.com/office/drawing/2014/main" id="{C36A6A10-186F-65CB-95FA-FDBAC64755ED}"/>
                </a:ext>
              </a:extLst>
            </p:cNvPr>
            <p:cNvSpPr txBox="1"/>
            <p:nvPr/>
          </p:nvSpPr>
          <p:spPr>
            <a:xfrm>
              <a:off x="9963251" y="5811243"/>
              <a:ext cx="1628972"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残り呼吸時間</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推定</a:t>
              </a:r>
            </a:p>
          </p:txBody>
        </p:sp>
        <p:cxnSp>
          <p:nvCxnSpPr>
            <p:cNvPr id="50" name="直線矢印コネクタ 49">
              <a:extLst>
                <a:ext uri="{FF2B5EF4-FFF2-40B4-BE49-F238E27FC236}">
                  <a16:creationId xmlns:a16="http://schemas.microsoft.com/office/drawing/2014/main" id="{5AC422F0-B6BB-8F4B-4D8E-A3A172C9ED16}"/>
                </a:ext>
              </a:extLst>
            </p:cNvPr>
            <p:cNvCxnSpPr>
              <a:cxnSpLocks/>
            </p:cNvCxnSpPr>
            <p:nvPr/>
          </p:nvCxnSpPr>
          <p:spPr>
            <a:xfrm>
              <a:off x="9389622" y="5024639"/>
              <a:ext cx="492377" cy="0"/>
            </a:xfrm>
            <a:prstGeom prst="straightConnector1">
              <a:avLst/>
            </a:prstGeom>
            <a:ln w="38100">
              <a:solidFill>
                <a:srgbClr val="010101"/>
              </a:solidFill>
              <a:tailEnd type="triangle"/>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C5ADA83E-A7DE-9C58-FA70-652A2EF597B7}"/>
                </a:ext>
              </a:extLst>
            </p:cNvPr>
            <p:cNvSpPr txBox="1"/>
            <p:nvPr/>
          </p:nvSpPr>
          <p:spPr>
            <a:xfrm>
              <a:off x="10587136" y="3606282"/>
              <a:ext cx="1210589" cy="707886"/>
            </a:xfrm>
            <a:prstGeom prst="rect">
              <a:avLst/>
            </a:prstGeom>
            <a:noFill/>
          </p:spPr>
          <p:txBody>
            <a:bodyPr wrap="none" rtlCol="0">
              <a:spAutoFit/>
            </a:bodyPr>
            <a:lstStyle/>
            <a:p>
              <a:pPr marL="0" marR="0" indent="0" algn="ctr" defTabSz="914400" rtl="0" eaLnBrk="1" fontAlgn="auto" latinLnBrk="0" hangingPunct="1">
                <a:spcBef>
                  <a:spcPts val="1200"/>
                </a:spcBef>
                <a:spcAft>
                  <a:spcPts val="0"/>
                </a:spcAft>
                <a:buClrTx/>
                <a:buSzTx/>
                <a:buFontTx/>
                <a:buNone/>
                <a:tabLst/>
              </a:pPr>
              <a:r>
                <a:rPr kumimoji="1" lang="ja-JP" altLang="en-US" sz="2000" dirty="0">
                  <a:solidFill>
                    <a:prstClr val="black"/>
                  </a:solidFill>
                  <a:effectLst>
                    <a:glow rad="127000">
                      <a:schemeClr val="bg1"/>
                    </a:glow>
                  </a:effectLst>
                  <a:latin typeface="Segoe UI" panose="020B0502040204020203" pitchFamily="34" charset="0"/>
                  <a:ea typeface="Meiryo UI" panose="020B0604030504040204" pitchFamily="50" charset="-128"/>
                </a:rPr>
                <a:t>推定</a:t>
              </a:r>
              <a:r>
                <a:rPr kumimoji="1" lang="ja-JP" altLang="en-US" sz="2000" b="0" i="0" u="none" strike="noStrike" kern="1200" cap="none" spc="0" normalizeH="0" noProof="0" dirty="0">
                  <a:ln>
                    <a:noFill/>
                  </a:ln>
                  <a:solidFill>
                    <a:prstClr val="black"/>
                  </a:solidFill>
                  <a:effectLst>
                    <a:glow rad="127000">
                      <a:schemeClr val="bg1"/>
                    </a:glow>
                  </a:effectLst>
                  <a:uLnTx/>
                  <a:uFillTx/>
                  <a:latin typeface="Segoe UI" panose="020B0502040204020203" pitchFamily="34" charset="0"/>
                  <a:ea typeface="Meiryo UI" panose="020B0604030504040204" pitchFamily="50" charset="-128"/>
                </a:rPr>
                <a:t>残り</a:t>
              </a:r>
              <a:br>
                <a:rPr kumimoji="1" lang="en-US" altLang="ja-JP" sz="2000" b="0" i="0" u="none" strike="noStrike" kern="1200" cap="none" spc="0" normalizeH="0" noProof="0" dirty="0">
                  <a:ln>
                    <a:noFill/>
                  </a:ln>
                  <a:solidFill>
                    <a:prstClr val="black"/>
                  </a:solidFill>
                  <a:effectLst>
                    <a:glow rad="127000">
                      <a:schemeClr val="bg1"/>
                    </a:glow>
                  </a:effectLst>
                  <a:uLnTx/>
                  <a:uFillTx/>
                  <a:latin typeface="Segoe UI" panose="020B0502040204020203" pitchFamily="34" charset="0"/>
                  <a:ea typeface="Meiryo UI" panose="020B0604030504040204" pitchFamily="50" charset="-128"/>
                </a:rPr>
              </a:br>
              <a:r>
                <a:rPr kumimoji="1" lang="ja-JP" altLang="en-US" sz="2000" b="0" i="0" u="none" strike="noStrike" kern="1200" cap="none" spc="0" normalizeH="0" noProof="0" dirty="0">
                  <a:ln>
                    <a:noFill/>
                  </a:ln>
                  <a:solidFill>
                    <a:prstClr val="black"/>
                  </a:solidFill>
                  <a:effectLst>
                    <a:glow rad="127000">
                      <a:schemeClr val="bg1"/>
                    </a:glow>
                  </a:effectLst>
                  <a:uLnTx/>
                  <a:uFillTx/>
                  <a:latin typeface="Segoe UI" panose="020B0502040204020203" pitchFamily="34" charset="0"/>
                  <a:ea typeface="Meiryo UI" panose="020B0604030504040204" pitchFamily="50" charset="-128"/>
                </a:rPr>
                <a:t>呼吸時間</a:t>
              </a:r>
            </a:p>
          </p:txBody>
        </p:sp>
        <p:cxnSp>
          <p:nvCxnSpPr>
            <p:cNvPr id="58" name="直線矢印コネクタ 57">
              <a:extLst>
                <a:ext uri="{FF2B5EF4-FFF2-40B4-BE49-F238E27FC236}">
                  <a16:creationId xmlns:a16="http://schemas.microsoft.com/office/drawing/2014/main" id="{AAC15C9B-AA57-149D-F6F7-B47C5B2FCE92}"/>
                </a:ext>
              </a:extLst>
            </p:cNvPr>
            <p:cNvCxnSpPr>
              <a:cxnSpLocks/>
            </p:cNvCxnSpPr>
            <p:nvPr/>
          </p:nvCxnSpPr>
          <p:spPr>
            <a:xfrm>
              <a:off x="10704847" y="4381183"/>
              <a:ext cx="975166" cy="0"/>
            </a:xfrm>
            <a:prstGeom prst="straightConnector1">
              <a:avLst/>
            </a:prstGeom>
            <a:ln w="57150">
              <a:solidFill>
                <a:schemeClr val="tx1"/>
              </a:solidFill>
              <a:headEnd type="triangle" w="med" len="sm"/>
              <a:tailEnd type="triangle" w="med" len="sm"/>
            </a:ln>
          </p:spPr>
          <p:style>
            <a:lnRef idx="2">
              <a:schemeClr val="accent1"/>
            </a:lnRef>
            <a:fillRef idx="0">
              <a:schemeClr val="accent1"/>
            </a:fillRef>
            <a:effectRef idx="1">
              <a:schemeClr val="accent1"/>
            </a:effectRef>
            <a:fontRef idx="minor">
              <a:schemeClr val="tx1"/>
            </a:fontRef>
          </p:style>
        </p:cxnSp>
        <p:grpSp>
          <p:nvGrpSpPr>
            <p:cNvPr id="61" name="グループ化 60">
              <a:extLst>
                <a:ext uri="{FF2B5EF4-FFF2-40B4-BE49-F238E27FC236}">
                  <a16:creationId xmlns:a16="http://schemas.microsoft.com/office/drawing/2014/main" id="{F8517173-F865-A187-B170-7617BC885C9C}"/>
                </a:ext>
              </a:extLst>
            </p:cNvPr>
            <p:cNvGrpSpPr/>
            <p:nvPr/>
          </p:nvGrpSpPr>
          <p:grpSpPr>
            <a:xfrm>
              <a:off x="10171845" y="4515419"/>
              <a:ext cx="1211785" cy="1018440"/>
              <a:chOff x="10039194" y="4701184"/>
              <a:chExt cx="1211785" cy="1018440"/>
            </a:xfrm>
          </p:grpSpPr>
          <p:pic>
            <p:nvPicPr>
              <p:cNvPr id="88" name="図 87" descr="グラフ&#10;&#10;AI 生成コンテンツは誤りを含む可能性があります。">
                <a:extLst>
                  <a:ext uri="{FF2B5EF4-FFF2-40B4-BE49-F238E27FC236}">
                    <a16:creationId xmlns:a16="http://schemas.microsoft.com/office/drawing/2014/main" id="{46FC75FD-723B-5AA6-FD8B-5DD4E4C7B6DD}"/>
                  </a:ext>
                </a:extLst>
              </p:cNvPr>
              <p:cNvPicPr>
                <a:picLocks noChangeAspect="1"/>
              </p:cNvPicPr>
              <p:nvPr/>
            </p:nvPicPr>
            <p:blipFill>
              <a:blip r:embed="rId3">
                <a:duotone>
                  <a:prstClr val="black"/>
                  <a:schemeClr val="accent4">
                    <a:tint val="45000"/>
                    <a:satMod val="400000"/>
                  </a:schemeClr>
                </a:duotone>
                <a:extLst>
                  <a:ext uri="{BEBA8EAE-BF5A-486C-A8C5-ECC9F3942E4B}">
                    <a14:imgProps xmlns:a14="http://schemas.microsoft.com/office/drawing/2010/main">
                      <a14:imgLayer r:embed="rId4">
                        <a14:imgEffect>
                          <a14:artisticPaintStrokes/>
                        </a14:imgEffect>
                        <a14:imgEffect>
                          <a14:colorTemperature colorTemp="11200"/>
                        </a14:imgEffect>
                      </a14:imgLayer>
                    </a14:imgProps>
                  </a:ext>
                  <a:ext uri="{28A0092B-C50C-407E-A947-70E740481C1C}">
                    <a14:useLocalDpi xmlns:a14="http://schemas.microsoft.com/office/drawing/2010/main" val="0"/>
                  </a:ext>
                </a:extLst>
              </a:blip>
              <a:srcRect t="19579" b="29621"/>
              <a:stretch>
                <a:fillRect/>
              </a:stretch>
            </p:blipFill>
            <p:spPr>
              <a:xfrm flipH="1">
                <a:off x="10039194" y="4701540"/>
                <a:ext cx="1211785" cy="1016575"/>
              </a:xfrm>
              <a:prstGeom prst="rect">
                <a:avLst/>
              </a:prstGeom>
            </p:spPr>
          </p:pic>
          <p:sp>
            <p:nvSpPr>
              <p:cNvPr id="89" name="正方形/長方形 88">
                <a:extLst>
                  <a:ext uri="{FF2B5EF4-FFF2-40B4-BE49-F238E27FC236}">
                    <a16:creationId xmlns:a16="http://schemas.microsoft.com/office/drawing/2014/main" id="{56671EC8-F701-0880-8BD4-0B767A5907A8}"/>
                  </a:ext>
                </a:extLst>
              </p:cNvPr>
              <p:cNvSpPr/>
              <p:nvPr/>
            </p:nvSpPr>
            <p:spPr>
              <a:xfrm>
                <a:off x="10039196" y="4701184"/>
                <a:ext cx="525986" cy="1018440"/>
              </a:xfrm>
              <a:prstGeom prst="rect">
                <a:avLst/>
              </a:prstGeom>
              <a:solidFill>
                <a:schemeClr val="bg1">
                  <a:alpha val="8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latin typeface="Segoe UI" panose="020B0502040204020203" pitchFamily="34" charset="0"/>
                  <a:ea typeface="Meiryo UI" panose="020B0604030504040204" pitchFamily="50" charset="-128"/>
                </a:endParaRPr>
              </a:p>
            </p:txBody>
          </p:sp>
        </p:grpSp>
        <p:sp>
          <p:nvSpPr>
            <p:cNvPr id="65" name="テキスト ボックス 64">
              <a:extLst>
                <a:ext uri="{FF2B5EF4-FFF2-40B4-BE49-F238E27FC236}">
                  <a16:creationId xmlns:a16="http://schemas.microsoft.com/office/drawing/2014/main" id="{31509DDF-5670-9342-7BB2-A581CBD4BBD0}"/>
                </a:ext>
              </a:extLst>
            </p:cNvPr>
            <p:cNvSpPr txBox="1"/>
            <p:nvPr/>
          </p:nvSpPr>
          <p:spPr>
            <a:xfrm>
              <a:off x="10172443" y="2741796"/>
              <a:ext cx="1210589"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呼吸音源</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選択</a:t>
              </a:r>
            </a:p>
          </p:txBody>
        </p:sp>
        <p:sp>
          <p:nvSpPr>
            <p:cNvPr id="66" name="テキスト ボックス 65">
              <a:extLst>
                <a:ext uri="{FF2B5EF4-FFF2-40B4-BE49-F238E27FC236}">
                  <a16:creationId xmlns:a16="http://schemas.microsoft.com/office/drawing/2014/main" id="{0C97B1CC-EED8-AE92-55FE-0159B03003CB}"/>
                </a:ext>
              </a:extLst>
            </p:cNvPr>
            <p:cNvSpPr txBox="1"/>
            <p:nvPr/>
          </p:nvSpPr>
          <p:spPr>
            <a:xfrm>
              <a:off x="3624169" y="2741796"/>
              <a:ext cx="1210589"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計測結果</a:t>
              </a:r>
            </a:p>
          </p:txBody>
        </p:sp>
        <p:sp>
          <p:nvSpPr>
            <p:cNvPr id="67" name="テキスト ボックス 66">
              <a:extLst>
                <a:ext uri="{FF2B5EF4-FFF2-40B4-BE49-F238E27FC236}">
                  <a16:creationId xmlns:a16="http://schemas.microsoft.com/office/drawing/2014/main" id="{53E24CF0-24A6-91F3-69C8-087421516825}"/>
                </a:ext>
              </a:extLst>
            </p:cNvPr>
            <p:cNvSpPr txBox="1"/>
            <p:nvPr/>
          </p:nvSpPr>
          <p:spPr>
            <a:xfrm>
              <a:off x="7711144" y="2741796"/>
              <a:ext cx="1210589"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呼吸状態</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判別結果</a:t>
              </a:r>
            </a:p>
          </p:txBody>
        </p:sp>
        <p:cxnSp>
          <p:nvCxnSpPr>
            <p:cNvPr id="68" name="直線矢印コネクタ 67">
              <a:extLst>
                <a:ext uri="{FF2B5EF4-FFF2-40B4-BE49-F238E27FC236}">
                  <a16:creationId xmlns:a16="http://schemas.microsoft.com/office/drawing/2014/main" id="{0F5AF20B-6CF1-0591-742D-31682A505BD8}"/>
                </a:ext>
              </a:extLst>
            </p:cNvPr>
            <p:cNvCxnSpPr>
              <a:cxnSpLocks/>
            </p:cNvCxnSpPr>
            <p:nvPr/>
          </p:nvCxnSpPr>
          <p:spPr>
            <a:xfrm>
              <a:off x="9389622" y="2060247"/>
              <a:ext cx="492377" cy="0"/>
            </a:xfrm>
            <a:prstGeom prst="straightConnector1">
              <a:avLst/>
            </a:prstGeom>
            <a:ln w="38100">
              <a:solidFill>
                <a:srgbClr val="010101"/>
              </a:solidFill>
              <a:tailEnd type="triangle"/>
            </a:ln>
          </p:spPr>
          <p:style>
            <a:lnRef idx="1">
              <a:schemeClr val="accent1"/>
            </a:lnRef>
            <a:fillRef idx="0">
              <a:schemeClr val="accent1"/>
            </a:fillRef>
            <a:effectRef idx="0">
              <a:schemeClr val="accent1"/>
            </a:effectRef>
            <a:fontRef idx="minor">
              <a:schemeClr val="tx1"/>
            </a:fontRef>
          </p:style>
        </p:cxnSp>
        <p:pic>
          <p:nvPicPr>
            <p:cNvPr id="69" name="図 68" descr="グラフ&#10;&#10;AI 生成コンテンツは誤りを含む可能性があります。">
              <a:extLst>
                <a:ext uri="{FF2B5EF4-FFF2-40B4-BE49-F238E27FC236}">
                  <a16:creationId xmlns:a16="http://schemas.microsoft.com/office/drawing/2014/main" id="{A473A207-261D-0BC3-7F99-2402E2C14C52}"/>
                </a:ext>
              </a:extLst>
            </p:cNvPr>
            <p:cNvPicPr>
              <a:picLocks noChangeAspect="1"/>
            </p:cNvPicPr>
            <p:nvPr/>
          </p:nvPicPr>
          <p:blipFill>
            <a:blip r:embed="rId3">
              <a:duotone>
                <a:prstClr val="black"/>
                <a:schemeClr val="accent4">
                  <a:tint val="45000"/>
                  <a:satMod val="400000"/>
                </a:schemeClr>
              </a:duotone>
              <a:extLst>
                <a:ext uri="{BEBA8EAE-BF5A-486C-A8C5-ECC9F3942E4B}">
                  <a14:imgProps xmlns:a14="http://schemas.microsoft.com/office/drawing/2010/main">
                    <a14:imgLayer r:embed="rId4">
                      <a14:imgEffect>
                        <a14:artisticPaintStrokes/>
                      </a14:imgEffect>
                      <a14:imgEffect>
                        <a14:colorTemperature colorTemp="11200"/>
                      </a14:imgEffect>
                    </a14:imgLayer>
                  </a14:imgProps>
                </a:ext>
                <a:ext uri="{28A0092B-C50C-407E-A947-70E740481C1C}">
                  <a14:useLocalDpi xmlns:a14="http://schemas.microsoft.com/office/drawing/2010/main" val="0"/>
                </a:ext>
              </a:extLst>
            </a:blip>
            <a:srcRect t="19579" b="29621"/>
            <a:stretch>
              <a:fillRect/>
            </a:stretch>
          </p:blipFill>
          <p:spPr>
            <a:xfrm flipH="1">
              <a:off x="10139708" y="1551027"/>
              <a:ext cx="1276058" cy="1018440"/>
            </a:xfrm>
            <a:prstGeom prst="rect">
              <a:avLst/>
            </a:prstGeom>
          </p:spPr>
        </p:pic>
        <p:sp>
          <p:nvSpPr>
            <p:cNvPr id="70" name="テキスト ボックス 69">
              <a:extLst>
                <a:ext uri="{FF2B5EF4-FFF2-40B4-BE49-F238E27FC236}">
                  <a16:creationId xmlns:a16="http://schemas.microsoft.com/office/drawing/2014/main" id="{9F308239-5071-A68E-9FBA-C04C16C69806}"/>
                </a:ext>
              </a:extLst>
            </p:cNvPr>
            <p:cNvSpPr txBox="1"/>
            <p:nvPr/>
          </p:nvSpPr>
          <p:spPr>
            <a:xfrm>
              <a:off x="5593350" y="5811243"/>
              <a:ext cx="1311578"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呼吸時間</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推定モデル</a:t>
              </a:r>
            </a:p>
          </p:txBody>
        </p:sp>
        <p:cxnSp>
          <p:nvCxnSpPr>
            <p:cNvPr id="71" name="直線矢印コネクタ 70">
              <a:extLst>
                <a:ext uri="{FF2B5EF4-FFF2-40B4-BE49-F238E27FC236}">
                  <a16:creationId xmlns:a16="http://schemas.microsoft.com/office/drawing/2014/main" id="{2DD9B0D7-0C8F-7C03-2B38-ACDF24870A93}"/>
                </a:ext>
              </a:extLst>
            </p:cNvPr>
            <p:cNvCxnSpPr>
              <a:cxnSpLocks/>
            </p:cNvCxnSpPr>
            <p:nvPr/>
          </p:nvCxnSpPr>
          <p:spPr>
            <a:xfrm>
              <a:off x="5527277" y="5024639"/>
              <a:ext cx="1443724" cy="0"/>
            </a:xfrm>
            <a:prstGeom prst="straightConnector1">
              <a:avLst/>
            </a:prstGeom>
            <a:ln w="38100">
              <a:solidFill>
                <a:srgbClr val="010101"/>
              </a:solidFill>
              <a:tailEnd type="triangle" w="med" len="sm"/>
            </a:ln>
          </p:spPr>
          <p:style>
            <a:lnRef idx="1">
              <a:schemeClr val="accent1"/>
            </a:lnRef>
            <a:fillRef idx="0">
              <a:schemeClr val="accent1"/>
            </a:fillRef>
            <a:effectRef idx="0">
              <a:schemeClr val="accent1"/>
            </a:effectRef>
            <a:fontRef idx="minor">
              <a:schemeClr val="tx1"/>
            </a:fontRef>
          </p:style>
        </p:cxnSp>
        <p:sp>
          <p:nvSpPr>
            <p:cNvPr id="72" name="楕円 71">
              <a:extLst>
                <a:ext uri="{FF2B5EF4-FFF2-40B4-BE49-F238E27FC236}">
                  <a16:creationId xmlns:a16="http://schemas.microsoft.com/office/drawing/2014/main" id="{FE9329E4-4AF7-3BE8-77DC-BBCBE31E95B8}"/>
                </a:ext>
              </a:extLst>
            </p:cNvPr>
            <p:cNvSpPr/>
            <p:nvPr/>
          </p:nvSpPr>
          <p:spPr>
            <a:xfrm>
              <a:off x="5928280" y="4670389"/>
              <a:ext cx="461962" cy="461962"/>
            </a:xfrm>
            <a:prstGeom prst="ellipse">
              <a:avLst/>
            </a:prstGeom>
            <a:solidFill>
              <a:srgbClr val="DBEF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pic>
          <p:nvPicPr>
            <p:cNvPr id="73" name="グラフィックス 72" descr="人工知能 単色塗りつぶし">
              <a:extLst>
                <a:ext uri="{FF2B5EF4-FFF2-40B4-BE49-F238E27FC236}">
                  <a16:creationId xmlns:a16="http://schemas.microsoft.com/office/drawing/2014/main" id="{B3D5A29F-B070-B55A-DCEF-B76C999A5DF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10989" y="4586489"/>
              <a:ext cx="876300" cy="876300"/>
            </a:xfrm>
            <a:prstGeom prst="rect">
              <a:avLst/>
            </a:prstGeom>
          </p:spPr>
        </p:pic>
        <p:sp>
          <p:nvSpPr>
            <p:cNvPr id="74" name="テキスト ボックス 73">
              <a:extLst>
                <a:ext uri="{FF2B5EF4-FFF2-40B4-BE49-F238E27FC236}">
                  <a16:creationId xmlns:a16="http://schemas.microsoft.com/office/drawing/2014/main" id="{7E74FA3A-2800-E7AE-4ADD-A6CC0672686F}"/>
                </a:ext>
              </a:extLst>
            </p:cNvPr>
            <p:cNvSpPr txBox="1"/>
            <p:nvPr/>
          </p:nvSpPr>
          <p:spPr>
            <a:xfrm>
              <a:off x="10172443" y="1289249"/>
              <a:ext cx="1210588" cy="426079"/>
            </a:xfrm>
            <a:prstGeom prst="rect">
              <a:avLst/>
            </a:prstGeom>
            <a:noFill/>
          </p:spPr>
          <p:txBody>
            <a:bodyPr wrap="none" rtlCol="0">
              <a:spAutoFit/>
            </a:bodyPr>
            <a:lstStyle/>
            <a:p>
              <a:pPr algn="l">
                <a:lnSpc>
                  <a:spcPct val="120000"/>
                </a:lnSpc>
                <a:spcAft>
                  <a:spcPts val="1200"/>
                </a:spcAft>
              </a:pPr>
              <a:r>
                <a:rPr lang="ja-JP" altLang="en-US" sz="2000" dirty="0">
                  <a:effectLst>
                    <a:glow rad="127000">
                      <a:schemeClr val="bg1"/>
                    </a:glow>
                  </a:effectLst>
                  <a:latin typeface="Segoe UI" panose="020B0502040204020203" pitchFamily="34" charset="0"/>
                  <a:ea typeface="Meiryo UI" panose="020B0604030504040204" pitchFamily="50" charset="-128"/>
                </a:rPr>
                <a:t>呼気音源</a:t>
              </a:r>
              <a:endParaRPr kumimoji="1" lang="ja-JP" altLang="en-US" sz="2000" dirty="0">
                <a:effectLst>
                  <a:glow rad="127000">
                    <a:schemeClr val="bg1"/>
                  </a:glow>
                </a:effectLst>
                <a:latin typeface="Segoe UI" panose="020B0502040204020203" pitchFamily="34" charset="0"/>
                <a:ea typeface="Meiryo UI" panose="020B0604030504040204" pitchFamily="50" charset="-128"/>
              </a:endParaRPr>
            </a:p>
          </p:txBody>
        </p:sp>
        <p:sp>
          <p:nvSpPr>
            <p:cNvPr id="75" name="フリーフォーム: 図形 74">
              <a:extLst>
                <a:ext uri="{FF2B5EF4-FFF2-40B4-BE49-F238E27FC236}">
                  <a16:creationId xmlns:a16="http://schemas.microsoft.com/office/drawing/2014/main" id="{3D5984D4-C368-8D79-2241-76A0ADD5E5F6}"/>
                </a:ext>
              </a:extLst>
            </p:cNvPr>
            <p:cNvSpPr/>
            <p:nvPr/>
          </p:nvSpPr>
          <p:spPr>
            <a:xfrm>
              <a:off x="3610703" y="1613907"/>
              <a:ext cx="1237521" cy="892800"/>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sp>
          <p:nvSpPr>
            <p:cNvPr id="76" name="フリーフォーム: 図形 75">
              <a:extLst>
                <a:ext uri="{FF2B5EF4-FFF2-40B4-BE49-F238E27FC236}">
                  <a16:creationId xmlns:a16="http://schemas.microsoft.com/office/drawing/2014/main" id="{6C26662F-8208-57AA-819D-78088F20BE8A}"/>
                </a:ext>
              </a:extLst>
            </p:cNvPr>
            <p:cNvSpPr/>
            <p:nvPr/>
          </p:nvSpPr>
          <p:spPr>
            <a:xfrm>
              <a:off x="7650053" y="1613907"/>
              <a:ext cx="1237521" cy="892800"/>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grpSp>
          <p:nvGrpSpPr>
            <p:cNvPr id="78" name="グループ化 77">
              <a:extLst>
                <a:ext uri="{FF2B5EF4-FFF2-40B4-BE49-F238E27FC236}">
                  <a16:creationId xmlns:a16="http://schemas.microsoft.com/office/drawing/2014/main" id="{4E03761D-C57D-2FD3-DD4C-00AC620E55D8}"/>
                </a:ext>
              </a:extLst>
            </p:cNvPr>
            <p:cNvGrpSpPr/>
            <p:nvPr/>
          </p:nvGrpSpPr>
          <p:grpSpPr>
            <a:xfrm>
              <a:off x="5527277" y="1622097"/>
              <a:ext cx="1443724" cy="1827585"/>
              <a:chOff x="5527277" y="1622097"/>
              <a:chExt cx="1443724" cy="1827585"/>
            </a:xfrm>
          </p:grpSpPr>
          <p:sp>
            <p:nvSpPr>
              <p:cNvPr id="82" name="テキスト ボックス 81">
                <a:extLst>
                  <a:ext uri="{FF2B5EF4-FFF2-40B4-BE49-F238E27FC236}">
                    <a16:creationId xmlns:a16="http://schemas.microsoft.com/office/drawing/2014/main" id="{952A1270-8F38-C973-B2F8-5A081073E9F7}"/>
                  </a:ext>
                </a:extLst>
              </p:cNvPr>
              <p:cNvSpPr txBox="1"/>
              <p:nvPr/>
            </p:nvSpPr>
            <p:spPr>
              <a:xfrm>
                <a:off x="5593350" y="2741796"/>
                <a:ext cx="1311578" cy="707886"/>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呼吸状態</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判別モデル</a:t>
                </a:r>
              </a:p>
            </p:txBody>
          </p:sp>
          <p:cxnSp>
            <p:nvCxnSpPr>
              <p:cNvPr id="83" name="直線矢印コネクタ 82">
                <a:extLst>
                  <a:ext uri="{FF2B5EF4-FFF2-40B4-BE49-F238E27FC236}">
                    <a16:creationId xmlns:a16="http://schemas.microsoft.com/office/drawing/2014/main" id="{25613DAF-9B42-F437-9498-0F31E5AE34CF}"/>
                  </a:ext>
                </a:extLst>
              </p:cNvPr>
              <p:cNvCxnSpPr>
                <a:cxnSpLocks/>
              </p:cNvCxnSpPr>
              <p:nvPr/>
            </p:nvCxnSpPr>
            <p:spPr>
              <a:xfrm>
                <a:off x="5527277" y="2060307"/>
                <a:ext cx="1443724" cy="0"/>
              </a:xfrm>
              <a:prstGeom prst="straightConnector1">
                <a:avLst/>
              </a:prstGeom>
              <a:ln w="38100">
                <a:solidFill>
                  <a:srgbClr val="010101"/>
                </a:solidFill>
                <a:tailEnd type="triangle" w="med" len="sm"/>
              </a:ln>
            </p:spPr>
            <p:style>
              <a:lnRef idx="1">
                <a:schemeClr val="accent1"/>
              </a:lnRef>
              <a:fillRef idx="0">
                <a:schemeClr val="accent1"/>
              </a:fillRef>
              <a:effectRef idx="0">
                <a:schemeClr val="accent1"/>
              </a:effectRef>
              <a:fontRef idx="minor">
                <a:schemeClr val="tx1"/>
              </a:fontRef>
            </p:style>
          </p:cxnSp>
          <p:sp>
            <p:nvSpPr>
              <p:cNvPr id="84" name="楕円 83">
                <a:extLst>
                  <a:ext uri="{FF2B5EF4-FFF2-40B4-BE49-F238E27FC236}">
                    <a16:creationId xmlns:a16="http://schemas.microsoft.com/office/drawing/2014/main" id="{FF46D895-BBE0-B952-4107-05A9A7133733}"/>
                  </a:ext>
                </a:extLst>
              </p:cNvPr>
              <p:cNvSpPr/>
              <p:nvPr/>
            </p:nvSpPr>
            <p:spPr>
              <a:xfrm>
                <a:off x="5956095" y="1715522"/>
                <a:ext cx="461962" cy="461962"/>
              </a:xfrm>
              <a:prstGeom prst="ellipse">
                <a:avLst/>
              </a:prstGeom>
              <a:solidFill>
                <a:srgbClr val="DEED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a:p>
            </p:txBody>
          </p:sp>
          <p:pic>
            <p:nvPicPr>
              <p:cNvPr id="85" name="グラフィックス 84" descr="人工知能 単色塗りつぶし">
                <a:extLst>
                  <a:ext uri="{FF2B5EF4-FFF2-40B4-BE49-F238E27FC236}">
                    <a16:creationId xmlns:a16="http://schemas.microsoft.com/office/drawing/2014/main" id="{1D0EE7BF-EB3B-D8F0-CE42-9E80C96B37D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0989" y="1622097"/>
                <a:ext cx="876300" cy="876300"/>
              </a:xfrm>
              <a:prstGeom prst="rect">
                <a:avLst/>
              </a:prstGeom>
            </p:spPr>
          </p:pic>
        </p:grpSp>
        <p:sp>
          <p:nvSpPr>
            <p:cNvPr id="79" name="TextBox 7">
              <a:extLst>
                <a:ext uri="{FF2B5EF4-FFF2-40B4-BE49-F238E27FC236}">
                  <a16:creationId xmlns:a16="http://schemas.microsoft.com/office/drawing/2014/main" id="{A0FC3936-F36A-43D5-E9CC-B0EA189EC1FC}"/>
                </a:ext>
              </a:extLst>
            </p:cNvPr>
            <p:cNvSpPr txBox="1"/>
            <p:nvPr/>
          </p:nvSpPr>
          <p:spPr>
            <a:xfrm>
              <a:off x="3365500" y="3579913"/>
              <a:ext cx="2031325" cy="461665"/>
            </a:xfrm>
            <a:prstGeom prst="rect">
              <a:avLst/>
            </a:prstGeom>
            <a:noFill/>
          </p:spPr>
          <p:txBody>
            <a:bodyPr wrap="none" rtlCol="0">
              <a:spAutoFit/>
            </a:bodyPr>
            <a:lstStyle/>
            <a:p>
              <a:pPr algn="ctr"/>
              <a:r>
                <a:rPr lang="ja-JP" altLang="en-US" sz="2400" b="1" dirty="0">
                  <a:solidFill>
                    <a:sysClr val="windowText" lastClr="000000"/>
                  </a:solidFill>
                  <a:latin typeface="Segoe UI" panose="020B0502040204020203" pitchFamily="34" charset="0"/>
                  <a:ea typeface="Meiryo UI" panose="020B0604030504040204" pitchFamily="50" charset="-128"/>
                </a:rPr>
                <a:t>呼吸時間推定</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80" name="フリーフォーム: 図形 79">
              <a:extLst>
                <a:ext uri="{FF2B5EF4-FFF2-40B4-BE49-F238E27FC236}">
                  <a16:creationId xmlns:a16="http://schemas.microsoft.com/office/drawing/2014/main" id="{08E5ACE1-4B95-CE9B-3049-6F3F3CF29403}"/>
                </a:ext>
              </a:extLst>
            </p:cNvPr>
            <p:cNvSpPr/>
            <p:nvPr/>
          </p:nvSpPr>
          <p:spPr>
            <a:xfrm>
              <a:off x="3610703" y="4578179"/>
              <a:ext cx="1237521" cy="892800"/>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sp>
          <p:nvSpPr>
            <p:cNvPr id="81" name="フリーフォーム: 図形 80">
              <a:extLst>
                <a:ext uri="{FF2B5EF4-FFF2-40B4-BE49-F238E27FC236}">
                  <a16:creationId xmlns:a16="http://schemas.microsoft.com/office/drawing/2014/main" id="{943CEF6B-6E96-7735-AAF1-2C1484A2727C}"/>
                </a:ext>
              </a:extLst>
            </p:cNvPr>
            <p:cNvSpPr/>
            <p:nvPr/>
          </p:nvSpPr>
          <p:spPr>
            <a:xfrm>
              <a:off x="7650345" y="4578179"/>
              <a:ext cx="1237521" cy="892800"/>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grpSp>
      <p:sp>
        <p:nvSpPr>
          <p:cNvPr id="8" name="スライド番号プレースホルダー 7">
            <a:extLst>
              <a:ext uri="{FF2B5EF4-FFF2-40B4-BE49-F238E27FC236}">
                <a16:creationId xmlns:a16="http://schemas.microsoft.com/office/drawing/2014/main" id="{ADE5327E-ECEF-38CF-D348-6311A11125BD}"/>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10</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4350D7CD-955C-4361-D14A-D5E3756FC99A}"/>
              </a:ext>
            </a:extLst>
          </p:cNvPr>
          <p:cNvSpPr>
            <a:spLocks noGrp="1"/>
          </p:cNvSpPr>
          <p:nvPr>
            <p:ph type="title"/>
          </p:nvPr>
        </p:nvSpPr>
        <p:spPr/>
        <p:txBody>
          <a:bodyPr>
            <a:normAutofit/>
          </a:bodyPr>
          <a:lstStyle/>
          <a:p>
            <a:r>
              <a:rPr lang="ja-JP" altLang="en-US" dirty="0"/>
              <a:t>呼吸音同期再生システムの流れ</a:t>
            </a:r>
          </a:p>
        </p:txBody>
      </p:sp>
      <p:sp>
        <p:nvSpPr>
          <p:cNvPr id="38" name="TextBox 7">
            <a:extLst>
              <a:ext uri="{FF2B5EF4-FFF2-40B4-BE49-F238E27FC236}">
                <a16:creationId xmlns:a16="http://schemas.microsoft.com/office/drawing/2014/main" id="{273B2FD1-23EA-75B5-F8A2-219EB5E16127}"/>
              </a:ext>
            </a:extLst>
          </p:cNvPr>
          <p:cNvSpPr txBox="1"/>
          <p:nvPr/>
        </p:nvSpPr>
        <p:spPr>
          <a:xfrm>
            <a:off x="215030" y="808121"/>
            <a:ext cx="2645276"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提案システムの流れ</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cxnSp>
        <p:nvCxnSpPr>
          <p:cNvPr id="9" name="直線矢印コネクタ 8">
            <a:extLst>
              <a:ext uri="{FF2B5EF4-FFF2-40B4-BE49-F238E27FC236}">
                <a16:creationId xmlns:a16="http://schemas.microsoft.com/office/drawing/2014/main" id="{352D1CED-8482-B5A6-BBFE-8002046429BD}"/>
              </a:ext>
            </a:extLst>
          </p:cNvPr>
          <p:cNvCxnSpPr>
            <a:cxnSpLocks/>
          </p:cNvCxnSpPr>
          <p:nvPr/>
        </p:nvCxnSpPr>
        <p:spPr>
          <a:xfrm>
            <a:off x="1682668" y="1945158"/>
            <a:ext cx="0" cy="3855247"/>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フローチャート: 処理 18">
            <a:extLst>
              <a:ext uri="{FF2B5EF4-FFF2-40B4-BE49-F238E27FC236}">
                <a16:creationId xmlns:a16="http://schemas.microsoft.com/office/drawing/2014/main" id="{9CE90726-E090-1B05-DBED-E0CC362259BF}"/>
              </a:ext>
            </a:extLst>
          </p:cNvPr>
          <p:cNvSpPr/>
          <p:nvPr/>
        </p:nvSpPr>
        <p:spPr>
          <a:xfrm>
            <a:off x="615639" y="4884017"/>
            <a:ext cx="2134058" cy="593309"/>
          </a:xfrm>
          <a:prstGeom prst="flowChartProcess">
            <a:avLst/>
          </a:prstGeom>
          <a:solidFill>
            <a:schemeClr val="bg1">
              <a:lumMod val="85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呼吸音</a:t>
            </a:r>
            <a:r>
              <a:rPr lang="ja-JP" altLang="en-US" sz="2400" dirty="0">
                <a:solidFill>
                  <a:schemeClr val="tx1"/>
                </a:solidFill>
                <a:latin typeface="Segoe UI" panose="020B0502040204020203" pitchFamily="34" charset="0"/>
                <a:ea typeface="Meiryo UI" panose="020B0604030504040204" pitchFamily="50" charset="-128"/>
              </a:rPr>
              <a:t>伸縮</a:t>
            </a:r>
            <a:endParaRPr kumimoji="1" lang="ja-JP" altLang="en-US" sz="2400" dirty="0">
              <a:solidFill>
                <a:schemeClr val="tx1"/>
              </a:solidFill>
              <a:latin typeface="Segoe UI" panose="020B0502040204020203" pitchFamily="34" charset="0"/>
              <a:ea typeface="Meiryo UI" panose="020B0604030504040204" pitchFamily="50" charset="-128"/>
            </a:endParaRPr>
          </a:p>
        </p:txBody>
      </p:sp>
      <p:sp>
        <p:nvSpPr>
          <p:cNvPr id="20" name="フローチャート: 処理 19">
            <a:extLst>
              <a:ext uri="{FF2B5EF4-FFF2-40B4-BE49-F238E27FC236}">
                <a16:creationId xmlns:a16="http://schemas.microsoft.com/office/drawing/2014/main" id="{88F74755-34EF-737A-FA28-F7FA0FF107D1}"/>
              </a:ext>
            </a:extLst>
          </p:cNvPr>
          <p:cNvSpPr/>
          <p:nvPr/>
        </p:nvSpPr>
        <p:spPr>
          <a:xfrm>
            <a:off x="615639" y="5767057"/>
            <a:ext cx="2134058" cy="593309"/>
          </a:xfrm>
          <a:prstGeom prst="flowChartProcess">
            <a:avLst/>
          </a:prstGeom>
          <a:solidFill>
            <a:schemeClr val="bg1">
              <a:lumMod val="85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呼吸音再生</a:t>
            </a:r>
          </a:p>
        </p:txBody>
      </p:sp>
      <p:cxnSp>
        <p:nvCxnSpPr>
          <p:cNvPr id="22" name="コネクタ: カギ線 21">
            <a:extLst>
              <a:ext uri="{FF2B5EF4-FFF2-40B4-BE49-F238E27FC236}">
                <a16:creationId xmlns:a16="http://schemas.microsoft.com/office/drawing/2014/main" id="{B4CAD9FE-D2A2-1A50-5E17-3ABD57C2591B}"/>
              </a:ext>
            </a:extLst>
          </p:cNvPr>
          <p:cNvCxnSpPr>
            <a:cxnSpLocks/>
            <a:stCxn id="20" idx="2"/>
          </p:cNvCxnSpPr>
          <p:nvPr/>
        </p:nvCxnSpPr>
        <p:spPr>
          <a:xfrm rot="5400000" flipH="1">
            <a:off x="-459391" y="4218308"/>
            <a:ext cx="4270341" cy="13777"/>
          </a:xfrm>
          <a:prstGeom prst="bentConnector4">
            <a:avLst>
              <a:gd name="adj1" fmla="val -5353"/>
              <a:gd name="adj2" fmla="val 9732859"/>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 name="フローチャート: 端子 17">
            <a:extLst>
              <a:ext uri="{FF2B5EF4-FFF2-40B4-BE49-F238E27FC236}">
                <a16:creationId xmlns:a16="http://schemas.microsoft.com/office/drawing/2014/main" id="{E82BF1EA-E46A-3541-4F5A-17B25DF37C2F}"/>
              </a:ext>
            </a:extLst>
          </p:cNvPr>
          <p:cNvSpPr/>
          <p:nvPr/>
        </p:nvSpPr>
        <p:spPr>
          <a:xfrm>
            <a:off x="615639" y="1351849"/>
            <a:ext cx="2134058" cy="593309"/>
          </a:xfrm>
          <a:prstGeom prst="flowChartTerminator">
            <a:avLst/>
          </a:prstGeom>
          <a:solidFill>
            <a:schemeClr val="bg1">
              <a:lumMod val="85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聴診開始</a:t>
            </a:r>
          </a:p>
        </p:txBody>
      </p:sp>
      <p:sp>
        <p:nvSpPr>
          <p:cNvPr id="17" name="フローチャート: 処理 16">
            <a:extLst>
              <a:ext uri="{FF2B5EF4-FFF2-40B4-BE49-F238E27FC236}">
                <a16:creationId xmlns:a16="http://schemas.microsoft.com/office/drawing/2014/main" id="{EDE8913D-076D-BF53-DA0E-02E47A5D500B}"/>
              </a:ext>
            </a:extLst>
          </p:cNvPr>
          <p:cNvSpPr/>
          <p:nvPr/>
        </p:nvSpPr>
        <p:spPr>
          <a:xfrm>
            <a:off x="615639" y="2234891"/>
            <a:ext cx="2134058" cy="593309"/>
          </a:xfrm>
          <a:prstGeom prst="flowChartProcess">
            <a:avLst/>
          </a:prstGeom>
          <a:solidFill>
            <a:schemeClr val="bg1">
              <a:lumMod val="85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呼吸計測</a:t>
            </a:r>
          </a:p>
        </p:txBody>
      </p:sp>
      <p:sp>
        <p:nvSpPr>
          <p:cNvPr id="12" name="フローチャート: 処理 11">
            <a:extLst>
              <a:ext uri="{FF2B5EF4-FFF2-40B4-BE49-F238E27FC236}">
                <a16:creationId xmlns:a16="http://schemas.microsoft.com/office/drawing/2014/main" id="{D168D055-1929-8D80-E342-D13B7F73115E}"/>
              </a:ext>
            </a:extLst>
          </p:cNvPr>
          <p:cNvSpPr/>
          <p:nvPr/>
        </p:nvSpPr>
        <p:spPr>
          <a:xfrm>
            <a:off x="615639" y="3117933"/>
            <a:ext cx="2134058" cy="593309"/>
          </a:xfrm>
          <a:prstGeom prst="flowChartProcess">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sz="2400" dirty="0">
                <a:solidFill>
                  <a:schemeClr val="tx1"/>
                </a:solidFill>
                <a:latin typeface="Segoe UI" panose="020B0502040204020203" pitchFamily="34" charset="0"/>
                <a:ea typeface="Meiryo UI" panose="020B0604030504040204" pitchFamily="50" charset="-128"/>
              </a:rPr>
              <a:t>呼吸状態判別</a:t>
            </a:r>
            <a:endParaRPr kumimoji="1" lang="ja-JP" altLang="en-US" sz="2400" dirty="0">
              <a:solidFill>
                <a:schemeClr val="tx1"/>
              </a:solidFill>
              <a:latin typeface="Segoe UI" panose="020B0502040204020203" pitchFamily="34" charset="0"/>
              <a:ea typeface="Meiryo UI" panose="020B0604030504040204" pitchFamily="50" charset="-128"/>
            </a:endParaRPr>
          </a:p>
        </p:txBody>
      </p:sp>
      <p:sp>
        <p:nvSpPr>
          <p:cNvPr id="21" name="フローチャート: 処理 20">
            <a:extLst>
              <a:ext uri="{FF2B5EF4-FFF2-40B4-BE49-F238E27FC236}">
                <a16:creationId xmlns:a16="http://schemas.microsoft.com/office/drawing/2014/main" id="{8D4AD866-6B43-EE51-AF2F-F4402C92FC4C}"/>
              </a:ext>
            </a:extLst>
          </p:cNvPr>
          <p:cNvSpPr/>
          <p:nvPr/>
        </p:nvSpPr>
        <p:spPr>
          <a:xfrm>
            <a:off x="615639" y="4000975"/>
            <a:ext cx="2134058" cy="593309"/>
          </a:xfrm>
          <a:prstGeom prst="flowChartProcess">
            <a:avLst/>
          </a:prstGeom>
          <a:solidFill>
            <a:schemeClr val="accent3">
              <a:lumMod val="20000"/>
              <a:lumOff val="80000"/>
            </a:schemeClr>
          </a:solid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呼吸時間推定</a:t>
            </a:r>
          </a:p>
        </p:txBody>
      </p:sp>
      <p:sp>
        <p:nvSpPr>
          <p:cNvPr id="54" name="正方形/長方形 53">
            <a:extLst>
              <a:ext uri="{FF2B5EF4-FFF2-40B4-BE49-F238E27FC236}">
                <a16:creationId xmlns:a16="http://schemas.microsoft.com/office/drawing/2014/main" id="{F82EAC2D-DB33-4CC8-B6A7-EA676FDFD31F}"/>
              </a:ext>
            </a:extLst>
          </p:cNvPr>
          <p:cNvSpPr/>
          <p:nvPr/>
        </p:nvSpPr>
        <p:spPr>
          <a:xfrm>
            <a:off x="3207657" y="3513936"/>
            <a:ext cx="8841468" cy="3130734"/>
          </a:xfrm>
          <a:prstGeom prst="rect">
            <a:avLst/>
          </a:prstGeom>
          <a:solidFill>
            <a:schemeClr val="bg1">
              <a:alpha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64" name="正方形/長方形 63">
            <a:extLst>
              <a:ext uri="{FF2B5EF4-FFF2-40B4-BE49-F238E27FC236}">
                <a16:creationId xmlns:a16="http://schemas.microsoft.com/office/drawing/2014/main" id="{F82BEDF4-4620-423B-B092-AFF1BCB44FC8}"/>
              </a:ext>
            </a:extLst>
          </p:cNvPr>
          <p:cNvSpPr/>
          <p:nvPr/>
        </p:nvSpPr>
        <p:spPr>
          <a:xfrm>
            <a:off x="190500" y="1285875"/>
            <a:ext cx="3067050" cy="5419725"/>
          </a:xfrm>
          <a:prstGeom prst="rect">
            <a:avLst/>
          </a:prstGeom>
          <a:solidFill>
            <a:schemeClr val="bg1">
              <a:alpha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grpSp>
        <p:nvGrpSpPr>
          <p:cNvPr id="5" name="グループ化 4">
            <a:extLst>
              <a:ext uri="{FF2B5EF4-FFF2-40B4-BE49-F238E27FC236}">
                <a16:creationId xmlns:a16="http://schemas.microsoft.com/office/drawing/2014/main" id="{DDB4A138-39A5-401E-AA6C-F5E4E2955855}"/>
              </a:ext>
            </a:extLst>
          </p:cNvPr>
          <p:cNvGrpSpPr/>
          <p:nvPr/>
        </p:nvGrpSpPr>
        <p:grpSpPr>
          <a:xfrm>
            <a:off x="615639" y="2234891"/>
            <a:ext cx="2134058" cy="1476351"/>
            <a:chOff x="768039" y="2387291"/>
            <a:chExt cx="2134058" cy="1476351"/>
          </a:xfrm>
        </p:grpSpPr>
        <p:sp>
          <p:nvSpPr>
            <p:cNvPr id="55" name="フローチャート: 処理 54">
              <a:extLst>
                <a:ext uri="{FF2B5EF4-FFF2-40B4-BE49-F238E27FC236}">
                  <a16:creationId xmlns:a16="http://schemas.microsoft.com/office/drawing/2014/main" id="{B1DBFC2A-9ED7-48AA-AE02-87480F157B25}"/>
                </a:ext>
              </a:extLst>
            </p:cNvPr>
            <p:cNvSpPr/>
            <p:nvPr/>
          </p:nvSpPr>
          <p:spPr>
            <a:xfrm>
              <a:off x="768039" y="2387291"/>
              <a:ext cx="2134058" cy="593309"/>
            </a:xfrm>
            <a:prstGeom prst="flowChartProcess">
              <a:avLst/>
            </a:prstGeom>
            <a:solidFill>
              <a:schemeClr val="bg1">
                <a:lumMod val="85000"/>
              </a:schemeClr>
            </a:solidFill>
            <a:ln w="38100">
              <a:solidFill>
                <a:schemeClr val="tx1">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呼吸計測</a:t>
              </a:r>
            </a:p>
          </p:txBody>
        </p:sp>
        <p:sp>
          <p:nvSpPr>
            <p:cNvPr id="56" name="フローチャート: 処理 55">
              <a:extLst>
                <a:ext uri="{FF2B5EF4-FFF2-40B4-BE49-F238E27FC236}">
                  <a16:creationId xmlns:a16="http://schemas.microsoft.com/office/drawing/2014/main" id="{6EAF3298-5196-4898-A32E-FC61CA939832}"/>
                </a:ext>
              </a:extLst>
            </p:cNvPr>
            <p:cNvSpPr/>
            <p:nvPr/>
          </p:nvSpPr>
          <p:spPr>
            <a:xfrm>
              <a:off x="768039" y="3270333"/>
              <a:ext cx="2134058" cy="593309"/>
            </a:xfrm>
            <a:prstGeom prst="flowChartProcess">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TW" altLang="en-US" sz="2400" dirty="0">
                  <a:solidFill>
                    <a:schemeClr val="tx1"/>
                  </a:solidFill>
                  <a:latin typeface="Segoe UI" panose="020B0502040204020203" pitchFamily="34" charset="0"/>
                  <a:ea typeface="Meiryo UI" panose="020B0604030504040204" pitchFamily="50" charset="-128"/>
                </a:rPr>
                <a:t>呼吸状態判別</a:t>
              </a:r>
              <a:endParaRPr kumimoji="1" lang="ja-JP" altLang="en-US" sz="2400" dirty="0">
                <a:solidFill>
                  <a:schemeClr val="tx1"/>
                </a:solidFill>
                <a:latin typeface="Segoe UI" panose="020B0502040204020203" pitchFamily="34" charset="0"/>
                <a:ea typeface="Meiryo UI" panose="020B0604030504040204" pitchFamily="50" charset="-128"/>
              </a:endParaRPr>
            </a:p>
          </p:txBody>
        </p:sp>
      </p:grpSp>
      <p:sp>
        <p:nvSpPr>
          <p:cNvPr id="60" name="フローチャート: 処理 59">
            <a:extLst>
              <a:ext uri="{FF2B5EF4-FFF2-40B4-BE49-F238E27FC236}">
                <a16:creationId xmlns:a16="http://schemas.microsoft.com/office/drawing/2014/main" id="{2D9A5F6E-BAD1-4F8F-92CC-643F42DA8DA5}"/>
              </a:ext>
            </a:extLst>
          </p:cNvPr>
          <p:cNvSpPr/>
          <p:nvPr/>
        </p:nvSpPr>
        <p:spPr>
          <a:xfrm>
            <a:off x="615639" y="4000975"/>
            <a:ext cx="2134058" cy="593309"/>
          </a:xfrm>
          <a:prstGeom prst="flowChartProcess">
            <a:avLst/>
          </a:prstGeom>
          <a:solidFill>
            <a:schemeClr val="accent3">
              <a:lumMod val="20000"/>
              <a:lumOff val="80000"/>
            </a:schemeClr>
          </a:solid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dirty="0">
                <a:solidFill>
                  <a:schemeClr val="tx1"/>
                </a:solidFill>
                <a:latin typeface="Segoe UI" panose="020B0502040204020203" pitchFamily="34" charset="0"/>
                <a:ea typeface="Meiryo UI" panose="020B0604030504040204" pitchFamily="50" charset="-128"/>
              </a:rPr>
              <a:t>呼吸時間推定</a:t>
            </a:r>
          </a:p>
        </p:txBody>
      </p:sp>
      <p:grpSp>
        <p:nvGrpSpPr>
          <p:cNvPr id="2" name="グループ化 1">
            <a:extLst>
              <a:ext uri="{FF2B5EF4-FFF2-40B4-BE49-F238E27FC236}">
                <a16:creationId xmlns:a16="http://schemas.microsoft.com/office/drawing/2014/main" id="{F78326DD-9FD5-F258-5592-69BB1BEF04E7}"/>
              </a:ext>
            </a:extLst>
          </p:cNvPr>
          <p:cNvGrpSpPr/>
          <p:nvPr/>
        </p:nvGrpSpPr>
        <p:grpSpPr>
          <a:xfrm>
            <a:off x="8547972" y="1453555"/>
            <a:ext cx="697627" cy="650544"/>
            <a:chOff x="8405097" y="1213049"/>
            <a:chExt cx="697627" cy="650544"/>
          </a:xfrm>
        </p:grpSpPr>
        <p:sp>
          <p:nvSpPr>
            <p:cNvPr id="4" name="楕円 3">
              <a:extLst>
                <a:ext uri="{FF2B5EF4-FFF2-40B4-BE49-F238E27FC236}">
                  <a16:creationId xmlns:a16="http://schemas.microsoft.com/office/drawing/2014/main" id="{2D1ED8D8-40FC-F2E8-B099-AA29E9347412}"/>
                </a:ext>
              </a:extLst>
            </p:cNvPr>
            <p:cNvSpPr/>
            <p:nvPr/>
          </p:nvSpPr>
          <p:spPr>
            <a:xfrm>
              <a:off x="8649510" y="1653777"/>
              <a:ext cx="208800" cy="209816"/>
            </a:xfrm>
            <a:prstGeom prst="ellipse">
              <a:avLst/>
            </a:prstGeom>
            <a:solidFill>
              <a:srgbClr val="9CE0F3"/>
            </a:solidFill>
            <a:ln w="38100">
              <a:noFill/>
            </a:ln>
            <a:effectLst>
              <a:glow rad="63500">
                <a:schemeClr val="tx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000" dirty="0">
                <a:solidFill>
                  <a:sysClr val="windowText" lastClr="000000"/>
                </a:solidFill>
                <a:latin typeface="Segoe UI" panose="020B0502040204020203" pitchFamily="34" charset="0"/>
                <a:ea typeface="Meiryo UI" panose="020B0604030504040204" pitchFamily="50" charset="-128"/>
              </a:endParaRPr>
            </a:p>
          </p:txBody>
        </p:sp>
        <p:sp>
          <p:nvSpPr>
            <p:cNvPr id="7" name="テキスト ボックス 6">
              <a:extLst>
                <a:ext uri="{FF2B5EF4-FFF2-40B4-BE49-F238E27FC236}">
                  <a16:creationId xmlns:a16="http://schemas.microsoft.com/office/drawing/2014/main" id="{17939723-6E3E-3CB1-BC5C-EAA47B968B89}"/>
                </a:ext>
              </a:extLst>
            </p:cNvPr>
            <p:cNvSpPr txBox="1"/>
            <p:nvPr/>
          </p:nvSpPr>
          <p:spPr>
            <a:xfrm>
              <a:off x="8405097" y="1213049"/>
              <a:ext cx="697627" cy="400110"/>
            </a:xfrm>
            <a:prstGeom prst="rect">
              <a:avLst/>
            </a:prstGeom>
            <a:noFill/>
            <a:effectLst/>
          </p:spPr>
          <p:txBody>
            <a:bodyPr wrap="none" rtlCol="0">
              <a:spAutoFit/>
            </a:bodyPr>
            <a:lstStyle/>
            <a:p>
              <a:pPr algn="ctr"/>
              <a:r>
                <a:rPr kumimoji="1" lang="ja-JP" altLang="en-US" sz="2000" dirty="0">
                  <a:effectLst>
                    <a:glow rad="165100">
                      <a:schemeClr val="bg1"/>
                    </a:glow>
                  </a:effectLst>
                  <a:latin typeface="Segoe UI" panose="020B0502040204020203" pitchFamily="34" charset="0"/>
                  <a:ea typeface="Meiryo UI" panose="020B0604030504040204" pitchFamily="50" charset="-128"/>
                </a:rPr>
                <a:t>呼気</a:t>
              </a:r>
            </a:p>
          </p:txBody>
        </p:sp>
      </p:grpSp>
      <p:sp>
        <p:nvSpPr>
          <p:cNvPr id="274" name="正方形/長方形 273">
            <a:extLst>
              <a:ext uri="{FF2B5EF4-FFF2-40B4-BE49-F238E27FC236}">
                <a16:creationId xmlns:a16="http://schemas.microsoft.com/office/drawing/2014/main" id="{917E08EF-2626-0A93-1ABC-DC54107A0314}"/>
              </a:ext>
            </a:extLst>
          </p:cNvPr>
          <p:cNvSpPr/>
          <p:nvPr/>
        </p:nvSpPr>
        <p:spPr>
          <a:xfrm>
            <a:off x="3207657" y="809854"/>
            <a:ext cx="8841468" cy="2710586"/>
          </a:xfrm>
          <a:prstGeom prst="rect">
            <a:avLst/>
          </a:prstGeom>
          <a:solidFill>
            <a:schemeClr val="bg1">
              <a:alpha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Tree>
    <p:extLst>
      <p:ext uri="{BB962C8B-B14F-4D97-AF65-F5344CB8AC3E}">
        <p14:creationId xmlns:p14="http://schemas.microsoft.com/office/powerpoint/2010/main" val="244228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54"/>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27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60" grpId="0" animBg="1"/>
      <p:bldP spid="27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5DE7F-63AF-1FF7-FCB4-E08F307FECA3}"/>
            </a:ext>
          </a:extLst>
        </p:cNvPr>
        <p:cNvGrpSpPr/>
        <p:nvPr/>
      </p:nvGrpSpPr>
      <p:grpSpPr>
        <a:xfrm>
          <a:off x="0" y="0"/>
          <a:ext cx="0" cy="0"/>
          <a:chOff x="0" y="0"/>
          <a:chExt cx="0" cy="0"/>
        </a:xfrm>
      </p:grpSpPr>
      <p:sp>
        <p:nvSpPr>
          <p:cNvPr id="18" name="四角形: 角を丸くする 17">
            <a:extLst>
              <a:ext uri="{FF2B5EF4-FFF2-40B4-BE49-F238E27FC236}">
                <a16:creationId xmlns:a16="http://schemas.microsoft.com/office/drawing/2014/main" id="{3C8620B0-EF49-28D1-7C43-611C7A8E0DE6}"/>
              </a:ext>
            </a:extLst>
          </p:cNvPr>
          <p:cNvSpPr/>
          <p:nvPr/>
        </p:nvSpPr>
        <p:spPr>
          <a:xfrm>
            <a:off x="310800" y="2794000"/>
            <a:ext cx="11570400" cy="3450050"/>
          </a:xfrm>
          <a:prstGeom prst="roundRect">
            <a:avLst>
              <a:gd name="adj" fmla="val 0"/>
            </a:avLst>
          </a:prstGeom>
          <a:solidFill>
            <a:schemeClr val="accent3">
              <a:lumMod val="20000"/>
              <a:lumOff val="80000"/>
            </a:schemeClr>
          </a:solid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Segoe UI" panose="020B0502040204020203" pitchFamily="34" charset="0"/>
              <a:ea typeface="Meiryo UI" panose="020B0604030504040204" pitchFamily="50" charset="-128"/>
            </a:endParaRPr>
          </a:p>
        </p:txBody>
      </p:sp>
      <p:cxnSp>
        <p:nvCxnSpPr>
          <p:cNvPr id="217" name="直線矢印コネクタ 216">
            <a:extLst>
              <a:ext uri="{FF2B5EF4-FFF2-40B4-BE49-F238E27FC236}">
                <a16:creationId xmlns:a16="http://schemas.microsoft.com/office/drawing/2014/main" id="{510F9BC5-E86C-8F09-219F-70EE7AF97A00}"/>
              </a:ext>
            </a:extLst>
          </p:cNvPr>
          <p:cNvCxnSpPr>
            <a:cxnSpLocks/>
            <a:endCxn id="202" idx="2"/>
          </p:cNvCxnSpPr>
          <p:nvPr/>
        </p:nvCxnSpPr>
        <p:spPr>
          <a:xfrm>
            <a:off x="2365426" y="4614203"/>
            <a:ext cx="5310831" cy="0"/>
          </a:xfrm>
          <a:prstGeom prst="straightConnector1">
            <a:avLst/>
          </a:prstGeom>
          <a:ln w="57150">
            <a:solidFill>
              <a:srgbClr val="010101"/>
            </a:solidFill>
            <a:tailEnd type="none" w="med" len="sm"/>
          </a:ln>
        </p:spPr>
        <p:style>
          <a:lnRef idx="1">
            <a:schemeClr val="accent1"/>
          </a:lnRef>
          <a:fillRef idx="0">
            <a:schemeClr val="accent1"/>
          </a:fillRef>
          <a:effectRef idx="0">
            <a:schemeClr val="accent1"/>
          </a:effectRef>
          <a:fontRef idx="minor">
            <a:schemeClr val="tx1"/>
          </a:fontRef>
        </p:style>
      </p:cxnSp>
      <p:sp>
        <p:nvSpPr>
          <p:cNvPr id="27" name="スライド番号プレースホルダー 26">
            <a:extLst>
              <a:ext uri="{FF2B5EF4-FFF2-40B4-BE49-F238E27FC236}">
                <a16:creationId xmlns:a16="http://schemas.microsoft.com/office/drawing/2014/main" id="{36BB030B-7051-4E10-E4E7-87062ED922C6}"/>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11</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63189EB7-8556-C23B-571F-A01CC6C9300D}"/>
              </a:ext>
            </a:extLst>
          </p:cNvPr>
          <p:cNvSpPr>
            <a:spLocks noGrp="1"/>
          </p:cNvSpPr>
          <p:nvPr>
            <p:ph type="title"/>
          </p:nvPr>
        </p:nvSpPr>
        <p:spPr/>
        <p:txBody>
          <a:bodyPr>
            <a:normAutofit/>
          </a:bodyPr>
          <a:lstStyle/>
          <a:p>
            <a:r>
              <a:rPr kumimoji="1" lang="ja-JP" altLang="en-US" dirty="0"/>
              <a:t>呼吸時間推定手法</a:t>
            </a:r>
          </a:p>
        </p:txBody>
      </p:sp>
      <p:sp>
        <p:nvSpPr>
          <p:cNvPr id="2" name="TextBox 7">
            <a:extLst>
              <a:ext uri="{FF2B5EF4-FFF2-40B4-BE49-F238E27FC236}">
                <a16:creationId xmlns:a16="http://schemas.microsoft.com/office/drawing/2014/main" id="{F2555192-7EC1-6095-121D-E1DE3E90AC91}"/>
              </a:ext>
            </a:extLst>
          </p:cNvPr>
          <p:cNvSpPr txBox="1"/>
          <p:nvPr/>
        </p:nvSpPr>
        <p:spPr>
          <a:xfrm>
            <a:off x="215030" y="827371"/>
            <a:ext cx="4479111"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回帰モデルを用いた呼吸時間推定</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87" name="TextBox 7">
            <a:extLst>
              <a:ext uri="{FF2B5EF4-FFF2-40B4-BE49-F238E27FC236}">
                <a16:creationId xmlns:a16="http://schemas.microsoft.com/office/drawing/2014/main" id="{F1D08AE9-4ACD-B851-1338-9799278E2CFE}"/>
              </a:ext>
            </a:extLst>
          </p:cNvPr>
          <p:cNvSpPr txBox="1"/>
          <p:nvPr/>
        </p:nvSpPr>
        <p:spPr>
          <a:xfrm>
            <a:off x="215030" y="1273528"/>
            <a:ext cx="7104574" cy="461665"/>
          </a:xfrm>
          <a:prstGeom prst="rect">
            <a:avLst/>
          </a:prstGeom>
          <a:noFill/>
        </p:spPr>
        <p:txBody>
          <a:bodyPr wrap="none" rtlCol="0">
            <a:spAutoFit/>
          </a:bodyPr>
          <a:lstStyle/>
          <a:p>
            <a:r>
              <a:rPr lang="ja-JP" altLang="en-US" sz="2400" u="sng" dirty="0">
                <a:solidFill>
                  <a:sysClr val="windowText" lastClr="000000"/>
                </a:solidFill>
                <a:latin typeface="Segoe UI" panose="020B0502040204020203" pitchFamily="34" charset="0"/>
                <a:ea typeface="Meiryo UI" panose="020B0604030504040204" pitchFamily="50" charset="-128"/>
              </a:rPr>
              <a:t>使用モデル：</a:t>
            </a:r>
            <a:r>
              <a:rPr lang="en-US" altLang="ja-JP" sz="2400" u="sng" dirty="0">
                <a:solidFill>
                  <a:sysClr val="windowText" lastClr="000000"/>
                </a:solidFill>
                <a:latin typeface="Segoe UI" panose="020B0502040204020203" pitchFamily="34" charset="0"/>
                <a:ea typeface="Meiryo UI" panose="020B0604030504040204" pitchFamily="50" charset="-128"/>
              </a:rPr>
              <a:t>Elastic Net </a:t>
            </a:r>
            <a:r>
              <a:rPr lang="ja-JP" altLang="en-US" sz="2400" u="sng" dirty="0">
                <a:solidFill>
                  <a:sysClr val="windowText" lastClr="000000"/>
                </a:solidFill>
                <a:latin typeface="Segoe UI" panose="020B0502040204020203" pitchFamily="34" charset="0"/>
                <a:ea typeface="Meiryo UI" panose="020B0604030504040204" pitchFamily="50" charset="-128"/>
              </a:rPr>
              <a:t>回帰</a:t>
            </a:r>
            <a:r>
              <a:rPr lang="en-US" altLang="ja-JP" sz="2400" u="sng" baseline="30000" dirty="0">
                <a:solidFill>
                  <a:sysClr val="windowText" lastClr="000000"/>
                </a:solidFill>
                <a:latin typeface="Segoe UI" panose="020B0502040204020203" pitchFamily="34" charset="0"/>
                <a:ea typeface="Meiryo UI" panose="020B0604030504040204" pitchFamily="50" charset="-128"/>
              </a:rPr>
              <a:t>[4]</a:t>
            </a:r>
            <a:r>
              <a:rPr lang="ja-JP" altLang="en-US" sz="2400" u="sng" dirty="0">
                <a:solidFill>
                  <a:sysClr val="windowText" lastClr="000000"/>
                </a:solidFill>
                <a:latin typeface="Segoe UI" panose="020B0502040204020203" pitchFamily="34" charset="0"/>
                <a:ea typeface="Meiryo UI" panose="020B0604030504040204" pitchFamily="50" charset="-128"/>
              </a:rPr>
              <a:t>，</a:t>
            </a:r>
            <a:r>
              <a:rPr lang="en-US" altLang="ja-JP" sz="2400" u="sng" dirty="0">
                <a:solidFill>
                  <a:sysClr val="windowText" lastClr="000000"/>
                </a:solidFill>
                <a:latin typeface="Segoe UI" panose="020B0502040204020203" pitchFamily="34" charset="0"/>
                <a:ea typeface="Meiryo UI" panose="020B0604030504040204" pitchFamily="50" charset="-128"/>
              </a:rPr>
              <a:t>SVR</a:t>
            </a:r>
            <a:r>
              <a:rPr lang="en-US" altLang="ja-JP" sz="2400" u="sng" baseline="30000" dirty="0">
                <a:solidFill>
                  <a:sysClr val="windowText" lastClr="000000"/>
                </a:solidFill>
                <a:latin typeface="Segoe UI" panose="020B0502040204020203" pitchFamily="34" charset="0"/>
                <a:ea typeface="Meiryo UI" panose="020B0604030504040204" pitchFamily="50" charset="-128"/>
              </a:rPr>
              <a:t>[5]</a:t>
            </a:r>
            <a:r>
              <a:rPr lang="ja-JP" altLang="en-US" sz="2400" u="sng" dirty="0">
                <a:solidFill>
                  <a:sysClr val="windowText" lastClr="000000"/>
                </a:solidFill>
                <a:latin typeface="Segoe UI" panose="020B0502040204020203" pitchFamily="34" charset="0"/>
                <a:ea typeface="Meiryo UI" panose="020B0604030504040204" pitchFamily="50" charset="-128"/>
              </a:rPr>
              <a:t>，</a:t>
            </a:r>
            <a:r>
              <a:rPr lang="en-US" altLang="ja-JP" sz="2400" u="sng" dirty="0" err="1">
                <a:solidFill>
                  <a:sysClr val="windowText" lastClr="000000"/>
                </a:solidFill>
                <a:latin typeface="Segoe UI" panose="020B0502040204020203" pitchFamily="34" charset="0"/>
                <a:ea typeface="Meiryo UI" panose="020B0604030504040204" pitchFamily="50" charset="-128"/>
              </a:rPr>
              <a:t>XGBoost</a:t>
            </a:r>
            <a:r>
              <a:rPr lang="en-US" altLang="ja-JP" sz="2400" u="sng" baseline="30000" dirty="0">
                <a:solidFill>
                  <a:sysClr val="windowText" lastClr="000000"/>
                </a:solidFill>
                <a:latin typeface="Segoe UI" panose="020B0502040204020203" pitchFamily="34" charset="0"/>
                <a:ea typeface="Meiryo UI" panose="020B0604030504040204" pitchFamily="50" charset="-128"/>
              </a:rPr>
              <a:t>[6]</a:t>
            </a:r>
            <a:endParaRPr lang="en-JP" altLang="ja-JP" sz="2400" u="sng" baseline="30000" dirty="0">
              <a:solidFill>
                <a:sysClr val="windowText" lastClr="000000"/>
              </a:solidFill>
              <a:latin typeface="Segoe UI" panose="020B0502040204020203" pitchFamily="34" charset="0"/>
              <a:ea typeface="Meiryo UI" panose="020B0604030504040204" pitchFamily="50" charset="-128"/>
            </a:endParaRPr>
          </a:p>
        </p:txBody>
      </p:sp>
      <p:sp>
        <p:nvSpPr>
          <p:cNvPr id="88" name="テキスト ボックス 87">
            <a:extLst>
              <a:ext uri="{FF2B5EF4-FFF2-40B4-BE49-F238E27FC236}">
                <a16:creationId xmlns:a16="http://schemas.microsoft.com/office/drawing/2014/main" id="{A5FB8723-775C-0E07-7083-837F7F7BA833}"/>
              </a:ext>
            </a:extLst>
          </p:cNvPr>
          <p:cNvSpPr txBox="1"/>
          <p:nvPr/>
        </p:nvSpPr>
        <p:spPr>
          <a:xfrm>
            <a:off x="215030" y="1688135"/>
            <a:ext cx="9908482" cy="934423"/>
          </a:xfrm>
          <a:prstGeom prst="rect">
            <a:avLst/>
          </a:prstGeom>
          <a:noFill/>
        </p:spPr>
        <p:txBody>
          <a:bodyPr wrap="none">
            <a:spAutoFit/>
          </a:bodyPr>
          <a:lstStyle/>
          <a:p>
            <a:pPr>
              <a:lnSpc>
                <a:spcPct val="120000"/>
              </a:lnSpc>
              <a:spcAft>
                <a:spcPts val="1200"/>
              </a:spcAft>
            </a:pPr>
            <a:r>
              <a:rPr lang="ja-JP" altLang="en-US" sz="2400" dirty="0">
                <a:latin typeface="Segoe UI" panose="020B0502040204020203" pitchFamily="34" charset="0"/>
                <a:ea typeface="Meiryo UI" panose="020B0604030504040204" pitchFamily="50" charset="-128"/>
              </a:rPr>
              <a:t>呼吸時間推定時点における特徴量を回帰モデルに入力し，呼吸進行度を推定</a:t>
            </a:r>
            <a:br>
              <a:rPr lang="en-US" altLang="ja-JP" sz="2400" dirty="0">
                <a:latin typeface="Segoe UI" panose="020B0502040204020203" pitchFamily="34" charset="0"/>
                <a:ea typeface="Meiryo UI" panose="020B0604030504040204" pitchFamily="50" charset="-128"/>
              </a:rPr>
            </a:br>
            <a:r>
              <a:rPr lang="en-US" altLang="ja-JP" sz="2400" dirty="0">
                <a:latin typeface="Segoe UI" panose="020B0502040204020203" pitchFamily="34" charset="0"/>
                <a:ea typeface="Meiryo UI" panose="020B0604030504040204" pitchFamily="50" charset="-128"/>
              </a:rPr>
              <a:t>※ </a:t>
            </a:r>
            <a:r>
              <a:rPr lang="ja-JP" altLang="en-US" sz="2400" dirty="0">
                <a:latin typeface="Segoe UI" panose="020B0502040204020203" pitchFamily="34" charset="0"/>
                <a:ea typeface="Meiryo UI" panose="020B0604030504040204" pitchFamily="50" charset="-128"/>
              </a:rPr>
              <a:t>残り呼吸時間 </a:t>
            </a:r>
            <a:r>
              <a:rPr lang="en-US" altLang="ja-JP" sz="2400" dirty="0">
                <a:latin typeface="Segoe UI" panose="020B0502040204020203" pitchFamily="34" charset="0"/>
                <a:ea typeface="Meiryo UI" panose="020B0604030504040204" pitchFamily="50" charset="-128"/>
              </a:rPr>
              <a:t>=</a:t>
            </a:r>
            <a:r>
              <a:rPr lang="ja-JP" altLang="en-US" sz="2400" dirty="0">
                <a:latin typeface="Segoe UI" panose="020B0502040204020203" pitchFamily="34" charset="0"/>
                <a:ea typeface="Meiryo UI" panose="020B0604030504040204" pitchFamily="50" charset="-128"/>
              </a:rPr>
              <a:t>（経過時間 </a:t>
            </a:r>
            <a:r>
              <a:rPr lang="en-US" altLang="ja-JP" sz="2400" dirty="0">
                <a:latin typeface="Segoe UI" panose="020B0502040204020203" pitchFamily="34" charset="0"/>
                <a:ea typeface="Meiryo UI" panose="020B0604030504040204" pitchFamily="50" charset="-128"/>
              </a:rPr>
              <a:t>× 100 / </a:t>
            </a:r>
            <a:r>
              <a:rPr lang="ja-JP" altLang="en-US" sz="2400" dirty="0">
                <a:latin typeface="Segoe UI" panose="020B0502040204020203" pitchFamily="34" charset="0"/>
                <a:ea typeface="Meiryo UI" panose="020B0604030504040204" pitchFamily="50" charset="-128"/>
              </a:rPr>
              <a:t>呼吸進行度）</a:t>
            </a:r>
            <a:r>
              <a:rPr lang="ja-JP" altLang="en-US" sz="2400" dirty="0">
                <a:latin typeface="Yu Gothic UI" panose="020B0500000000000000" pitchFamily="50" charset="-128"/>
                <a:ea typeface="Yu Gothic UI" panose="020B0500000000000000" pitchFamily="50" charset="-128"/>
              </a:rPr>
              <a:t>−</a:t>
            </a:r>
            <a:r>
              <a:rPr lang="ja-JP" altLang="en-US" sz="2400" dirty="0">
                <a:latin typeface="Segoe UI" panose="020B0502040204020203" pitchFamily="34" charset="0"/>
                <a:ea typeface="Meiryo UI" panose="020B0604030504040204" pitchFamily="50" charset="-128"/>
              </a:rPr>
              <a:t> 経過時間</a:t>
            </a:r>
          </a:p>
        </p:txBody>
      </p:sp>
      <p:sp>
        <p:nvSpPr>
          <p:cNvPr id="94" name="テキスト ボックス 93">
            <a:extLst>
              <a:ext uri="{FF2B5EF4-FFF2-40B4-BE49-F238E27FC236}">
                <a16:creationId xmlns:a16="http://schemas.microsoft.com/office/drawing/2014/main" id="{F58D1312-81AC-C2D0-C3A2-50A35048D254}"/>
              </a:ext>
            </a:extLst>
          </p:cNvPr>
          <p:cNvSpPr txBox="1"/>
          <p:nvPr/>
        </p:nvSpPr>
        <p:spPr>
          <a:xfrm>
            <a:off x="4758935" y="6271668"/>
            <a:ext cx="2674130" cy="426079"/>
          </a:xfrm>
          <a:prstGeom prst="rect">
            <a:avLst/>
          </a:prstGeom>
          <a:noFill/>
        </p:spPr>
        <p:txBody>
          <a:bodyPr wrap="none" rtlCol="0">
            <a:spAutoFit/>
          </a:bodyPr>
          <a:lstStyle/>
          <a:p>
            <a:pPr algn="ctr">
              <a:lnSpc>
                <a:spcPct val="120000"/>
              </a:lnSpc>
              <a:spcAft>
                <a:spcPts val="1200"/>
              </a:spcAft>
              <a:defRPr/>
            </a:pPr>
            <a:r>
              <a:rPr lang="ja-JP" altLang="en-US" sz="2000" dirty="0">
                <a:latin typeface="Segoe UI" panose="020B0502040204020203" pitchFamily="34" charset="0"/>
                <a:ea typeface="Meiryo UI" panose="020B0604030504040204" pitchFamily="50" charset="-128"/>
              </a:rPr>
              <a:t>呼吸進行度推定の流れ</a:t>
            </a:r>
            <a:endParaRPr lang="en-US" altLang="ja-JP" sz="2000" dirty="0">
              <a:latin typeface="Segoe UI" panose="020B0502040204020203" pitchFamily="34" charset="0"/>
              <a:ea typeface="Meiryo UI" panose="020B0604030504040204" pitchFamily="50" charset="-128"/>
            </a:endParaRPr>
          </a:p>
        </p:txBody>
      </p:sp>
      <p:sp>
        <p:nvSpPr>
          <p:cNvPr id="30" name="テキスト ボックス 29">
            <a:extLst>
              <a:ext uri="{FF2B5EF4-FFF2-40B4-BE49-F238E27FC236}">
                <a16:creationId xmlns:a16="http://schemas.microsoft.com/office/drawing/2014/main" id="{1D125B53-3A30-E41B-4F1F-3ECB7568AFA7}"/>
              </a:ext>
            </a:extLst>
          </p:cNvPr>
          <p:cNvSpPr txBox="1"/>
          <p:nvPr/>
        </p:nvSpPr>
        <p:spPr>
          <a:xfrm>
            <a:off x="7559252" y="5528179"/>
            <a:ext cx="1535998" cy="492827"/>
          </a:xfrm>
          <a:prstGeom prst="rect">
            <a:avLst/>
          </a:prstGeom>
          <a:noFill/>
        </p:spPr>
        <p:txBody>
          <a:bodyPr wrap="none" rtlCol="0">
            <a:spAutoFit/>
          </a:bodyPr>
          <a:lstStyle/>
          <a:p>
            <a:pPr algn="ctr">
              <a:lnSpc>
                <a:spcPct val="120000"/>
              </a:lnSpc>
              <a:spcAft>
                <a:spcPts val="1200"/>
              </a:spcAft>
            </a:pPr>
            <a:r>
              <a:rPr kumimoji="1" lang="ja-JP" altLang="en-US" sz="2400" dirty="0">
                <a:latin typeface="Segoe UI" panose="020B0502040204020203" pitchFamily="34" charset="0"/>
                <a:ea typeface="Meiryo UI" panose="020B0604030504040204" pitchFamily="50" charset="-128"/>
              </a:rPr>
              <a:t>回帰モデル</a:t>
            </a:r>
          </a:p>
        </p:txBody>
      </p:sp>
      <p:grpSp>
        <p:nvGrpSpPr>
          <p:cNvPr id="199" name="グループ化 198">
            <a:extLst>
              <a:ext uri="{FF2B5EF4-FFF2-40B4-BE49-F238E27FC236}">
                <a16:creationId xmlns:a16="http://schemas.microsoft.com/office/drawing/2014/main" id="{62A398C9-E503-790A-3C20-6A84B285EA8E}"/>
              </a:ext>
            </a:extLst>
          </p:cNvPr>
          <p:cNvGrpSpPr/>
          <p:nvPr/>
        </p:nvGrpSpPr>
        <p:grpSpPr>
          <a:xfrm>
            <a:off x="7676257" y="3940083"/>
            <a:ext cx="1301987" cy="1348243"/>
            <a:chOff x="7061061" y="4150863"/>
            <a:chExt cx="1301987" cy="1348243"/>
          </a:xfrm>
        </p:grpSpPr>
        <p:sp>
          <p:nvSpPr>
            <p:cNvPr id="208" name="楕円 207">
              <a:extLst>
                <a:ext uri="{FF2B5EF4-FFF2-40B4-BE49-F238E27FC236}">
                  <a16:creationId xmlns:a16="http://schemas.microsoft.com/office/drawing/2014/main" id="{0CF5F8FA-A3C1-ECF1-A2ED-C7F34C46870A}"/>
                </a:ext>
              </a:extLst>
            </p:cNvPr>
            <p:cNvSpPr/>
            <p:nvPr/>
          </p:nvSpPr>
          <p:spPr>
            <a:xfrm>
              <a:off x="8143352" y="4338955"/>
              <a:ext cx="219696" cy="21969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209" name="楕円 208">
              <a:extLst>
                <a:ext uri="{FF2B5EF4-FFF2-40B4-BE49-F238E27FC236}">
                  <a16:creationId xmlns:a16="http://schemas.microsoft.com/office/drawing/2014/main" id="{A38505BE-E6B6-3C52-D8D2-8B641797ACB8}"/>
                </a:ext>
              </a:extLst>
            </p:cNvPr>
            <p:cNvSpPr/>
            <p:nvPr/>
          </p:nvSpPr>
          <p:spPr>
            <a:xfrm>
              <a:off x="8143352" y="4715136"/>
              <a:ext cx="219696" cy="21969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210" name="楕円 209">
              <a:extLst>
                <a:ext uri="{FF2B5EF4-FFF2-40B4-BE49-F238E27FC236}">
                  <a16:creationId xmlns:a16="http://schemas.microsoft.com/office/drawing/2014/main" id="{4C92A345-5DFD-C94B-0E16-9E961EEE77F6}"/>
                </a:ext>
              </a:extLst>
            </p:cNvPr>
            <p:cNvSpPr/>
            <p:nvPr/>
          </p:nvSpPr>
          <p:spPr>
            <a:xfrm>
              <a:off x="8143352" y="5091317"/>
              <a:ext cx="219696" cy="21969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grpSp>
          <p:nvGrpSpPr>
            <p:cNvPr id="58" name="グループ化 57">
              <a:extLst>
                <a:ext uri="{FF2B5EF4-FFF2-40B4-BE49-F238E27FC236}">
                  <a16:creationId xmlns:a16="http://schemas.microsoft.com/office/drawing/2014/main" id="{5ADBF896-98D5-FC04-3A57-1F3677D71E43}"/>
                </a:ext>
              </a:extLst>
            </p:cNvPr>
            <p:cNvGrpSpPr/>
            <p:nvPr/>
          </p:nvGrpSpPr>
          <p:grpSpPr>
            <a:xfrm>
              <a:off x="7061061" y="4338954"/>
              <a:ext cx="219692" cy="972058"/>
              <a:chOff x="5219700" y="2755900"/>
              <a:chExt cx="180975" cy="800735"/>
            </a:xfrm>
          </p:grpSpPr>
          <p:sp>
            <p:nvSpPr>
              <p:cNvPr id="200" name="楕円 199">
                <a:extLst>
                  <a:ext uri="{FF2B5EF4-FFF2-40B4-BE49-F238E27FC236}">
                    <a16:creationId xmlns:a16="http://schemas.microsoft.com/office/drawing/2014/main" id="{A0965088-ED6C-D559-BA36-2A125348A25A}"/>
                  </a:ext>
                </a:extLst>
              </p:cNvPr>
              <p:cNvSpPr/>
              <p:nvPr/>
            </p:nvSpPr>
            <p:spPr>
              <a:xfrm>
                <a:off x="5219700" y="2755900"/>
                <a:ext cx="180975" cy="18097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202" name="楕円 201">
                <a:extLst>
                  <a:ext uri="{FF2B5EF4-FFF2-40B4-BE49-F238E27FC236}">
                    <a16:creationId xmlns:a16="http://schemas.microsoft.com/office/drawing/2014/main" id="{1D581206-2FCF-6CCB-F0B6-F681805B2F81}"/>
                  </a:ext>
                </a:extLst>
              </p:cNvPr>
              <p:cNvSpPr/>
              <p:nvPr/>
            </p:nvSpPr>
            <p:spPr>
              <a:xfrm>
                <a:off x="5219700" y="3065780"/>
                <a:ext cx="180975" cy="18097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204" name="楕円 203">
                <a:extLst>
                  <a:ext uri="{FF2B5EF4-FFF2-40B4-BE49-F238E27FC236}">
                    <a16:creationId xmlns:a16="http://schemas.microsoft.com/office/drawing/2014/main" id="{0D388B32-9A48-5197-2DA4-C7C75141D504}"/>
                  </a:ext>
                </a:extLst>
              </p:cNvPr>
              <p:cNvSpPr/>
              <p:nvPr/>
            </p:nvSpPr>
            <p:spPr>
              <a:xfrm>
                <a:off x="5219700" y="3375660"/>
                <a:ext cx="180975" cy="18097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grpSp>
        <p:grpSp>
          <p:nvGrpSpPr>
            <p:cNvPr id="59" name="グループ化 58">
              <a:extLst>
                <a:ext uri="{FF2B5EF4-FFF2-40B4-BE49-F238E27FC236}">
                  <a16:creationId xmlns:a16="http://schemas.microsoft.com/office/drawing/2014/main" id="{617B0149-8EC0-69FE-D546-234E45BBCD37}"/>
                </a:ext>
              </a:extLst>
            </p:cNvPr>
            <p:cNvGrpSpPr/>
            <p:nvPr/>
          </p:nvGrpSpPr>
          <p:grpSpPr>
            <a:xfrm>
              <a:off x="7602215" y="4150863"/>
              <a:ext cx="219716" cy="1348243"/>
              <a:chOff x="5219681" y="2755898"/>
              <a:chExt cx="180994" cy="1110617"/>
            </a:xfrm>
          </p:grpSpPr>
          <p:sp>
            <p:nvSpPr>
              <p:cNvPr id="193" name="楕円 192">
                <a:extLst>
                  <a:ext uri="{FF2B5EF4-FFF2-40B4-BE49-F238E27FC236}">
                    <a16:creationId xmlns:a16="http://schemas.microsoft.com/office/drawing/2014/main" id="{857DC83B-235C-76D1-FEF7-C0307DF740EB}"/>
                  </a:ext>
                </a:extLst>
              </p:cNvPr>
              <p:cNvSpPr/>
              <p:nvPr/>
            </p:nvSpPr>
            <p:spPr>
              <a:xfrm>
                <a:off x="5219689" y="2755898"/>
                <a:ext cx="180975" cy="18097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196" name="楕円 195">
                <a:extLst>
                  <a:ext uri="{FF2B5EF4-FFF2-40B4-BE49-F238E27FC236}">
                    <a16:creationId xmlns:a16="http://schemas.microsoft.com/office/drawing/2014/main" id="{0AC99FB0-5C03-E067-EC9A-F14C4396FBC9}"/>
                  </a:ext>
                </a:extLst>
              </p:cNvPr>
              <p:cNvSpPr/>
              <p:nvPr/>
            </p:nvSpPr>
            <p:spPr>
              <a:xfrm>
                <a:off x="5219700" y="3065781"/>
                <a:ext cx="180975" cy="18097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197" name="楕円 196">
                <a:extLst>
                  <a:ext uri="{FF2B5EF4-FFF2-40B4-BE49-F238E27FC236}">
                    <a16:creationId xmlns:a16="http://schemas.microsoft.com/office/drawing/2014/main" id="{32B560CA-61D0-6769-9931-BF138F52BA6D}"/>
                  </a:ext>
                </a:extLst>
              </p:cNvPr>
              <p:cNvSpPr/>
              <p:nvPr/>
            </p:nvSpPr>
            <p:spPr>
              <a:xfrm>
                <a:off x="5219700" y="3375659"/>
                <a:ext cx="180975" cy="18097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198" name="楕円 197">
                <a:extLst>
                  <a:ext uri="{FF2B5EF4-FFF2-40B4-BE49-F238E27FC236}">
                    <a16:creationId xmlns:a16="http://schemas.microsoft.com/office/drawing/2014/main" id="{00806BA9-A6FC-80C1-FFC2-F2BAE1C7CB22}"/>
                  </a:ext>
                </a:extLst>
              </p:cNvPr>
              <p:cNvSpPr/>
              <p:nvPr/>
            </p:nvSpPr>
            <p:spPr>
              <a:xfrm>
                <a:off x="5219681" y="3685540"/>
                <a:ext cx="180975" cy="180975"/>
              </a:xfrm>
              <a:prstGeom prst="ellipse">
                <a:avLst/>
              </a:prstGeom>
              <a:solidFill>
                <a:srgbClr val="25573A"/>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grpSp>
        <p:cxnSp>
          <p:nvCxnSpPr>
            <p:cNvPr id="47" name="直線コネクタ 46">
              <a:extLst>
                <a:ext uri="{FF2B5EF4-FFF2-40B4-BE49-F238E27FC236}">
                  <a16:creationId xmlns:a16="http://schemas.microsoft.com/office/drawing/2014/main" id="{B187610F-3DF3-AB3E-3696-ED4CE8C6C54C}"/>
                </a:ext>
              </a:extLst>
            </p:cNvPr>
            <p:cNvCxnSpPr>
              <a:cxnSpLocks/>
              <a:stCxn id="200" idx="6"/>
              <a:endCxn id="193" idx="2"/>
            </p:cNvCxnSpPr>
            <p:nvPr/>
          </p:nvCxnSpPr>
          <p:spPr>
            <a:xfrm flipV="1">
              <a:off x="7280753" y="4260711"/>
              <a:ext cx="321463" cy="188091"/>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566E9DF2-BDCD-202E-784D-00C7BCC2516E}"/>
                </a:ext>
              </a:extLst>
            </p:cNvPr>
            <p:cNvCxnSpPr>
              <a:cxnSpLocks/>
              <a:stCxn id="200" idx="6"/>
              <a:endCxn id="196" idx="2"/>
            </p:cNvCxnSpPr>
            <p:nvPr/>
          </p:nvCxnSpPr>
          <p:spPr>
            <a:xfrm>
              <a:off x="7280753" y="4448802"/>
              <a:ext cx="321476" cy="188094"/>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788053CB-1EDA-3ECB-3553-43EDAD506D12}"/>
                </a:ext>
              </a:extLst>
            </p:cNvPr>
            <p:cNvCxnSpPr>
              <a:cxnSpLocks/>
              <a:stCxn id="200" idx="6"/>
              <a:endCxn id="197" idx="2"/>
            </p:cNvCxnSpPr>
            <p:nvPr/>
          </p:nvCxnSpPr>
          <p:spPr>
            <a:xfrm>
              <a:off x="7280753" y="4448802"/>
              <a:ext cx="321476" cy="564273"/>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64" name="直線コネクタ 63">
              <a:extLst>
                <a:ext uri="{FF2B5EF4-FFF2-40B4-BE49-F238E27FC236}">
                  <a16:creationId xmlns:a16="http://schemas.microsoft.com/office/drawing/2014/main" id="{FD39E78F-EA66-6125-A203-16CD889A154B}"/>
                </a:ext>
              </a:extLst>
            </p:cNvPr>
            <p:cNvCxnSpPr>
              <a:cxnSpLocks/>
              <a:stCxn id="200" idx="6"/>
              <a:endCxn id="198" idx="2"/>
            </p:cNvCxnSpPr>
            <p:nvPr/>
          </p:nvCxnSpPr>
          <p:spPr>
            <a:xfrm>
              <a:off x="7280753" y="4448802"/>
              <a:ext cx="321462" cy="940456"/>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65" name="直線コネクタ 64">
              <a:extLst>
                <a:ext uri="{FF2B5EF4-FFF2-40B4-BE49-F238E27FC236}">
                  <a16:creationId xmlns:a16="http://schemas.microsoft.com/office/drawing/2014/main" id="{2C5165A6-2ACE-E78D-571B-899222BD5B08}"/>
                </a:ext>
              </a:extLst>
            </p:cNvPr>
            <p:cNvCxnSpPr>
              <a:cxnSpLocks/>
              <a:stCxn id="202" idx="6"/>
              <a:endCxn id="193" idx="2"/>
            </p:cNvCxnSpPr>
            <p:nvPr/>
          </p:nvCxnSpPr>
          <p:spPr>
            <a:xfrm flipV="1">
              <a:off x="7280753" y="4260711"/>
              <a:ext cx="321463" cy="564272"/>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66" name="直線コネクタ 65">
              <a:extLst>
                <a:ext uri="{FF2B5EF4-FFF2-40B4-BE49-F238E27FC236}">
                  <a16:creationId xmlns:a16="http://schemas.microsoft.com/office/drawing/2014/main" id="{56B11F50-447F-3606-3AA7-A55D44B42F85}"/>
                </a:ext>
              </a:extLst>
            </p:cNvPr>
            <p:cNvCxnSpPr>
              <a:cxnSpLocks/>
              <a:stCxn id="202" idx="6"/>
              <a:endCxn id="196" idx="2"/>
            </p:cNvCxnSpPr>
            <p:nvPr/>
          </p:nvCxnSpPr>
          <p:spPr>
            <a:xfrm flipV="1">
              <a:off x="7280753" y="4636896"/>
              <a:ext cx="321476" cy="188087"/>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34932970-D0CE-5FB5-00A9-8C9EA55B91A1}"/>
                </a:ext>
              </a:extLst>
            </p:cNvPr>
            <p:cNvCxnSpPr>
              <a:cxnSpLocks/>
              <a:stCxn id="202" idx="6"/>
              <a:endCxn id="197" idx="2"/>
            </p:cNvCxnSpPr>
            <p:nvPr/>
          </p:nvCxnSpPr>
          <p:spPr>
            <a:xfrm>
              <a:off x="7280753" y="4824983"/>
              <a:ext cx="321476" cy="188092"/>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7D3C5E1B-FAD2-61DF-6573-D671D5A23A81}"/>
                </a:ext>
              </a:extLst>
            </p:cNvPr>
            <p:cNvCxnSpPr>
              <a:cxnSpLocks/>
              <a:stCxn id="202" idx="6"/>
              <a:endCxn id="198" idx="2"/>
            </p:cNvCxnSpPr>
            <p:nvPr/>
          </p:nvCxnSpPr>
          <p:spPr>
            <a:xfrm>
              <a:off x="7280753" y="4824983"/>
              <a:ext cx="321462" cy="564275"/>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E9695F9D-4901-1F48-73AE-BCC50A628146}"/>
                </a:ext>
              </a:extLst>
            </p:cNvPr>
            <p:cNvCxnSpPr>
              <a:cxnSpLocks/>
              <a:stCxn id="204" idx="6"/>
              <a:endCxn id="193" idx="2"/>
            </p:cNvCxnSpPr>
            <p:nvPr/>
          </p:nvCxnSpPr>
          <p:spPr>
            <a:xfrm flipV="1">
              <a:off x="7280753" y="4260711"/>
              <a:ext cx="321463" cy="940453"/>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C2F4320A-8B23-0F24-3ED7-63DF18261B33}"/>
                </a:ext>
              </a:extLst>
            </p:cNvPr>
            <p:cNvCxnSpPr>
              <a:cxnSpLocks/>
              <a:stCxn id="204" idx="6"/>
              <a:endCxn id="196" idx="2"/>
            </p:cNvCxnSpPr>
            <p:nvPr/>
          </p:nvCxnSpPr>
          <p:spPr>
            <a:xfrm flipV="1">
              <a:off x="7280753" y="4636896"/>
              <a:ext cx="321476" cy="564268"/>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324955AB-B0D8-6F74-8C16-DF2D9D841B93}"/>
                </a:ext>
              </a:extLst>
            </p:cNvPr>
            <p:cNvCxnSpPr>
              <a:cxnSpLocks/>
              <a:stCxn id="204" idx="6"/>
              <a:endCxn id="197" idx="2"/>
            </p:cNvCxnSpPr>
            <p:nvPr/>
          </p:nvCxnSpPr>
          <p:spPr>
            <a:xfrm flipV="1">
              <a:off x="7280753" y="5013075"/>
              <a:ext cx="321476" cy="188089"/>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1EC75B0C-3CC2-E71B-0ADF-71A3B7451931}"/>
                </a:ext>
              </a:extLst>
            </p:cNvPr>
            <p:cNvCxnSpPr>
              <a:cxnSpLocks/>
              <a:stCxn id="204" idx="6"/>
              <a:endCxn id="198" idx="2"/>
            </p:cNvCxnSpPr>
            <p:nvPr/>
          </p:nvCxnSpPr>
          <p:spPr>
            <a:xfrm>
              <a:off x="7280753" y="5201164"/>
              <a:ext cx="321462" cy="188094"/>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10DBDDB8-0035-5058-3D78-A01AFA508A2B}"/>
                </a:ext>
              </a:extLst>
            </p:cNvPr>
            <p:cNvCxnSpPr>
              <a:cxnSpLocks/>
            </p:cNvCxnSpPr>
            <p:nvPr/>
          </p:nvCxnSpPr>
          <p:spPr>
            <a:xfrm flipH="1" flipV="1">
              <a:off x="7821902" y="4260712"/>
              <a:ext cx="321450" cy="188091"/>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BF0EE17-4ACC-2131-4059-F490FB3EEB69}"/>
                </a:ext>
              </a:extLst>
            </p:cNvPr>
            <p:cNvCxnSpPr>
              <a:cxnSpLocks/>
            </p:cNvCxnSpPr>
            <p:nvPr/>
          </p:nvCxnSpPr>
          <p:spPr>
            <a:xfrm flipH="1">
              <a:off x="7821902" y="4448803"/>
              <a:ext cx="321450" cy="188091"/>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DBFDC70-F58A-CFC1-9680-72BAA28E897B}"/>
                </a:ext>
              </a:extLst>
            </p:cNvPr>
            <p:cNvCxnSpPr>
              <a:cxnSpLocks/>
            </p:cNvCxnSpPr>
            <p:nvPr/>
          </p:nvCxnSpPr>
          <p:spPr>
            <a:xfrm flipH="1">
              <a:off x="7821902" y="4448803"/>
              <a:ext cx="321450" cy="564272"/>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862948A8-3EE0-9652-7F20-BE99B52239FD}"/>
                </a:ext>
              </a:extLst>
            </p:cNvPr>
            <p:cNvCxnSpPr>
              <a:cxnSpLocks/>
            </p:cNvCxnSpPr>
            <p:nvPr/>
          </p:nvCxnSpPr>
          <p:spPr>
            <a:xfrm flipH="1">
              <a:off x="7821902" y="4448803"/>
              <a:ext cx="321450" cy="940452"/>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EF4A143D-E1E1-6E6B-D2C8-37AC046BB150}"/>
                </a:ext>
              </a:extLst>
            </p:cNvPr>
            <p:cNvCxnSpPr>
              <a:cxnSpLocks/>
            </p:cNvCxnSpPr>
            <p:nvPr/>
          </p:nvCxnSpPr>
          <p:spPr>
            <a:xfrm flipH="1" flipV="1">
              <a:off x="7821902" y="4260705"/>
              <a:ext cx="321450" cy="564272"/>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3E6ADAA9-3804-FDD7-7449-6F302F97CB69}"/>
                </a:ext>
              </a:extLst>
            </p:cNvPr>
            <p:cNvCxnSpPr>
              <a:cxnSpLocks/>
            </p:cNvCxnSpPr>
            <p:nvPr/>
          </p:nvCxnSpPr>
          <p:spPr>
            <a:xfrm flipH="1" flipV="1">
              <a:off x="7821902" y="4636886"/>
              <a:ext cx="321450" cy="188091"/>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6F6D9F5F-3447-952E-64EA-2590BCC3FEC7}"/>
                </a:ext>
              </a:extLst>
            </p:cNvPr>
            <p:cNvCxnSpPr>
              <a:cxnSpLocks/>
            </p:cNvCxnSpPr>
            <p:nvPr/>
          </p:nvCxnSpPr>
          <p:spPr>
            <a:xfrm flipH="1">
              <a:off x="7821902" y="4824977"/>
              <a:ext cx="321450" cy="188091"/>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6CAFEA71-ADD3-D3F9-9858-58E010C680D0}"/>
                </a:ext>
              </a:extLst>
            </p:cNvPr>
            <p:cNvCxnSpPr>
              <a:cxnSpLocks/>
            </p:cNvCxnSpPr>
            <p:nvPr/>
          </p:nvCxnSpPr>
          <p:spPr>
            <a:xfrm flipH="1">
              <a:off x="7821902" y="4824977"/>
              <a:ext cx="321450" cy="564272"/>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E9AA6766-11D8-28A1-E68F-7E5E03F2316C}"/>
                </a:ext>
              </a:extLst>
            </p:cNvPr>
            <p:cNvCxnSpPr>
              <a:cxnSpLocks/>
            </p:cNvCxnSpPr>
            <p:nvPr/>
          </p:nvCxnSpPr>
          <p:spPr>
            <a:xfrm flipH="1" flipV="1">
              <a:off x="7821902" y="4260711"/>
              <a:ext cx="321450" cy="940451"/>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83C28958-A85D-559C-E01D-1D6ABA3EA673}"/>
                </a:ext>
              </a:extLst>
            </p:cNvPr>
            <p:cNvCxnSpPr>
              <a:cxnSpLocks/>
            </p:cNvCxnSpPr>
            <p:nvPr/>
          </p:nvCxnSpPr>
          <p:spPr>
            <a:xfrm flipH="1" flipV="1">
              <a:off x="7821902" y="4636892"/>
              <a:ext cx="321450" cy="564272"/>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EED80468-6495-46BB-FFD1-4A4716C4A6FE}"/>
                </a:ext>
              </a:extLst>
            </p:cNvPr>
            <p:cNvCxnSpPr>
              <a:cxnSpLocks/>
            </p:cNvCxnSpPr>
            <p:nvPr/>
          </p:nvCxnSpPr>
          <p:spPr>
            <a:xfrm flipH="1" flipV="1">
              <a:off x="7821902" y="5013066"/>
              <a:ext cx="321450" cy="188091"/>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2C86D151-C969-46E6-4390-F5E47A8D1DD5}"/>
                </a:ext>
              </a:extLst>
            </p:cNvPr>
            <p:cNvCxnSpPr>
              <a:cxnSpLocks/>
            </p:cNvCxnSpPr>
            <p:nvPr/>
          </p:nvCxnSpPr>
          <p:spPr>
            <a:xfrm flipH="1">
              <a:off x="7821902" y="5201168"/>
              <a:ext cx="321450" cy="188091"/>
            </a:xfrm>
            <a:prstGeom prst="line">
              <a:avLst/>
            </a:prstGeom>
            <a:ln w="28575">
              <a:solidFill>
                <a:srgbClr val="25573A"/>
              </a:solidFill>
            </a:ln>
          </p:spPr>
          <p:style>
            <a:lnRef idx="1">
              <a:schemeClr val="accent1"/>
            </a:lnRef>
            <a:fillRef idx="0">
              <a:schemeClr val="accent1"/>
            </a:fillRef>
            <a:effectRef idx="0">
              <a:schemeClr val="accent1"/>
            </a:effectRef>
            <a:fontRef idx="minor">
              <a:schemeClr val="tx1"/>
            </a:fontRef>
          </p:style>
        </p:cxnSp>
      </p:grpSp>
      <p:sp>
        <p:nvSpPr>
          <p:cNvPr id="17" name="テキスト ボックス 16">
            <a:extLst>
              <a:ext uri="{FF2B5EF4-FFF2-40B4-BE49-F238E27FC236}">
                <a16:creationId xmlns:a16="http://schemas.microsoft.com/office/drawing/2014/main" id="{5311B524-7344-20E9-9CEF-B2FA643411E9}"/>
              </a:ext>
            </a:extLst>
          </p:cNvPr>
          <p:cNvSpPr txBox="1"/>
          <p:nvPr/>
        </p:nvSpPr>
        <p:spPr>
          <a:xfrm>
            <a:off x="9766042" y="5306580"/>
            <a:ext cx="1723549" cy="936025"/>
          </a:xfrm>
          <a:prstGeom prst="rect">
            <a:avLst/>
          </a:prstGeom>
          <a:noFill/>
        </p:spPr>
        <p:txBody>
          <a:bodyPr wrap="none" rtlCol="0">
            <a:spAutoFit/>
          </a:bodyPr>
          <a:lstStyle/>
          <a:p>
            <a:pPr algn="ctr">
              <a:lnSpc>
                <a:spcPct val="120000"/>
              </a:lnSpc>
              <a:spcAft>
                <a:spcPts val="1200"/>
              </a:spcAft>
            </a:pPr>
            <a:r>
              <a:rPr kumimoji="1" lang="ja-JP" altLang="en-US" sz="2400" dirty="0">
                <a:latin typeface="Segoe UI" panose="020B0502040204020203" pitchFamily="34" charset="0"/>
                <a:ea typeface="Meiryo UI" panose="020B0604030504040204" pitchFamily="50" charset="-128"/>
              </a:rPr>
              <a:t>呼吸進行度</a:t>
            </a:r>
            <a:br>
              <a:rPr kumimoji="1" lang="en-US" altLang="ja-JP" sz="2400" dirty="0">
                <a:latin typeface="Segoe UI" panose="020B0502040204020203" pitchFamily="34" charset="0"/>
                <a:ea typeface="Meiryo UI" panose="020B0604030504040204" pitchFamily="50" charset="-128"/>
              </a:rPr>
            </a:br>
            <a:r>
              <a:rPr kumimoji="1" lang="ja-JP" altLang="en-US" sz="2400" dirty="0">
                <a:latin typeface="Segoe UI" panose="020B0502040204020203" pitchFamily="34" charset="0"/>
                <a:ea typeface="Meiryo UI" panose="020B0604030504040204" pitchFamily="50" charset="-128"/>
              </a:rPr>
              <a:t>推定結果</a:t>
            </a:r>
          </a:p>
        </p:txBody>
      </p:sp>
      <p:grpSp>
        <p:nvGrpSpPr>
          <p:cNvPr id="84" name="グループ化 83">
            <a:extLst>
              <a:ext uri="{FF2B5EF4-FFF2-40B4-BE49-F238E27FC236}">
                <a16:creationId xmlns:a16="http://schemas.microsoft.com/office/drawing/2014/main" id="{4CB2D311-D653-01A6-54FA-B4C860B57108}"/>
              </a:ext>
            </a:extLst>
          </p:cNvPr>
          <p:cNvGrpSpPr/>
          <p:nvPr/>
        </p:nvGrpSpPr>
        <p:grpSpPr>
          <a:xfrm>
            <a:off x="9399402" y="3429035"/>
            <a:ext cx="2456829" cy="1768480"/>
            <a:chOff x="9427977" y="3421451"/>
            <a:chExt cx="2456829" cy="1768480"/>
          </a:xfrm>
        </p:grpSpPr>
        <p:cxnSp>
          <p:nvCxnSpPr>
            <p:cNvPr id="29" name="直線コネクタ 28">
              <a:extLst>
                <a:ext uri="{FF2B5EF4-FFF2-40B4-BE49-F238E27FC236}">
                  <a16:creationId xmlns:a16="http://schemas.microsoft.com/office/drawing/2014/main" id="{08411F17-0EF7-3AC0-80A6-B13155F26623}"/>
                </a:ext>
              </a:extLst>
            </p:cNvPr>
            <p:cNvCxnSpPr>
              <a:cxnSpLocks/>
            </p:cNvCxnSpPr>
            <p:nvPr/>
          </p:nvCxnSpPr>
          <p:spPr>
            <a:xfrm>
              <a:off x="10803342" y="4210547"/>
              <a:ext cx="0" cy="97200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0" name="グループ化 9">
              <a:extLst>
                <a:ext uri="{FF2B5EF4-FFF2-40B4-BE49-F238E27FC236}">
                  <a16:creationId xmlns:a16="http://schemas.microsoft.com/office/drawing/2014/main" id="{D4B0582F-89F8-6E46-5F2E-0598E6CBFC8E}"/>
                </a:ext>
              </a:extLst>
            </p:cNvPr>
            <p:cNvGrpSpPr/>
            <p:nvPr/>
          </p:nvGrpSpPr>
          <p:grpSpPr>
            <a:xfrm>
              <a:off x="9427977" y="4023119"/>
              <a:ext cx="1743606" cy="1166812"/>
              <a:chOff x="726353" y="3509963"/>
              <a:chExt cx="1743606" cy="1166812"/>
            </a:xfrm>
          </p:grpSpPr>
          <p:sp>
            <p:nvSpPr>
              <p:cNvPr id="11" name="正方形/長方形 10">
                <a:extLst>
                  <a:ext uri="{FF2B5EF4-FFF2-40B4-BE49-F238E27FC236}">
                    <a16:creationId xmlns:a16="http://schemas.microsoft.com/office/drawing/2014/main" id="{E18B8FCE-3CD9-B2AE-A30B-92B2888E2D7C}"/>
                  </a:ext>
                </a:extLst>
              </p:cNvPr>
              <p:cNvSpPr/>
              <p:nvPr/>
            </p:nvSpPr>
            <p:spPr>
              <a:xfrm>
                <a:off x="726956" y="3509963"/>
                <a:ext cx="1742400" cy="1166812"/>
              </a:xfrm>
              <a:prstGeom prst="rect">
                <a:avLst/>
              </a:prstGeom>
              <a:solidFill>
                <a:schemeClr val="bg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grpSp>
            <p:nvGrpSpPr>
              <p:cNvPr id="12" name="グループ化 11">
                <a:extLst>
                  <a:ext uri="{FF2B5EF4-FFF2-40B4-BE49-F238E27FC236}">
                    <a16:creationId xmlns:a16="http://schemas.microsoft.com/office/drawing/2014/main" id="{7F4B54BE-C659-E9A0-6F4E-AB88156F5439}"/>
                  </a:ext>
                </a:extLst>
              </p:cNvPr>
              <p:cNvGrpSpPr/>
              <p:nvPr/>
            </p:nvGrpSpPr>
            <p:grpSpPr>
              <a:xfrm>
                <a:off x="726353" y="3608695"/>
                <a:ext cx="1743606" cy="969348"/>
                <a:chOff x="5059507" y="5338281"/>
                <a:chExt cx="1743606" cy="969348"/>
              </a:xfrm>
              <a:noFill/>
            </p:grpSpPr>
            <p:pic>
              <p:nvPicPr>
                <p:cNvPr id="13" name="図 12">
                  <a:extLst>
                    <a:ext uri="{FF2B5EF4-FFF2-40B4-BE49-F238E27FC236}">
                      <a16:creationId xmlns:a16="http://schemas.microsoft.com/office/drawing/2014/main" id="{BF91809C-FF5D-083F-7C6B-5D1130A6C048}"/>
                    </a:ext>
                  </a:extLst>
                </p:cNvPr>
                <p:cNvPicPr>
                  <a:picLocks noChangeAspect="1"/>
                </p:cNvPicPr>
                <p:nvPr/>
              </p:nvPicPr>
              <p:blipFill>
                <a:blip r:embed="rId3"/>
                <a:srcRect l="21751" r="16109"/>
                <a:stretch>
                  <a:fillRect/>
                </a:stretch>
              </p:blipFill>
              <p:spPr>
                <a:xfrm>
                  <a:off x="5438775" y="5338281"/>
                  <a:ext cx="1083470" cy="969348"/>
                </a:xfrm>
                <a:prstGeom prst="rect">
                  <a:avLst/>
                </a:prstGeom>
                <a:grpFill/>
              </p:spPr>
            </p:pic>
            <p:pic>
              <p:nvPicPr>
                <p:cNvPr id="16" name="図 15">
                  <a:extLst>
                    <a:ext uri="{FF2B5EF4-FFF2-40B4-BE49-F238E27FC236}">
                      <a16:creationId xmlns:a16="http://schemas.microsoft.com/office/drawing/2014/main" id="{CDA87A95-03A5-064E-CBB5-4E4DD659BDEE}"/>
                    </a:ext>
                  </a:extLst>
                </p:cNvPr>
                <p:cNvPicPr>
                  <a:picLocks noChangeAspect="1"/>
                </p:cNvPicPr>
                <p:nvPr/>
              </p:nvPicPr>
              <p:blipFill>
                <a:blip r:embed="rId4"/>
                <a:srcRect l="83618"/>
                <a:stretch>
                  <a:fillRect/>
                </a:stretch>
              </p:blipFill>
              <p:spPr>
                <a:xfrm>
                  <a:off x="6517481" y="5338281"/>
                  <a:ext cx="285632" cy="969348"/>
                </a:xfrm>
                <a:prstGeom prst="rect">
                  <a:avLst/>
                </a:prstGeom>
                <a:grpFill/>
              </p:spPr>
            </p:pic>
            <p:pic>
              <p:nvPicPr>
                <p:cNvPr id="20" name="図 19">
                  <a:extLst>
                    <a:ext uri="{FF2B5EF4-FFF2-40B4-BE49-F238E27FC236}">
                      <a16:creationId xmlns:a16="http://schemas.microsoft.com/office/drawing/2014/main" id="{479A2C53-C22D-A951-52CA-48A9432E45BE}"/>
                    </a:ext>
                  </a:extLst>
                </p:cNvPr>
                <p:cNvPicPr>
                  <a:picLocks noChangeAspect="1"/>
                </p:cNvPicPr>
                <p:nvPr/>
              </p:nvPicPr>
              <p:blipFill>
                <a:blip r:embed="rId4"/>
                <a:srcRect r="78111"/>
                <a:stretch>
                  <a:fillRect/>
                </a:stretch>
              </p:blipFill>
              <p:spPr>
                <a:xfrm>
                  <a:off x="5059507" y="5338281"/>
                  <a:ext cx="381650" cy="969348"/>
                </a:xfrm>
                <a:prstGeom prst="rect">
                  <a:avLst/>
                </a:prstGeom>
                <a:grpFill/>
              </p:spPr>
            </p:pic>
          </p:grpSp>
        </p:grpSp>
        <p:cxnSp>
          <p:nvCxnSpPr>
            <p:cNvPr id="14" name="直線コネクタ 13">
              <a:extLst>
                <a:ext uri="{FF2B5EF4-FFF2-40B4-BE49-F238E27FC236}">
                  <a16:creationId xmlns:a16="http://schemas.microsoft.com/office/drawing/2014/main" id="{A88C7FEF-CBCE-F14A-4CAB-8959E462DBEE}"/>
                </a:ext>
              </a:extLst>
            </p:cNvPr>
            <p:cNvCxnSpPr>
              <a:cxnSpLocks/>
            </p:cNvCxnSpPr>
            <p:nvPr/>
          </p:nvCxnSpPr>
          <p:spPr>
            <a:xfrm>
              <a:off x="10884473" y="4238625"/>
              <a:ext cx="0" cy="951306"/>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27A3D636-B6E1-CF83-0BD7-CD925CA8DBA9}"/>
                </a:ext>
              </a:extLst>
            </p:cNvPr>
            <p:cNvSpPr txBox="1"/>
            <p:nvPr/>
          </p:nvSpPr>
          <p:spPr>
            <a:xfrm>
              <a:off x="10161256" y="3421451"/>
              <a:ext cx="1723550" cy="492827"/>
            </a:xfrm>
            <a:prstGeom prst="rect">
              <a:avLst/>
            </a:prstGeom>
            <a:noFill/>
          </p:spPr>
          <p:txBody>
            <a:bodyPr wrap="none" rtlCol="0">
              <a:spAutoFit/>
            </a:bodyPr>
            <a:lstStyle/>
            <a:p>
              <a:pPr algn="ctr">
                <a:lnSpc>
                  <a:spcPct val="120000"/>
                </a:lnSpc>
                <a:spcAft>
                  <a:spcPts val="1200"/>
                </a:spcAft>
              </a:pPr>
              <a:r>
                <a:rPr kumimoji="1" lang="ja-JP" altLang="en-US" sz="2400" dirty="0">
                  <a:effectLst/>
                  <a:latin typeface="Segoe UI" panose="020B0502040204020203" pitchFamily="34" charset="0"/>
                  <a:ea typeface="Meiryo UI" panose="020B0604030504040204" pitchFamily="50" charset="-128"/>
                </a:rPr>
                <a:t>呼吸進行度</a:t>
              </a:r>
            </a:p>
          </p:txBody>
        </p:sp>
        <p:sp>
          <p:nvSpPr>
            <p:cNvPr id="78" name="矢印: 左右 77">
              <a:extLst>
                <a:ext uri="{FF2B5EF4-FFF2-40B4-BE49-F238E27FC236}">
                  <a16:creationId xmlns:a16="http://schemas.microsoft.com/office/drawing/2014/main" id="{19671C8B-924A-9470-4260-22977AA7CCFA}"/>
                </a:ext>
              </a:extLst>
            </p:cNvPr>
            <p:cNvSpPr/>
            <p:nvPr/>
          </p:nvSpPr>
          <p:spPr>
            <a:xfrm>
              <a:off x="10894443" y="3978881"/>
              <a:ext cx="257175" cy="194620"/>
            </a:xfrm>
            <a:prstGeom prst="leftRightArrow">
              <a:avLst>
                <a:gd name="adj1" fmla="val 82102"/>
                <a:gd name="adj2" fmla="val 26921"/>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grpSp>
      <p:cxnSp>
        <p:nvCxnSpPr>
          <p:cNvPr id="214" name="直線矢印コネクタ 213">
            <a:extLst>
              <a:ext uri="{FF2B5EF4-FFF2-40B4-BE49-F238E27FC236}">
                <a16:creationId xmlns:a16="http://schemas.microsoft.com/office/drawing/2014/main" id="{0178650E-96E8-BBBB-B207-BD8BD47052A2}"/>
              </a:ext>
            </a:extLst>
          </p:cNvPr>
          <p:cNvCxnSpPr>
            <a:cxnSpLocks/>
            <a:stCxn id="209" idx="6"/>
          </p:cNvCxnSpPr>
          <p:nvPr/>
        </p:nvCxnSpPr>
        <p:spPr>
          <a:xfrm flipV="1">
            <a:off x="8978244" y="4614203"/>
            <a:ext cx="335182" cy="1"/>
          </a:xfrm>
          <a:prstGeom prst="straightConnector1">
            <a:avLst/>
          </a:prstGeom>
          <a:ln w="57150">
            <a:solidFill>
              <a:srgbClr val="010101"/>
            </a:solidFill>
            <a:tailEnd type="triangle" w="med" len="sm"/>
          </a:ln>
        </p:spPr>
        <p:style>
          <a:lnRef idx="1">
            <a:schemeClr val="accent1"/>
          </a:lnRef>
          <a:fillRef idx="0">
            <a:schemeClr val="accent1"/>
          </a:fillRef>
          <a:effectRef idx="0">
            <a:schemeClr val="accent1"/>
          </a:effectRef>
          <a:fontRef idx="minor">
            <a:schemeClr val="tx1"/>
          </a:fontRef>
        </p:style>
      </p:cxnSp>
      <p:sp>
        <p:nvSpPr>
          <p:cNvPr id="57" name="テキスト ボックス 56">
            <a:extLst>
              <a:ext uri="{FF2B5EF4-FFF2-40B4-BE49-F238E27FC236}">
                <a16:creationId xmlns:a16="http://schemas.microsoft.com/office/drawing/2014/main" id="{75396806-1DE6-2F94-13C4-7BD6D096ADB1}"/>
              </a:ext>
            </a:extLst>
          </p:cNvPr>
          <p:cNvSpPr txBox="1"/>
          <p:nvPr/>
        </p:nvSpPr>
        <p:spPr>
          <a:xfrm>
            <a:off x="347587" y="5528179"/>
            <a:ext cx="2031326" cy="492827"/>
          </a:xfrm>
          <a:prstGeom prst="rect">
            <a:avLst/>
          </a:prstGeom>
          <a:noFill/>
        </p:spPr>
        <p:txBody>
          <a:bodyPr wrap="none" rtlCol="0">
            <a:spAutoFit/>
          </a:bodyPr>
          <a:lstStyle/>
          <a:p>
            <a:pPr algn="ctr">
              <a:lnSpc>
                <a:spcPct val="120000"/>
              </a:lnSpc>
              <a:spcAft>
                <a:spcPts val="1200"/>
              </a:spcAft>
            </a:pPr>
            <a:r>
              <a:rPr kumimoji="1" lang="ja-JP" altLang="en-US" sz="2400" dirty="0">
                <a:latin typeface="Segoe UI" panose="020B0502040204020203" pitchFamily="34" charset="0"/>
                <a:ea typeface="Meiryo UI" panose="020B0604030504040204" pitchFamily="50" charset="-128"/>
              </a:rPr>
              <a:t>呼吸計測結果</a:t>
            </a:r>
          </a:p>
        </p:txBody>
      </p:sp>
      <p:sp>
        <p:nvSpPr>
          <p:cNvPr id="8" name="正方形/長方形 7">
            <a:extLst>
              <a:ext uri="{FF2B5EF4-FFF2-40B4-BE49-F238E27FC236}">
                <a16:creationId xmlns:a16="http://schemas.microsoft.com/office/drawing/2014/main" id="{CF8394B8-E3FE-17C3-7D5C-DF609A9C258B}"/>
              </a:ext>
            </a:extLst>
          </p:cNvPr>
          <p:cNvSpPr/>
          <p:nvPr/>
        </p:nvSpPr>
        <p:spPr>
          <a:xfrm>
            <a:off x="447654" y="4030703"/>
            <a:ext cx="1742400" cy="1166812"/>
          </a:xfrm>
          <a:prstGeom prst="rect">
            <a:avLst/>
          </a:prstGeom>
          <a:solidFill>
            <a:schemeClr val="bg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46" name="正方形/長方形 45">
            <a:extLst>
              <a:ext uri="{FF2B5EF4-FFF2-40B4-BE49-F238E27FC236}">
                <a16:creationId xmlns:a16="http://schemas.microsoft.com/office/drawing/2014/main" id="{EAECAA87-E348-5592-A224-678BB5CEF7D0}"/>
              </a:ext>
            </a:extLst>
          </p:cNvPr>
          <p:cNvSpPr/>
          <p:nvPr/>
        </p:nvSpPr>
        <p:spPr>
          <a:xfrm>
            <a:off x="1909857" y="4513515"/>
            <a:ext cx="280800" cy="684000"/>
          </a:xfrm>
          <a:prstGeom prst="rect">
            <a:avLst/>
          </a:prstGeom>
          <a:noFill/>
          <a:ln w="381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sp>
        <p:nvSpPr>
          <p:cNvPr id="76" name="テキスト ボックス 75">
            <a:extLst>
              <a:ext uri="{FF2B5EF4-FFF2-40B4-BE49-F238E27FC236}">
                <a16:creationId xmlns:a16="http://schemas.microsoft.com/office/drawing/2014/main" id="{DE231A50-6EA3-AA67-7AE0-ED42E4F39962}"/>
              </a:ext>
            </a:extLst>
          </p:cNvPr>
          <p:cNvSpPr txBox="1"/>
          <p:nvPr/>
        </p:nvSpPr>
        <p:spPr>
          <a:xfrm>
            <a:off x="1344189" y="3429035"/>
            <a:ext cx="1415772" cy="492827"/>
          </a:xfrm>
          <a:prstGeom prst="rect">
            <a:avLst/>
          </a:prstGeom>
          <a:noFill/>
        </p:spPr>
        <p:txBody>
          <a:bodyPr wrap="none" rtlCol="0">
            <a:spAutoFit/>
          </a:bodyPr>
          <a:lstStyle/>
          <a:p>
            <a:pPr algn="ctr">
              <a:lnSpc>
                <a:spcPct val="120000"/>
              </a:lnSpc>
              <a:spcAft>
                <a:spcPts val="1200"/>
              </a:spcAft>
            </a:pPr>
            <a:r>
              <a:rPr kumimoji="1" lang="ja-JP" altLang="en-US" sz="2400" dirty="0">
                <a:effectLst/>
                <a:latin typeface="Segoe UI" panose="020B0502040204020203" pitchFamily="34" charset="0"/>
                <a:ea typeface="Meiryo UI" panose="020B0604030504040204" pitchFamily="50" charset="-128"/>
              </a:rPr>
              <a:t>経過時間</a:t>
            </a:r>
          </a:p>
        </p:txBody>
      </p:sp>
      <p:cxnSp>
        <p:nvCxnSpPr>
          <p:cNvPr id="77" name="直線矢印コネクタ 76">
            <a:extLst>
              <a:ext uri="{FF2B5EF4-FFF2-40B4-BE49-F238E27FC236}">
                <a16:creationId xmlns:a16="http://schemas.microsoft.com/office/drawing/2014/main" id="{F176B62E-7C83-438B-C3EB-C78389A59FCD}"/>
              </a:ext>
            </a:extLst>
          </p:cNvPr>
          <p:cNvCxnSpPr>
            <a:cxnSpLocks/>
          </p:cNvCxnSpPr>
          <p:nvPr/>
        </p:nvCxnSpPr>
        <p:spPr>
          <a:xfrm>
            <a:off x="1834717" y="4083775"/>
            <a:ext cx="434717" cy="0"/>
          </a:xfrm>
          <a:prstGeom prst="straightConnector1">
            <a:avLst/>
          </a:prstGeom>
          <a:ln w="57150">
            <a:solidFill>
              <a:schemeClr val="tx1"/>
            </a:solidFill>
            <a:headEnd type="triangle" w="med" len="sm"/>
            <a:tailEnd type="triangle" w="med" len="sm"/>
          </a:ln>
        </p:spPr>
        <p:style>
          <a:lnRef idx="2">
            <a:schemeClr val="accent1"/>
          </a:lnRef>
          <a:fillRef idx="0">
            <a:schemeClr val="accent1"/>
          </a:fillRef>
          <a:effectRef idx="1">
            <a:schemeClr val="accent1"/>
          </a:effectRef>
          <a:fontRef idx="minor">
            <a:schemeClr val="tx1"/>
          </a:fontRef>
        </p:style>
      </p:cxnSp>
      <p:sp>
        <p:nvSpPr>
          <p:cNvPr id="224" name="テキスト ボックス 223">
            <a:extLst>
              <a:ext uri="{FF2B5EF4-FFF2-40B4-BE49-F238E27FC236}">
                <a16:creationId xmlns:a16="http://schemas.microsoft.com/office/drawing/2014/main" id="{0B40584F-1A8E-B8F3-264D-F4EFEAB832CA}"/>
              </a:ext>
            </a:extLst>
          </p:cNvPr>
          <p:cNvSpPr txBox="1"/>
          <p:nvPr/>
        </p:nvSpPr>
        <p:spPr>
          <a:xfrm>
            <a:off x="1172437" y="2986034"/>
            <a:ext cx="2031325" cy="936025"/>
          </a:xfrm>
          <a:prstGeom prst="rect">
            <a:avLst/>
          </a:prstGeom>
          <a:noFill/>
        </p:spPr>
        <p:txBody>
          <a:bodyPr wrap="none" rtlCol="0">
            <a:spAutoFit/>
          </a:bodyPr>
          <a:lstStyle/>
          <a:p>
            <a:pPr algn="ctr">
              <a:lnSpc>
                <a:spcPct val="120000"/>
              </a:lnSpc>
              <a:spcAft>
                <a:spcPts val="1200"/>
              </a:spcAft>
            </a:pPr>
            <a:r>
              <a:rPr lang="ja-JP" altLang="en-US" sz="2400" dirty="0">
                <a:latin typeface="Segoe UI" panose="020B0502040204020203" pitchFamily="34" charset="0"/>
                <a:ea typeface="Meiryo UI" panose="020B0604030504040204" pitchFamily="50" charset="-128"/>
              </a:rPr>
              <a:t>呼吸時間推定</a:t>
            </a:r>
            <a:br>
              <a:rPr lang="en-US" altLang="ja-JP" sz="2400" dirty="0">
                <a:latin typeface="Segoe UI" panose="020B0502040204020203" pitchFamily="34" charset="0"/>
                <a:ea typeface="Meiryo UI" panose="020B0604030504040204" pitchFamily="50" charset="-128"/>
              </a:rPr>
            </a:br>
            <a:r>
              <a:rPr lang="ja-JP" altLang="en-US" sz="2400" dirty="0">
                <a:latin typeface="Segoe UI" panose="020B0502040204020203" pitchFamily="34" charset="0"/>
                <a:ea typeface="Meiryo UI" panose="020B0604030504040204" pitchFamily="50" charset="-128"/>
              </a:rPr>
              <a:t>対象時点</a:t>
            </a:r>
            <a:endParaRPr kumimoji="1" lang="ja-JP" altLang="en-US" sz="2400" dirty="0">
              <a:latin typeface="Segoe UI" panose="020B0502040204020203" pitchFamily="34" charset="0"/>
              <a:ea typeface="Meiryo UI" panose="020B0604030504040204" pitchFamily="50" charset="-128"/>
            </a:endParaRPr>
          </a:p>
        </p:txBody>
      </p:sp>
      <p:grpSp>
        <p:nvGrpSpPr>
          <p:cNvPr id="15" name="グループ化 14">
            <a:extLst>
              <a:ext uri="{FF2B5EF4-FFF2-40B4-BE49-F238E27FC236}">
                <a16:creationId xmlns:a16="http://schemas.microsoft.com/office/drawing/2014/main" id="{044E369A-3F3E-A6D7-9020-512DEF9D35CA}"/>
              </a:ext>
            </a:extLst>
          </p:cNvPr>
          <p:cNvGrpSpPr/>
          <p:nvPr/>
        </p:nvGrpSpPr>
        <p:grpSpPr>
          <a:xfrm>
            <a:off x="447051" y="4129435"/>
            <a:ext cx="1832399" cy="969348"/>
            <a:chOff x="447051" y="4129435"/>
            <a:chExt cx="1832399" cy="969348"/>
          </a:xfrm>
        </p:grpSpPr>
        <p:grpSp>
          <p:nvGrpSpPr>
            <p:cNvPr id="4" name="グループ化 3">
              <a:extLst>
                <a:ext uri="{FF2B5EF4-FFF2-40B4-BE49-F238E27FC236}">
                  <a16:creationId xmlns:a16="http://schemas.microsoft.com/office/drawing/2014/main" id="{6A6D0523-71C8-33F3-E8B2-61FCB7B829CA}"/>
                </a:ext>
              </a:extLst>
            </p:cNvPr>
            <p:cNvGrpSpPr/>
            <p:nvPr/>
          </p:nvGrpSpPr>
          <p:grpSpPr>
            <a:xfrm>
              <a:off x="447051" y="4129435"/>
              <a:ext cx="1743606" cy="969348"/>
              <a:chOff x="5059507" y="5338281"/>
              <a:chExt cx="1743606" cy="969348"/>
            </a:xfrm>
            <a:noFill/>
          </p:grpSpPr>
          <p:pic>
            <p:nvPicPr>
              <p:cNvPr id="5" name="図 4">
                <a:extLst>
                  <a:ext uri="{FF2B5EF4-FFF2-40B4-BE49-F238E27FC236}">
                    <a16:creationId xmlns:a16="http://schemas.microsoft.com/office/drawing/2014/main" id="{76932E7D-20BA-4BE2-7DD1-70164946295D}"/>
                  </a:ext>
                </a:extLst>
              </p:cNvPr>
              <p:cNvPicPr>
                <a:picLocks noChangeAspect="1"/>
              </p:cNvPicPr>
              <p:nvPr/>
            </p:nvPicPr>
            <p:blipFill>
              <a:blip r:embed="rId3"/>
              <a:srcRect l="21751" r="16109"/>
              <a:stretch>
                <a:fillRect/>
              </a:stretch>
            </p:blipFill>
            <p:spPr>
              <a:xfrm>
                <a:off x="5438775" y="5338281"/>
                <a:ext cx="1083470" cy="969348"/>
              </a:xfrm>
              <a:prstGeom prst="rect">
                <a:avLst/>
              </a:prstGeom>
              <a:grpFill/>
            </p:spPr>
          </p:pic>
          <p:pic>
            <p:nvPicPr>
              <p:cNvPr id="6" name="図 5">
                <a:extLst>
                  <a:ext uri="{FF2B5EF4-FFF2-40B4-BE49-F238E27FC236}">
                    <a16:creationId xmlns:a16="http://schemas.microsoft.com/office/drawing/2014/main" id="{9F5F1805-CCFF-99A1-86E7-C41240C5B31B}"/>
                  </a:ext>
                </a:extLst>
              </p:cNvPr>
              <p:cNvPicPr>
                <a:picLocks noChangeAspect="1"/>
              </p:cNvPicPr>
              <p:nvPr/>
            </p:nvPicPr>
            <p:blipFill>
              <a:blip r:embed="rId4"/>
              <a:srcRect l="83618"/>
              <a:stretch>
                <a:fillRect/>
              </a:stretch>
            </p:blipFill>
            <p:spPr>
              <a:xfrm>
                <a:off x="6517481" y="5338281"/>
                <a:ext cx="285632" cy="969348"/>
              </a:xfrm>
              <a:prstGeom prst="rect">
                <a:avLst/>
              </a:prstGeom>
              <a:grpFill/>
            </p:spPr>
          </p:pic>
          <p:pic>
            <p:nvPicPr>
              <p:cNvPr id="7" name="図 6">
                <a:extLst>
                  <a:ext uri="{FF2B5EF4-FFF2-40B4-BE49-F238E27FC236}">
                    <a16:creationId xmlns:a16="http://schemas.microsoft.com/office/drawing/2014/main" id="{DB459F5E-A8B6-E242-C1E3-3F270286FE1A}"/>
                  </a:ext>
                </a:extLst>
              </p:cNvPr>
              <p:cNvPicPr>
                <a:picLocks noChangeAspect="1"/>
              </p:cNvPicPr>
              <p:nvPr/>
            </p:nvPicPr>
            <p:blipFill>
              <a:blip r:embed="rId4"/>
              <a:srcRect r="78111"/>
              <a:stretch>
                <a:fillRect/>
              </a:stretch>
            </p:blipFill>
            <p:spPr>
              <a:xfrm>
                <a:off x="5059507" y="5338281"/>
                <a:ext cx="381650" cy="969348"/>
              </a:xfrm>
              <a:prstGeom prst="rect">
                <a:avLst/>
              </a:prstGeom>
              <a:grpFill/>
            </p:spPr>
          </p:pic>
        </p:grpSp>
        <p:sp>
          <p:nvSpPr>
            <p:cNvPr id="226" name="楕円 225">
              <a:extLst>
                <a:ext uri="{FF2B5EF4-FFF2-40B4-BE49-F238E27FC236}">
                  <a16:creationId xmlns:a16="http://schemas.microsoft.com/office/drawing/2014/main" id="{045E17F5-B7FB-BC3C-01F8-13FB95504DBC}"/>
                </a:ext>
              </a:extLst>
            </p:cNvPr>
            <p:cNvSpPr/>
            <p:nvPr/>
          </p:nvSpPr>
          <p:spPr>
            <a:xfrm>
              <a:off x="2096749" y="4753214"/>
              <a:ext cx="182701" cy="183590"/>
            </a:xfrm>
            <a:prstGeom prst="ellipse">
              <a:avLst/>
            </a:prstGeom>
            <a:solidFill>
              <a:srgbClr val="F2BD6D"/>
            </a:solidFill>
            <a:ln w="38100">
              <a:noFill/>
            </a:ln>
            <a:effectLst>
              <a:glow rad="63500">
                <a:schemeClr val="tx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grpSp>
      <p:grpSp>
        <p:nvGrpSpPr>
          <p:cNvPr id="22" name="グループ化 21">
            <a:extLst>
              <a:ext uri="{FF2B5EF4-FFF2-40B4-BE49-F238E27FC236}">
                <a16:creationId xmlns:a16="http://schemas.microsoft.com/office/drawing/2014/main" id="{818DAE73-2F01-C643-5F8D-4C2637644478}"/>
              </a:ext>
            </a:extLst>
          </p:cNvPr>
          <p:cNvGrpSpPr/>
          <p:nvPr/>
        </p:nvGrpSpPr>
        <p:grpSpPr>
          <a:xfrm>
            <a:off x="7356961" y="-49210"/>
            <a:ext cx="3582263" cy="827766"/>
            <a:chOff x="7356961" y="-49210"/>
            <a:chExt cx="3582263" cy="827766"/>
          </a:xfrm>
        </p:grpSpPr>
        <p:sp>
          <p:nvSpPr>
            <p:cNvPr id="9" name="テキスト ボックス 8">
              <a:extLst>
                <a:ext uri="{FF2B5EF4-FFF2-40B4-BE49-F238E27FC236}">
                  <a16:creationId xmlns:a16="http://schemas.microsoft.com/office/drawing/2014/main" id="{0DF72ADC-5689-1E3B-05CE-4DA40F358B69}"/>
                </a:ext>
              </a:extLst>
            </p:cNvPr>
            <p:cNvSpPr txBox="1"/>
            <p:nvPr/>
          </p:nvSpPr>
          <p:spPr>
            <a:xfrm>
              <a:off x="7356961" y="418136"/>
              <a:ext cx="2657587" cy="360420"/>
            </a:xfrm>
            <a:prstGeom prst="rect">
              <a:avLst/>
            </a:prstGeom>
            <a:noFill/>
          </p:spPr>
          <p:txBody>
            <a:bodyPr wrap="none" rtlCol="0">
              <a:spAutoFit/>
            </a:bodyPr>
            <a:lstStyle/>
            <a:p>
              <a:pPr lvl="0">
                <a:lnSpc>
                  <a:spcPct val="120000"/>
                </a:lnSpc>
                <a:spcAft>
                  <a:spcPts val="1200"/>
                </a:spcAft>
                <a:defRPr/>
              </a:pPr>
              <a:r>
                <a:rPr lang="en-US" altLang="ja-JP" sz="1600" dirty="0">
                  <a:latin typeface="Segoe UI" panose="020B0502040204020203" pitchFamily="34" charset="0"/>
                  <a:ea typeface="Meiryo UI" panose="020B0604030504040204" pitchFamily="50" charset="-128"/>
                </a:rPr>
                <a:t>[6] T. Chen et al., KDD, 2016</a:t>
              </a:r>
              <a:endParaRPr lang="en-US" altLang="ja-JP" sz="1600" dirty="0">
                <a:solidFill>
                  <a:prstClr val="black"/>
                </a:solidFill>
                <a:latin typeface="Segoe UI" panose="020B0502040204020203" pitchFamily="34" charset="0"/>
                <a:ea typeface="Meiryo UI" panose="020B0604030504040204" pitchFamily="50" charset="-128"/>
              </a:endParaRPr>
            </a:p>
          </p:txBody>
        </p:sp>
        <p:sp>
          <p:nvSpPr>
            <p:cNvPr id="34" name="テキスト ボックス 33">
              <a:extLst>
                <a:ext uri="{FF2B5EF4-FFF2-40B4-BE49-F238E27FC236}">
                  <a16:creationId xmlns:a16="http://schemas.microsoft.com/office/drawing/2014/main" id="{4CFEB2F0-4A5D-F74C-E699-EDD8D67D2E9C}"/>
                </a:ext>
              </a:extLst>
            </p:cNvPr>
            <p:cNvSpPr txBox="1"/>
            <p:nvPr/>
          </p:nvSpPr>
          <p:spPr>
            <a:xfrm>
              <a:off x="7356961" y="184463"/>
              <a:ext cx="3287182" cy="360420"/>
            </a:xfrm>
            <a:prstGeom prst="rect">
              <a:avLst/>
            </a:prstGeom>
            <a:noFill/>
          </p:spPr>
          <p:txBody>
            <a:bodyPr wrap="none" rtlCol="0">
              <a:spAutoFit/>
            </a:bodyPr>
            <a:lstStyle/>
            <a:p>
              <a:pPr lvl="0">
                <a:lnSpc>
                  <a:spcPct val="120000"/>
                </a:lnSpc>
                <a:spcAft>
                  <a:spcPts val="1200"/>
                </a:spcAft>
                <a:defRPr/>
              </a:pPr>
              <a:r>
                <a:rPr lang="en-US" altLang="ja-JP" sz="1600" dirty="0">
                  <a:latin typeface="Segoe UI" panose="020B0502040204020203" pitchFamily="34" charset="0"/>
                  <a:ea typeface="Meiryo UI" panose="020B0604030504040204" pitchFamily="50" charset="-128"/>
                </a:rPr>
                <a:t>[5] </a:t>
              </a:r>
              <a:r>
                <a:rPr lang="de-DE" altLang="ja-JP" sz="1600" dirty="0">
                  <a:latin typeface="Segoe UI" panose="020B0502040204020203" pitchFamily="34" charset="0"/>
                  <a:ea typeface="Meiryo UI" panose="020B0604030504040204" pitchFamily="50" charset="-128"/>
                </a:rPr>
                <a:t>H. Drucker et al., NeurIPS, 1997</a:t>
              </a:r>
              <a:endParaRPr lang="en-US" altLang="ja-JP" sz="1600" dirty="0">
                <a:solidFill>
                  <a:prstClr val="black"/>
                </a:solidFill>
                <a:latin typeface="Segoe UI" panose="020B0502040204020203" pitchFamily="34" charset="0"/>
                <a:ea typeface="Meiryo UI" panose="020B0604030504040204" pitchFamily="50" charset="-128"/>
              </a:endParaRPr>
            </a:p>
          </p:txBody>
        </p:sp>
        <p:sp>
          <p:nvSpPr>
            <p:cNvPr id="239" name="テキスト ボックス 238">
              <a:extLst>
                <a:ext uri="{FF2B5EF4-FFF2-40B4-BE49-F238E27FC236}">
                  <a16:creationId xmlns:a16="http://schemas.microsoft.com/office/drawing/2014/main" id="{32BCB036-7F7E-C5D3-B144-74EDD96F3244}"/>
                </a:ext>
              </a:extLst>
            </p:cNvPr>
            <p:cNvSpPr txBox="1"/>
            <p:nvPr/>
          </p:nvSpPr>
          <p:spPr>
            <a:xfrm>
              <a:off x="7356961" y="-49210"/>
              <a:ext cx="3582263" cy="360420"/>
            </a:xfrm>
            <a:prstGeom prst="rect">
              <a:avLst/>
            </a:prstGeom>
            <a:noFill/>
          </p:spPr>
          <p:txBody>
            <a:bodyPr wrap="none" rtlCol="0">
              <a:spAutoFit/>
            </a:bodyPr>
            <a:lstStyle/>
            <a:p>
              <a:pPr lvl="0">
                <a:lnSpc>
                  <a:spcPct val="120000"/>
                </a:lnSpc>
                <a:spcAft>
                  <a:spcPts val="1200"/>
                </a:spcAft>
                <a:defRPr/>
              </a:pPr>
              <a:r>
                <a:rPr lang="en-US" altLang="ja-JP" sz="1600" dirty="0">
                  <a:latin typeface="Segoe UI" panose="020B0502040204020203" pitchFamily="34" charset="0"/>
                  <a:ea typeface="Meiryo UI" panose="020B0604030504040204" pitchFamily="50" charset="-128"/>
                </a:rPr>
                <a:t>[4] </a:t>
              </a:r>
              <a:r>
                <a:rPr lang="en-US" altLang="ja-JP" sz="1600" dirty="0"/>
                <a:t>H. Zou </a:t>
              </a:r>
              <a:r>
                <a:rPr lang="en-US" altLang="ja-JP" sz="1600" i="1" dirty="0"/>
                <a:t>et al</a:t>
              </a:r>
              <a:r>
                <a:rPr lang="en-US" altLang="ja-JP" sz="1600" dirty="0"/>
                <a:t>., J. R. Stat. Soc. B, 2005</a:t>
              </a:r>
              <a:endParaRPr lang="en-US" altLang="ja-JP" sz="1600" dirty="0">
                <a:solidFill>
                  <a:prstClr val="black"/>
                </a:solidFill>
                <a:latin typeface="Segoe UI" panose="020B0502040204020203" pitchFamily="34" charset="0"/>
                <a:ea typeface="Meiryo UI" panose="020B0604030504040204" pitchFamily="50" charset="-128"/>
              </a:endParaRPr>
            </a:p>
          </p:txBody>
        </p:sp>
      </p:grpSp>
      <p:grpSp>
        <p:nvGrpSpPr>
          <p:cNvPr id="28" name="グループ化 27">
            <a:extLst>
              <a:ext uri="{FF2B5EF4-FFF2-40B4-BE49-F238E27FC236}">
                <a16:creationId xmlns:a16="http://schemas.microsoft.com/office/drawing/2014/main" id="{663A5549-FD46-A74A-BBCA-1C24ABCA29CD}"/>
              </a:ext>
            </a:extLst>
          </p:cNvPr>
          <p:cNvGrpSpPr/>
          <p:nvPr/>
        </p:nvGrpSpPr>
        <p:grpSpPr>
          <a:xfrm>
            <a:off x="9268381" y="2807934"/>
            <a:ext cx="2526597" cy="400110"/>
            <a:chOff x="8541557" y="2281423"/>
            <a:chExt cx="2526597" cy="400110"/>
          </a:xfrm>
        </p:grpSpPr>
        <p:cxnSp>
          <p:nvCxnSpPr>
            <p:cNvPr id="44" name="直線コネクタ 43">
              <a:extLst>
                <a:ext uri="{FF2B5EF4-FFF2-40B4-BE49-F238E27FC236}">
                  <a16:creationId xmlns:a16="http://schemas.microsoft.com/office/drawing/2014/main" id="{86EC716A-565D-9998-82EF-381C2FFC1A20}"/>
                </a:ext>
              </a:extLst>
            </p:cNvPr>
            <p:cNvCxnSpPr>
              <a:cxnSpLocks/>
            </p:cNvCxnSpPr>
            <p:nvPr/>
          </p:nvCxnSpPr>
          <p:spPr>
            <a:xfrm>
              <a:off x="8541557" y="2481478"/>
              <a:ext cx="360000" cy="0"/>
            </a:xfrm>
            <a:prstGeom prst="line">
              <a:avLst/>
            </a:prstGeom>
            <a:ln w="57150">
              <a:solidFill>
                <a:srgbClr val="FF8D00"/>
              </a:solidFill>
            </a:ln>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D6EC73F5-3AD8-A850-47D3-8945CE325AE1}"/>
                </a:ext>
              </a:extLst>
            </p:cNvPr>
            <p:cNvSpPr txBox="1"/>
            <p:nvPr/>
          </p:nvSpPr>
          <p:spPr>
            <a:xfrm>
              <a:off x="8936426" y="2281423"/>
              <a:ext cx="697627"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吸気</a:t>
              </a:r>
            </a:p>
          </p:txBody>
        </p:sp>
        <p:cxnSp>
          <p:nvCxnSpPr>
            <p:cNvPr id="49" name="直線コネクタ 48">
              <a:extLst>
                <a:ext uri="{FF2B5EF4-FFF2-40B4-BE49-F238E27FC236}">
                  <a16:creationId xmlns:a16="http://schemas.microsoft.com/office/drawing/2014/main" id="{0271004F-5E96-7882-A931-F3B4484AC953}"/>
                </a:ext>
              </a:extLst>
            </p:cNvPr>
            <p:cNvCxnSpPr>
              <a:cxnSpLocks/>
            </p:cNvCxnSpPr>
            <p:nvPr/>
          </p:nvCxnSpPr>
          <p:spPr>
            <a:xfrm>
              <a:off x="9975658" y="2481478"/>
              <a:ext cx="360000" cy="0"/>
            </a:xfrm>
            <a:prstGeom prst="line">
              <a:avLst/>
            </a:prstGeom>
            <a:ln w="57150">
              <a:solidFill>
                <a:srgbClr val="4B9AE3"/>
              </a:solidFill>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4289E113-BA62-0B1B-5F6D-45224792099F}"/>
                </a:ext>
              </a:extLst>
            </p:cNvPr>
            <p:cNvSpPr txBox="1"/>
            <p:nvPr/>
          </p:nvSpPr>
          <p:spPr>
            <a:xfrm>
              <a:off x="10370527" y="2281423"/>
              <a:ext cx="697627" cy="400110"/>
            </a:xfrm>
            <a:prstGeom prst="rect">
              <a:avLst/>
            </a:prstGeom>
            <a:noFill/>
          </p:spPr>
          <p:txBody>
            <a:bodyPr wrap="none" rtlCol="0">
              <a:spAutoFit/>
            </a:bodyPr>
            <a:lstStyle/>
            <a:p>
              <a:pPr algn="ctr"/>
              <a:r>
                <a:rPr kumimoji="1" lang="ja-JP" altLang="en-US" sz="2000" dirty="0">
                  <a:latin typeface="Segoe UI" panose="020B0502040204020203" pitchFamily="34" charset="0"/>
                  <a:ea typeface="Meiryo UI" panose="020B0604030504040204" pitchFamily="50" charset="-128"/>
                </a:rPr>
                <a:t>呼気</a:t>
              </a:r>
            </a:p>
          </p:txBody>
        </p:sp>
      </p:grpSp>
      <p:sp>
        <p:nvSpPr>
          <p:cNvPr id="68" name="テキスト ボックス 67">
            <a:extLst>
              <a:ext uri="{FF2B5EF4-FFF2-40B4-BE49-F238E27FC236}">
                <a16:creationId xmlns:a16="http://schemas.microsoft.com/office/drawing/2014/main" id="{781D52C8-592B-0B54-6215-4C29053CBA48}"/>
              </a:ext>
            </a:extLst>
          </p:cNvPr>
          <p:cNvSpPr txBox="1"/>
          <p:nvPr/>
        </p:nvSpPr>
        <p:spPr>
          <a:xfrm>
            <a:off x="3778344" y="5306580"/>
            <a:ext cx="3318537" cy="936025"/>
          </a:xfrm>
          <a:prstGeom prst="rect">
            <a:avLst/>
          </a:prstGeom>
          <a:noFill/>
        </p:spPr>
        <p:txBody>
          <a:bodyPr wrap="none" rtlCol="0">
            <a:spAutoFit/>
          </a:bodyPr>
          <a:lstStyle/>
          <a:p>
            <a:pPr algn="ctr">
              <a:lnSpc>
                <a:spcPct val="120000"/>
              </a:lnSpc>
              <a:spcAft>
                <a:spcPts val="1200"/>
              </a:spcAft>
            </a:pPr>
            <a:r>
              <a:rPr kumimoji="1" lang="ja-JP" altLang="en-US" sz="2400" dirty="0">
                <a:latin typeface="Segoe UI" panose="020B0502040204020203" pitchFamily="34" charset="0"/>
                <a:ea typeface="Meiryo UI" panose="020B0604030504040204" pitchFamily="50" charset="-128"/>
              </a:rPr>
              <a:t>呼吸状態遷移後における</a:t>
            </a:r>
            <a:br>
              <a:rPr kumimoji="1" lang="en-US" altLang="ja-JP" sz="2400" dirty="0">
                <a:latin typeface="Segoe UI" panose="020B0502040204020203" pitchFamily="34" charset="0"/>
                <a:ea typeface="Meiryo UI" panose="020B0604030504040204" pitchFamily="50" charset="-128"/>
              </a:rPr>
            </a:br>
            <a:r>
              <a:rPr kumimoji="1" lang="ja-JP" altLang="en-US" sz="2400" dirty="0">
                <a:latin typeface="Segoe UI" panose="020B0502040204020203" pitchFamily="34" charset="0"/>
                <a:ea typeface="Meiryo UI" panose="020B0604030504040204" pitchFamily="50" charset="-128"/>
              </a:rPr>
              <a:t>特徴量算出</a:t>
            </a:r>
          </a:p>
        </p:txBody>
      </p:sp>
      <p:pic>
        <p:nvPicPr>
          <p:cNvPr id="42" name="図 41">
            <a:extLst>
              <a:ext uri="{FF2B5EF4-FFF2-40B4-BE49-F238E27FC236}">
                <a16:creationId xmlns:a16="http://schemas.microsoft.com/office/drawing/2014/main" id="{52C05E72-2429-16F6-94D7-AF41E8AF5E2D}"/>
              </a:ext>
            </a:extLst>
          </p:cNvPr>
          <p:cNvPicPr>
            <a:picLocks noChangeAspect="1"/>
          </p:cNvPicPr>
          <p:nvPr/>
        </p:nvPicPr>
        <p:blipFill>
          <a:blip r:embed="rId5"/>
          <a:srcRect l="84006" t="41221"/>
          <a:stretch>
            <a:fillRect/>
          </a:stretch>
        </p:blipFill>
        <p:spPr>
          <a:xfrm>
            <a:off x="5259334" y="4513062"/>
            <a:ext cx="249954" cy="684453"/>
          </a:xfrm>
          <a:prstGeom prst="rect">
            <a:avLst/>
          </a:prstGeom>
          <a:ln w="38100">
            <a:solidFill>
              <a:srgbClr val="C00000"/>
            </a:solidFill>
          </a:ln>
        </p:spPr>
      </p:pic>
      <p:sp>
        <p:nvSpPr>
          <p:cNvPr id="51" name="楕円 50">
            <a:extLst>
              <a:ext uri="{FF2B5EF4-FFF2-40B4-BE49-F238E27FC236}">
                <a16:creationId xmlns:a16="http://schemas.microsoft.com/office/drawing/2014/main" id="{5014DEE7-217B-B635-608E-FA5894BAF517}"/>
              </a:ext>
            </a:extLst>
          </p:cNvPr>
          <p:cNvSpPr/>
          <p:nvPr/>
        </p:nvSpPr>
        <p:spPr>
          <a:xfrm>
            <a:off x="5433189" y="4753214"/>
            <a:ext cx="182701" cy="183590"/>
          </a:xfrm>
          <a:prstGeom prst="ellipse">
            <a:avLst/>
          </a:prstGeom>
          <a:solidFill>
            <a:srgbClr val="F2BD6D"/>
          </a:solidFill>
          <a:ln w="38100">
            <a:noFill/>
          </a:ln>
          <a:effectLst>
            <a:glow rad="63500">
              <a:schemeClr val="tx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dirty="0">
              <a:solidFill>
                <a:sysClr val="windowText" lastClr="000000"/>
              </a:solidFill>
              <a:latin typeface="Segoe UI" panose="020B0502040204020203" pitchFamily="34" charset="0"/>
              <a:ea typeface="Meiryo UI" panose="020B0604030504040204" pitchFamily="50" charset="-128"/>
            </a:endParaRPr>
          </a:p>
        </p:txBody>
      </p:sp>
      <p:cxnSp>
        <p:nvCxnSpPr>
          <p:cNvPr id="225" name="直線矢印コネクタ 224">
            <a:extLst>
              <a:ext uri="{FF2B5EF4-FFF2-40B4-BE49-F238E27FC236}">
                <a16:creationId xmlns:a16="http://schemas.microsoft.com/office/drawing/2014/main" id="{07E0BB1C-06C7-09CF-0A46-84D882A1F2C0}"/>
              </a:ext>
            </a:extLst>
          </p:cNvPr>
          <p:cNvCxnSpPr>
            <a:cxnSpLocks/>
            <a:stCxn id="224" idx="2"/>
          </p:cNvCxnSpPr>
          <p:nvPr/>
        </p:nvCxnSpPr>
        <p:spPr>
          <a:xfrm>
            <a:off x="2188100" y="3922059"/>
            <a:ext cx="0" cy="757538"/>
          </a:xfrm>
          <a:prstGeom prst="straightConnector1">
            <a:avLst/>
          </a:prstGeom>
          <a:ln w="38100">
            <a:solidFill>
              <a:schemeClr val="tx1"/>
            </a:solidFill>
            <a:tailEnd type="triangle" w="med" len="sm"/>
          </a:ln>
        </p:spPr>
        <p:style>
          <a:lnRef idx="1">
            <a:schemeClr val="accent1"/>
          </a:lnRef>
          <a:fillRef idx="0">
            <a:schemeClr val="accent1"/>
          </a:fillRef>
          <a:effectRef idx="0">
            <a:schemeClr val="accent1"/>
          </a:effectRef>
          <a:fontRef idx="minor">
            <a:schemeClr val="tx1"/>
          </a:fontRef>
        </p:style>
      </p:cxnSp>
      <p:sp>
        <p:nvSpPr>
          <p:cNvPr id="104" name="フリーフォーム: 図形 103">
            <a:extLst>
              <a:ext uri="{FF2B5EF4-FFF2-40B4-BE49-F238E27FC236}">
                <a16:creationId xmlns:a16="http://schemas.microsoft.com/office/drawing/2014/main" id="{E1E8D9AC-3B26-FC4A-4646-00790F931B22}"/>
              </a:ext>
            </a:extLst>
          </p:cNvPr>
          <p:cNvSpPr/>
          <p:nvPr/>
        </p:nvSpPr>
        <p:spPr>
          <a:xfrm rot="12306938">
            <a:off x="3535243" y="2274668"/>
            <a:ext cx="3804741" cy="2638156"/>
          </a:xfrm>
          <a:custGeom>
            <a:avLst/>
            <a:gdLst>
              <a:gd name="csX0" fmla="*/ 3804741 w 3804741"/>
              <a:gd name="csY0" fmla="*/ 1095304 h 2638156"/>
              <a:gd name="csX1" fmla="*/ 513442 w 3804741"/>
              <a:gd name="csY1" fmla="*/ 2638156 h 2638156"/>
              <a:gd name="csX2" fmla="*/ 0 w 3804741"/>
              <a:gd name="csY2" fmla="*/ 1542852 h 2638156"/>
              <a:gd name="csX3" fmla="*/ 1048213 w 3804741"/>
              <a:gd name="csY3" fmla="*/ 1051485 h 2638156"/>
              <a:gd name="csX4" fmla="*/ 1152469 w 3804741"/>
              <a:gd name="csY4" fmla="*/ 324533 h 2638156"/>
              <a:gd name="csX5" fmla="*/ 1243590 w 3804741"/>
              <a:gd name="csY5" fmla="*/ 959898 h 2638156"/>
              <a:gd name="csX6" fmla="*/ 3291298 w 3804741"/>
              <a:gd name="csY6" fmla="*/ 0 h 2638156"/>
              <a:gd name="csX0" fmla="*/ 3804741 w 3804741"/>
              <a:gd name="csY0" fmla="*/ 1095304 h 2638156"/>
              <a:gd name="csX1" fmla="*/ 513442 w 3804741"/>
              <a:gd name="csY1" fmla="*/ 2638156 h 2638156"/>
              <a:gd name="csX2" fmla="*/ 0 w 3804741"/>
              <a:gd name="csY2" fmla="*/ 1542852 h 2638156"/>
              <a:gd name="csX3" fmla="*/ 1048213 w 3804741"/>
              <a:gd name="csY3" fmla="*/ 1051485 h 2638156"/>
              <a:gd name="csX4" fmla="*/ 1289653 w 3804741"/>
              <a:gd name="csY4" fmla="*/ 347889 h 2638156"/>
              <a:gd name="csX5" fmla="*/ 1243590 w 3804741"/>
              <a:gd name="csY5" fmla="*/ 959898 h 2638156"/>
              <a:gd name="csX6" fmla="*/ 3291298 w 3804741"/>
              <a:gd name="csY6" fmla="*/ 0 h 2638156"/>
              <a:gd name="csX7" fmla="*/ 3804741 w 3804741"/>
              <a:gd name="csY7" fmla="*/ 1095304 h 2638156"/>
              <a:gd name="csX0" fmla="*/ 3804741 w 3804741"/>
              <a:gd name="csY0" fmla="*/ 1095304 h 2638156"/>
              <a:gd name="csX1" fmla="*/ 513442 w 3804741"/>
              <a:gd name="csY1" fmla="*/ 2638156 h 2638156"/>
              <a:gd name="csX2" fmla="*/ 0 w 3804741"/>
              <a:gd name="csY2" fmla="*/ 1542852 h 2638156"/>
              <a:gd name="csX3" fmla="*/ 1048213 w 3804741"/>
              <a:gd name="csY3" fmla="*/ 1051485 h 2638156"/>
              <a:gd name="csX4" fmla="*/ 1274022 w 3804741"/>
              <a:gd name="csY4" fmla="*/ 404307 h 2638156"/>
              <a:gd name="csX5" fmla="*/ 1243590 w 3804741"/>
              <a:gd name="csY5" fmla="*/ 959898 h 2638156"/>
              <a:gd name="csX6" fmla="*/ 3291298 w 3804741"/>
              <a:gd name="csY6" fmla="*/ 0 h 2638156"/>
              <a:gd name="csX7" fmla="*/ 3804741 w 3804741"/>
              <a:gd name="csY7" fmla="*/ 1095304 h 2638156"/>
              <a:gd name="csX0" fmla="*/ 3804741 w 3804741"/>
              <a:gd name="csY0" fmla="*/ 1095304 h 2638156"/>
              <a:gd name="csX1" fmla="*/ 513442 w 3804741"/>
              <a:gd name="csY1" fmla="*/ 2638156 h 2638156"/>
              <a:gd name="csX2" fmla="*/ 0 w 3804741"/>
              <a:gd name="csY2" fmla="*/ 1542852 h 2638156"/>
              <a:gd name="csX3" fmla="*/ 1048213 w 3804741"/>
              <a:gd name="csY3" fmla="*/ 1051485 h 2638156"/>
              <a:gd name="csX4" fmla="*/ 1247071 w 3804741"/>
              <a:gd name="csY4" fmla="*/ 459018 h 2638156"/>
              <a:gd name="csX5" fmla="*/ 1243590 w 3804741"/>
              <a:gd name="csY5" fmla="*/ 959898 h 2638156"/>
              <a:gd name="csX6" fmla="*/ 3291298 w 3804741"/>
              <a:gd name="csY6" fmla="*/ 0 h 2638156"/>
              <a:gd name="csX7" fmla="*/ 3804741 w 3804741"/>
              <a:gd name="csY7" fmla="*/ 1095304 h 26381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804741" h="2638156">
                <a:moveTo>
                  <a:pt x="3804741" y="1095304"/>
                </a:moveTo>
                <a:lnTo>
                  <a:pt x="513442" y="2638156"/>
                </a:lnTo>
                <a:lnTo>
                  <a:pt x="0" y="1542852"/>
                </a:lnTo>
                <a:lnTo>
                  <a:pt x="1048213" y="1051485"/>
                </a:lnTo>
                <a:lnTo>
                  <a:pt x="1247071" y="459018"/>
                </a:lnTo>
                <a:cubicBezTo>
                  <a:pt x="1245911" y="625978"/>
                  <a:pt x="1244750" y="792938"/>
                  <a:pt x="1243590" y="959898"/>
                </a:cubicBezTo>
                <a:lnTo>
                  <a:pt x="3291298" y="0"/>
                </a:lnTo>
                <a:lnTo>
                  <a:pt x="3804741" y="1095304"/>
                </a:lnTo>
                <a:close/>
              </a:path>
            </a:pathLst>
          </a:cu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79" name="テキスト ボックス 78">
            <a:extLst>
              <a:ext uri="{FF2B5EF4-FFF2-40B4-BE49-F238E27FC236}">
                <a16:creationId xmlns:a16="http://schemas.microsoft.com/office/drawing/2014/main" id="{D0FEE85F-8050-3675-9BEE-D4DCDB41A930}"/>
              </a:ext>
            </a:extLst>
          </p:cNvPr>
          <p:cNvSpPr txBox="1"/>
          <p:nvPr/>
        </p:nvSpPr>
        <p:spPr>
          <a:xfrm>
            <a:off x="3644493" y="3125734"/>
            <a:ext cx="3586238" cy="936025"/>
          </a:xfrm>
          <a:prstGeom prst="rect">
            <a:avLst/>
          </a:prstGeom>
          <a:noFill/>
        </p:spPr>
        <p:txBody>
          <a:bodyPr wrap="none" rtlCol="0">
            <a:spAutoFit/>
          </a:bodyPr>
          <a:lstStyle/>
          <a:p>
            <a:pPr algn="ctr">
              <a:lnSpc>
                <a:spcPct val="120000"/>
              </a:lnSpc>
              <a:spcAft>
                <a:spcPts val="1200"/>
              </a:spcAft>
            </a:pPr>
            <a:r>
              <a:rPr lang="ja-JP" altLang="en-US" sz="2400" dirty="0">
                <a:solidFill>
                  <a:sysClr val="windowText" lastClr="000000"/>
                </a:solidFill>
                <a:latin typeface="Segoe UI" panose="020B0502040204020203" pitchFamily="34" charset="0"/>
                <a:ea typeface="Meiryo UI" panose="020B0604030504040204" pitchFamily="50" charset="-128"/>
              </a:rPr>
              <a:t>経過時間 ・ 胸部圧迫力</a:t>
            </a:r>
            <a:br>
              <a:rPr kumimoji="1" lang="en-US" altLang="ja-JP" sz="2400" dirty="0">
                <a:solidFill>
                  <a:sysClr val="windowText" lastClr="000000"/>
                </a:solidFill>
                <a:latin typeface="Segoe UI" panose="020B0502040204020203" pitchFamily="34" charset="0"/>
                <a:ea typeface="Meiryo UI" panose="020B0604030504040204" pitchFamily="50" charset="-128"/>
              </a:rPr>
            </a:br>
            <a:r>
              <a:rPr lang="ja-JP" altLang="en-US" sz="2400" dirty="0">
                <a:solidFill>
                  <a:sysClr val="windowText" lastClr="000000"/>
                </a:solidFill>
                <a:latin typeface="Segoe UI" panose="020B0502040204020203" pitchFamily="34" charset="0"/>
                <a:ea typeface="Meiryo UI" panose="020B0604030504040204" pitchFamily="50" charset="-128"/>
              </a:rPr>
              <a:t>一次微分値 ・ 二次微分値</a:t>
            </a: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Tree>
    <p:extLst>
      <p:ext uri="{BB962C8B-B14F-4D97-AF65-F5344CB8AC3E}">
        <p14:creationId xmlns:p14="http://schemas.microsoft.com/office/powerpoint/2010/main" val="372350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xit" presetSubtype="0" fill="hold" grpId="0" nodeType="withEffect">
                                  <p:stCondLst>
                                    <p:cond delay="0"/>
                                  </p:stCondLst>
                                  <p:childTnLst>
                                    <p:set>
                                      <p:cBhvr>
                                        <p:cTn id="10" dur="1" fill="hold">
                                          <p:stCondLst>
                                            <p:cond delay="0"/>
                                          </p:stCondLst>
                                        </p:cTn>
                                        <p:tgtEl>
                                          <p:spTgt spid="224"/>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2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22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56AC9-BBDE-BD78-0F0F-450CFF10A505}"/>
            </a:ext>
          </a:extLst>
        </p:cNvPr>
        <p:cNvGrpSpPr/>
        <p:nvPr/>
      </p:nvGrpSpPr>
      <p:grpSpPr>
        <a:xfrm>
          <a:off x="0" y="0"/>
          <a:ext cx="0" cy="0"/>
          <a:chOff x="0" y="0"/>
          <a:chExt cx="0" cy="0"/>
        </a:xfrm>
      </p:grpSpPr>
      <p:sp>
        <p:nvSpPr>
          <p:cNvPr id="27" name="スライド番号プレースホルダー 26">
            <a:extLst>
              <a:ext uri="{FF2B5EF4-FFF2-40B4-BE49-F238E27FC236}">
                <a16:creationId xmlns:a16="http://schemas.microsoft.com/office/drawing/2014/main" id="{EDDC6706-D306-4626-DD83-13ACB007DE55}"/>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12</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A2A3B446-5B71-E72F-5CFB-CEC6D8E8F49C}"/>
              </a:ext>
            </a:extLst>
          </p:cNvPr>
          <p:cNvSpPr>
            <a:spLocks noGrp="1"/>
          </p:cNvSpPr>
          <p:nvPr>
            <p:ph type="title"/>
          </p:nvPr>
        </p:nvSpPr>
        <p:spPr/>
        <p:txBody>
          <a:bodyPr>
            <a:normAutofit/>
          </a:bodyPr>
          <a:lstStyle/>
          <a:p>
            <a:r>
              <a:rPr lang="ja-JP" altLang="en-US" dirty="0"/>
              <a:t>呼吸時間推定実験｜概要</a:t>
            </a:r>
            <a:endParaRPr kumimoji="1" lang="ja-JP" altLang="en-US" dirty="0"/>
          </a:p>
        </p:txBody>
      </p:sp>
      <p:grpSp>
        <p:nvGrpSpPr>
          <p:cNvPr id="6" name="グループ化 5">
            <a:extLst>
              <a:ext uri="{FF2B5EF4-FFF2-40B4-BE49-F238E27FC236}">
                <a16:creationId xmlns:a16="http://schemas.microsoft.com/office/drawing/2014/main" id="{04ADF520-5DEA-373A-413F-C19C81A3DF77}"/>
              </a:ext>
            </a:extLst>
          </p:cNvPr>
          <p:cNvGrpSpPr/>
          <p:nvPr/>
        </p:nvGrpSpPr>
        <p:grpSpPr>
          <a:xfrm>
            <a:off x="215030" y="827371"/>
            <a:ext cx="11641072" cy="907434"/>
            <a:chOff x="215030" y="827371"/>
            <a:chExt cx="11641072" cy="907434"/>
          </a:xfrm>
        </p:grpSpPr>
        <p:sp>
          <p:nvSpPr>
            <p:cNvPr id="2" name="TextBox 7">
              <a:extLst>
                <a:ext uri="{FF2B5EF4-FFF2-40B4-BE49-F238E27FC236}">
                  <a16:creationId xmlns:a16="http://schemas.microsoft.com/office/drawing/2014/main" id="{4A9FCC50-8958-5478-935B-8342D456D675}"/>
                </a:ext>
              </a:extLst>
            </p:cNvPr>
            <p:cNvSpPr txBox="1"/>
            <p:nvPr/>
          </p:nvSpPr>
          <p:spPr>
            <a:xfrm>
              <a:off x="215030" y="827371"/>
              <a:ext cx="1415772" cy="492827"/>
            </a:xfrm>
            <a:prstGeom prst="rect">
              <a:avLst/>
            </a:prstGeom>
            <a:noFill/>
          </p:spPr>
          <p:txBody>
            <a:bodyPr wrap="none" rtlCol="0">
              <a:spAutoFit/>
            </a:bodyPr>
            <a:lstStyle/>
            <a:p>
              <a:pPr>
                <a:lnSpc>
                  <a:spcPct val="120000"/>
                </a:lnSpc>
                <a:spcAft>
                  <a:spcPts val="1200"/>
                </a:spcAft>
              </a:pPr>
              <a:r>
                <a:rPr lang="ja-JP" altLang="en-US" sz="2400" b="1" dirty="0">
                  <a:solidFill>
                    <a:sysClr val="windowText" lastClr="000000"/>
                  </a:solidFill>
                  <a:latin typeface="Segoe UI" panose="020B0502040204020203" pitchFamily="34" charset="0"/>
                  <a:ea typeface="Meiryo UI" panose="020B0604030504040204" pitchFamily="50" charset="-128"/>
                </a:rPr>
                <a:t>実験目的</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25" name="テキスト ボックス 24">
              <a:extLst>
                <a:ext uri="{FF2B5EF4-FFF2-40B4-BE49-F238E27FC236}">
                  <a16:creationId xmlns:a16="http://schemas.microsoft.com/office/drawing/2014/main" id="{F61F079A-8CCC-E3A0-4B6C-5E2959C591D0}"/>
                </a:ext>
              </a:extLst>
            </p:cNvPr>
            <p:cNvSpPr txBox="1"/>
            <p:nvPr/>
          </p:nvSpPr>
          <p:spPr>
            <a:xfrm>
              <a:off x="215030" y="1241978"/>
              <a:ext cx="11641072" cy="492827"/>
            </a:xfrm>
            <a:prstGeom prst="rect">
              <a:avLst/>
            </a:prstGeom>
            <a:noFill/>
          </p:spPr>
          <p:txBody>
            <a:bodyPr wrap="none">
              <a:spAutoFit/>
            </a:bodyPr>
            <a:lstStyle/>
            <a:p>
              <a:pPr lvl="0">
                <a:lnSpc>
                  <a:spcPct val="120000"/>
                </a:lnSpc>
                <a:spcAft>
                  <a:spcPts val="1200"/>
                </a:spcAft>
                <a:defRPr/>
              </a:pPr>
              <a:r>
                <a:rPr lang="en-US" altLang="ja-JP" sz="2400" dirty="0">
                  <a:latin typeface="Segoe UI" panose="020B0502040204020203" pitchFamily="34" charset="0"/>
                  <a:ea typeface="Meiryo UI" panose="020B0604030504040204" pitchFamily="50" charset="-128"/>
                </a:rPr>
                <a:t>Elastic Net</a:t>
              </a:r>
              <a:r>
                <a:rPr lang="ja-JP" altLang="en-US" sz="2400" dirty="0">
                  <a:latin typeface="Segoe UI" panose="020B0502040204020203" pitchFamily="34" charset="0"/>
                  <a:ea typeface="Meiryo UI" panose="020B0604030504040204" pitchFamily="50" charset="-128"/>
                </a:rPr>
                <a:t> 回帰，</a:t>
              </a:r>
              <a:r>
                <a:rPr lang="en-US" altLang="ja-JP" sz="2400" dirty="0">
                  <a:latin typeface="Segoe UI" panose="020B0502040204020203" pitchFamily="34" charset="0"/>
                  <a:ea typeface="Meiryo UI" panose="020B0604030504040204" pitchFamily="50" charset="-128"/>
                </a:rPr>
                <a:t>SVR</a:t>
              </a:r>
              <a:r>
                <a:rPr lang="ja-JP" altLang="en-US" sz="2400" dirty="0">
                  <a:latin typeface="Segoe UI" panose="020B0502040204020203" pitchFamily="34" charset="0"/>
                  <a:ea typeface="Meiryo UI" panose="020B0604030504040204" pitchFamily="50" charset="-128"/>
                </a:rPr>
                <a:t>および</a:t>
              </a:r>
              <a:r>
                <a:rPr lang="en-US" altLang="ja-JP" sz="2400" dirty="0" err="1">
                  <a:latin typeface="Segoe UI" panose="020B0502040204020203" pitchFamily="34" charset="0"/>
                  <a:ea typeface="Meiryo UI" panose="020B0604030504040204" pitchFamily="50" charset="-128"/>
                </a:rPr>
                <a:t>XGBoost</a:t>
              </a:r>
              <a:r>
                <a:rPr lang="ja-JP" altLang="en-US" sz="2400" dirty="0">
                  <a:latin typeface="Segoe UI" panose="020B0502040204020203" pitchFamily="34" charset="0"/>
                  <a:ea typeface="Meiryo UI" panose="020B0604030504040204" pitchFamily="50" charset="-128"/>
                </a:rPr>
                <a:t>を用いた呼吸時間推定の精度および推論速度の比較</a:t>
              </a:r>
              <a:endParaRPr lang="en-US" altLang="ja-JP" sz="2400" dirty="0">
                <a:latin typeface="Segoe UI" panose="020B0502040204020203" pitchFamily="34" charset="0"/>
                <a:ea typeface="Meiryo UI" panose="020B0604030504040204" pitchFamily="50" charset="-128"/>
              </a:endParaRPr>
            </a:p>
          </p:txBody>
        </p:sp>
      </p:grpSp>
      <p:grpSp>
        <p:nvGrpSpPr>
          <p:cNvPr id="20" name="グループ化 19">
            <a:extLst>
              <a:ext uri="{FF2B5EF4-FFF2-40B4-BE49-F238E27FC236}">
                <a16:creationId xmlns:a16="http://schemas.microsoft.com/office/drawing/2014/main" id="{231D08E1-0F9C-4419-55A3-9FB84B99F031}"/>
              </a:ext>
            </a:extLst>
          </p:cNvPr>
          <p:cNvGrpSpPr/>
          <p:nvPr/>
        </p:nvGrpSpPr>
        <p:grpSpPr>
          <a:xfrm>
            <a:off x="215030" y="3893341"/>
            <a:ext cx="5041765" cy="907434"/>
            <a:chOff x="215030" y="2389552"/>
            <a:chExt cx="5041765" cy="907434"/>
          </a:xfrm>
        </p:grpSpPr>
        <p:sp>
          <p:nvSpPr>
            <p:cNvPr id="15" name="TextBox 7">
              <a:extLst>
                <a:ext uri="{FF2B5EF4-FFF2-40B4-BE49-F238E27FC236}">
                  <a16:creationId xmlns:a16="http://schemas.microsoft.com/office/drawing/2014/main" id="{0F0B9ECA-0C53-BF93-E930-C3A502EBC11A}"/>
                </a:ext>
              </a:extLst>
            </p:cNvPr>
            <p:cNvSpPr txBox="1"/>
            <p:nvPr/>
          </p:nvSpPr>
          <p:spPr>
            <a:xfrm>
              <a:off x="215030" y="2389552"/>
              <a:ext cx="1636987" cy="492827"/>
            </a:xfrm>
            <a:prstGeom prst="rect">
              <a:avLst/>
            </a:prstGeom>
            <a:noFill/>
          </p:spPr>
          <p:txBody>
            <a:bodyPr wrap="none" rtlCol="0">
              <a:spAutoFit/>
            </a:bodyPr>
            <a:lstStyle/>
            <a:p>
              <a:pPr>
                <a:lnSpc>
                  <a:spcPct val="120000"/>
                </a:lnSpc>
                <a:spcAft>
                  <a:spcPts val="1200"/>
                </a:spcAft>
              </a:pPr>
              <a:r>
                <a:rPr lang="ja-JP" altLang="en-US" sz="2400" b="1" dirty="0">
                  <a:solidFill>
                    <a:sysClr val="windowText" lastClr="000000"/>
                  </a:solidFill>
                  <a:latin typeface="Segoe UI" panose="020B0502040204020203" pitchFamily="34" charset="0"/>
                  <a:ea typeface="Meiryo UI" panose="020B0604030504040204" pitchFamily="50" charset="-128"/>
                </a:rPr>
                <a:t>データセット</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16" name="テキスト ボックス 15">
              <a:extLst>
                <a:ext uri="{FF2B5EF4-FFF2-40B4-BE49-F238E27FC236}">
                  <a16:creationId xmlns:a16="http://schemas.microsoft.com/office/drawing/2014/main" id="{96E87D50-476C-34AC-CD0D-CA1EF59D3836}"/>
                </a:ext>
              </a:extLst>
            </p:cNvPr>
            <p:cNvSpPr txBox="1"/>
            <p:nvPr/>
          </p:nvSpPr>
          <p:spPr>
            <a:xfrm>
              <a:off x="215030" y="2804159"/>
              <a:ext cx="5041765" cy="492827"/>
            </a:xfrm>
            <a:prstGeom prst="rect">
              <a:avLst/>
            </a:prstGeom>
            <a:noFill/>
          </p:spPr>
          <p:txBody>
            <a:bodyPr wrap="none">
              <a:spAutoFit/>
            </a:bodyPr>
            <a:lstStyle/>
            <a:p>
              <a:pPr lvl="0">
                <a:lnSpc>
                  <a:spcPct val="120000"/>
                </a:lnSpc>
                <a:spcAft>
                  <a:spcPts val="1200"/>
                </a:spcAft>
                <a:defRPr/>
              </a:pPr>
              <a:r>
                <a:rPr lang="ja-JP" altLang="en-US" sz="2400" dirty="0">
                  <a:solidFill>
                    <a:prstClr val="black"/>
                  </a:solidFill>
                  <a:latin typeface="Segoe UI" panose="020B0502040204020203" pitchFamily="34" charset="0"/>
                  <a:ea typeface="Meiryo UI" panose="020B0604030504040204" pitchFamily="50" charset="-128"/>
                </a:rPr>
                <a:t>呼吸状態判別実験と同一のものを使用</a:t>
              </a:r>
              <a:endParaRPr lang="en-US" altLang="ja-JP" sz="2400" dirty="0">
                <a:solidFill>
                  <a:prstClr val="black"/>
                </a:solidFill>
                <a:latin typeface="Segoe UI" panose="020B0502040204020203" pitchFamily="34" charset="0"/>
                <a:ea typeface="Meiryo UI" panose="020B0604030504040204" pitchFamily="50" charset="-128"/>
              </a:endParaRPr>
            </a:p>
          </p:txBody>
        </p:sp>
      </p:grpSp>
      <p:sp>
        <p:nvSpPr>
          <p:cNvPr id="24" name="テキスト ボックス 23">
            <a:extLst>
              <a:ext uri="{FF2B5EF4-FFF2-40B4-BE49-F238E27FC236}">
                <a16:creationId xmlns:a16="http://schemas.microsoft.com/office/drawing/2014/main" id="{C2D63580-27AD-0FB1-E9C6-8E6CC2B7CA3B}"/>
              </a:ext>
            </a:extLst>
          </p:cNvPr>
          <p:cNvSpPr txBox="1"/>
          <p:nvPr/>
        </p:nvSpPr>
        <p:spPr>
          <a:xfrm>
            <a:off x="8766834" y="418136"/>
            <a:ext cx="2172390" cy="359329"/>
          </a:xfrm>
          <a:prstGeom prst="rect">
            <a:avLst/>
          </a:prstGeom>
          <a:noFill/>
        </p:spPr>
        <p:txBody>
          <a:bodyPr wrap="none" rtlCol="0">
            <a:spAutoFit/>
          </a:bodyPr>
          <a:lstStyle/>
          <a:p>
            <a:pPr lvl="0">
              <a:lnSpc>
                <a:spcPct val="120000"/>
              </a:lnSpc>
              <a:spcAft>
                <a:spcPts val="1200"/>
              </a:spcAft>
              <a:defRPr/>
            </a:pPr>
            <a:r>
              <a:rPr lang="zh-TW" altLang="en-US" sz="1600" dirty="0">
                <a:latin typeface="Segoe UI" panose="020B0502040204020203" pitchFamily="34" charset="0"/>
                <a:ea typeface="Meiryo UI" panose="020B0604030504040204" pitchFamily="50" charset="-128"/>
              </a:rPr>
              <a:t>* 二乗平均平方根誤差</a:t>
            </a:r>
          </a:p>
        </p:txBody>
      </p:sp>
      <p:graphicFrame>
        <p:nvGraphicFramePr>
          <p:cNvPr id="4" name="表 3">
            <a:extLst>
              <a:ext uri="{FF2B5EF4-FFF2-40B4-BE49-F238E27FC236}">
                <a16:creationId xmlns:a16="http://schemas.microsoft.com/office/drawing/2014/main" id="{0A376DF3-5607-D0FE-CF6E-AF090B7F4420}"/>
              </a:ext>
            </a:extLst>
          </p:cNvPr>
          <p:cNvGraphicFramePr>
            <a:graphicFrameLocks noGrp="1"/>
          </p:cNvGraphicFramePr>
          <p:nvPr>
            <p:extLst>
              <p:ext uri="{D42A27DB-BD31-4B8C-83A1-F6EECF244321}">
                <p14:modId xmlns:p14="http://schemas.microsoft.com/office/powerpoint/2010/main" val="847971506"/>
              </p:ext>
            </p:extLst>
          </p:nvPr>
        </p:nvGraphicFramePr>
        <p:xfrm>
          <a:off x="4871837" y="5518243"/>
          <a:ext cx="7031673" cy="1107046"/>
        </p:xfrm>
        <a:graphic>
          <a:graphicData uri="http://schemas.openxmlformats.org/drawingml/2006/table">
            <a:tbl>
              <a:tblPr firstRow="1" bandRow="1">
                <a:tableStyleId>{5C22544A-7EE6-4342-B048-85BDC9FD1C3A}</a:tableStyleId>
              </a:tblPr>
              <a:tblGrid>
                <a:gridCol w="1486218">
                  <a:extLst>
                    <a:ext uri="{9D8B030D-6E8A-4147-A177-3AD203B41FA5}">
                      <a16:colId xmlns:a16="http://schemas.microsoft.com/office/drawing/2014/main" val="2920579830"/>
                    </a:ext>
                  </a:extLst>
                </a:gridCol>
                <a:gridCol w="5545455">
                  <a:extLst>
                    <a:ext uri="{9D8B030D-6E8A-4147-A177-3AD203B41FA5}">
                      <a16:colId xmlns:a16="http://schemas.microsoft.com/office/drawing/2014/main" val="2113837506"/>
                    </a:ext>
                  </a:extLst>
                </a:gridCol>
              </a:tblGrid>
              <a:tr h="553523">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決定係数</a:t>
                      </a: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spcAft>
                          <a:spcPts val="1200"/>
                        </a:spcAft>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モデルの説明力を表す指標</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8947851"/>
                  </a:ext>
                </a:extLst>
              </a:tr>
              <a:tr h="553523">
                <a:tc>
                  <a:txBody>
                    <a:bodyPr/>
                    <a:lstStyle/>
                    <a:p>
                      <a:pPr algn="ctr">
                        <a:lnSpc>
                          <a:spcPct val="120000"/>
                        </a:lnSpc>
                      </a:pP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RMSE</a:t>
                      </a:r>
                      <a:endParaRPr kumimoji="1" lang="ja-JP" altLang="en-US"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mpd="sng">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正解値と推定値の誤差の大きさを表す指標</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69610402"/>
                  </a:ext>
                </a:extLst>
              </a:tr>
            </a:tbl>
          </a:graphicData>
        </a:graphic>
      </p:graphicFrame>
      <p:graphicFrame>
        <p:nvGraphicFramePr>
          <p:cNvPr id="10" name="表 9">
            <a:extLst>
              <a:ext uri="{FF2B5EF4-FFF2-40B4-BE49-F238E27FC236}">
                <a16:creationId xmlns:a16="http://schemas.microsoft.com/office/drawing/2014/main" id="{7C808A20-645A-0527-849D-794E139EB2BB}"/>
              </a:ext>
            </a:extLst>
          </p:cNvPr>
          <p:cNvGraphicFramePr>
            <a:graphicFrameLocks noGrp="1"/>
          </p:cNvGraphicFramePr>
          <p:nvPr>
            <p:extLst>
              <p:ext uri="{D42A27DB-BD31-4B8C-83A1-F6EECF244321}">
                <p14:modId xmlns:p14="http://schemas.microsoft.com/office/powerpoint/2010/main" val="1411254332"/>
              </p:ext>
            </p:extLst>
          </p:nvPr>
        </p:nvGraphicFramePr>
        <p:xfrm>
          <a:off x="288490" y="2233930"/>
          <a:ext cx="11615020" cy="1375693"/>
        </p:xfrm>
        <a:graphic>
          <a:graphicData uri="http://schemas.openxmlformats.org/drawingml/2006/table">
            <a:tbl>
              <a:tblPr firstRow="1" bandRow="1">
                <a:tableStyleId>{5940675A-B579-460E-94D1-54222C63F5DA}</a:tableStyleId>
              </a:tblPr>
              <a:tblGrid>
                <a:gridCol w="1626709">
                  <a:extLst>
                    <a:ext uri="{9D8B030D-6E8A-4147-A177-3AD203B41FA5}">
                      <a16:colId xmlns:a16="http://schemas.microsoft.com/office/drawing/2014/main" val="59990242"/>
                    </a:ext>
                  </a:extLst>
                </a:gridCol>
                <a:gridCol w="3329437">
                  <a:extLst>
                    <a:ext uri="{9D8B030D-6E8A-4147-A177-3AD203B41FA5}">
                      <a16:colId xmlns:a16="http://schemas.microsoft.com/office/drawing/2014/main" val="1915713232"/>
                    </a:ext>
                  </a:extLst>
                </a:gridCol>
                <a:gridCol w="3329437">
                  <a:extLst>
                    <a:ext uri="{9D8B030D-6E8A-4147-A177-3AD203B41FA5}">
                      <a16:colId xmlns:a16="http://schemas.microsoft.com/office/drawing/2014/main" val="1633398604"/>
                    </a:ext>
                  </a:extLst>
                </a:gridCol>
                <a:gridCol w="3329437">
                  <a:extLst>
                    <a:ext uri="{9D8B030D-6E8A-4147-A177-3AD203B41FA5}">
                      <a16:colId xmlns:a16="http://schemas.microsoft.com/office/drawing/2014/main" val="1112265751"/>
                    </a:ext>
                  </a:extLst>
                </a:gridCol>
              </a:tblGrid>
              <a:tr h="552733">
                <a:tc>
                  <a:txBody>
                    <a:bodyPr/>
                    <a:lstStyle/>
                    <a:p>
                      <a:pPr algn="ctr"/>
                      <a:r>
                        <a:rPr kumimoji="1" lang="ja-JP" altLang="en-US" sz="2400" baseline="0" dirty="0">
                          <a:latin typeface="Segoe UI" panose="020B0502040204020203" pitchFamily="34" charset="0"/>
                          <a:ea typeface="Meiryo UI" panose="020B0604030504040204" pitchFamily="50" charset="-128"/>
                        </a:rPr>
                        <a:t>モデル</a:t>
                      </a:r>
                    </a:p>
                  </a:txBody>
                  <a:tcPr anchor="ctr">
                    <a:lnL w="12700" cap="flat" cmpd="sng" algn="ctr">
                      <a:no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2400" baseline="0" dirty="0">
                          <a:latin typeface="Segoe UI" panose="020B0502040204020203" pitchFamily="34" charset="0"/>
                          <a:ea typeface="Meiryo UI" panose="020B0604030504040204" pitchFamily="50" charset="-128"/>
                        </a:rPr>
                        <a:t>Elastic Net </a:t>
                      </a:r>
                      <a:r>
                        <a:rPr kumimoji="1" lang="ja-JP" altLang="en-US" sz="2400" baseline="0" dirty="0">
                          <a:latin typeface="Segoe UI" panose="020B0502040204020203" pitchFamily="34" charset="0"/>
                          <a:ea typeface="Meiryo UI" panose="020B0604030504040204" pitchFamily="50" charset="-128"/>
                        </a:rPr>
                        <a:t>回帰</a:t>
                      </a:r>
                    </a:p>
                  </a:txBody>
                  <a:tcPr anchor="ct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2400" baseline="0" dirty="0">
                          <a:latin typeface="Segoe UI" panose="020B0502040204020203" pitchFamily="34" charset="0"/>
                          <a:ea typeface="Meiryo UI" panose="020B0604030504040204" pitchFamily="50" charset="-128"/>
                        </a:rPr>
                        <a:t>SVR</a:t>
                      </a:r>
                      <a:endParaRPr kumimoji="1" lang="ja-JP" altLang="en-US" sz="2400" baseline="0" dirty="0">
                        <a:latin typeface="Segoe UI" panose="020B0502040204020203" pitchFamily="34" charset="0"/>
                        <a:ea typeface="Meiryo UI" panose="020B0604030504040204" pitchFamily="50" charset="-128"/>
                      </a:endParaRPr>
                    </a:p>
                  </a:txBody>
                  <a:tcPr anchor="ctr">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kumimoji="1" lang="en-US" altLang="ja-JP" sz="2400" baseline="0" dirty="0" err="1">
                          <a:latin typeface="Segoe UI" panose="020B0502040204020203" pitchFamily="34" charset="0"/>
                          <a:ea typeface="Meiryo UI" panose="020B0604030504040204" pitchFamily="50" charset="-128"/>
                        </a:rPr>
                        <a:t>XGBoost</a:t>
                      </a:r>
                      <a:endParaRPr kumimoji="1" lang="ja-JP" altLang="en-US" sz="2400" baseline="0" dirty="0">
                        <a:latin typeface="Segoe UI" panose="020B0502040204020203" pitchFamily="34" charset="0"/>
                        <a:ea typeface="Meiryo UI" panose="020B0604030504040204" pitchFamily="50" charset="-128"/>
                      </a:endParaRPr>
                    </a:p>
                  </a:txBody>
                  <a:tcPr anchor="ctr">
                    <a:lnR w="12700" cap="flat" cmpd="sng" algn="ctr">
                      <a:no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8515412"/>
                  </a:ext>
                </a:extLst>
              </a:tr>
              <a:tr h="552733">
                <a:tc>
                  <a:txBody>
                    <a:bodyPr/>
                    <a:lstStyle/>
                    <a:p>
                      <a:pPr algn="ctr"/>
                      <a:r>
                        <a:rPr kumimoji="1" lang="ja-JP" altLang="en-US" sz="2400" baseline="0" dirty="0">
                          <a:latin typeface="Segoe UI" panose="020B0502040204020203" pitchFamily="34" charset="0"/>
                          <a:ea typeface="Meiryo UI" panose="020B0604030504040204" pitchFamily="50" charset="-128"/>
                        </a:rPr>
                        <a:t>モデル構造</a:t>
                      </a:r>
                    </a:p>
                  </a:txBody>
                  <a:tcPr anchor="ct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aseline="0" dirty="0">
                          <a:latin typeface="Segoe UI" panose="020B0502040204020203" pitchFamily="34" charset="0"/>
                          <a:ea typeface="Meiryo UI" panose="020B0604030504040204" pitchFamily="50" charset="-128"/>
                        </a:rPr>
                        <a:t>線形回帰モデルを</a:t>
                      </a:r>
                      <a:br>
                        <a:rPr kumimoji="1" lang="en-US" altLang="ja-JP" sz="2400" baseline="0" dirty="0">
                          <a:latin typeface="Segoe UI" panose="020B0502040204020203" pitchFamily="34" charset="0"/>
                          <a:ea typeface="Meiryo UI" panose="020B0604030504040204" pitchFamily="50" charset="-128"/>
                        </a:rPr>
                      </a:br>
                      <a:r>
                        <a:rPr kumimoji="1" lang="ja-JP" altLang="en-US" sz="2400" baseline="0" dirty="0">
                          <a:latin typeface="Segoe UI" panose="020B0502040204020203" pitchFamily="34" charset="0"/>
                          <a:ea typeface="Meiryo UI" panose="020B0604030504040204" pitchFamily="50" charset="-128"/>
                        </a:rPr>
                        <a:t>ベースとした正則化回帰</a:t>
                      </a:r>
                      <a:endParaRPr kumimoji="1" lang="en-US" altLang="ja-JP" sz="2400" baseline="0" dirty="0">
                        <a:latin typeface="Segoe UI" panose="020B0502040204020203" pitchFamily="34" charset="0"/>
                        <a:ea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aseline="0" dirty="0">
                          <a:latin typeface="Segoe UI" panose="020B0502040204020203" pitchFamily="34" charset="0"/>
                          <a:ea typeface="Meiryo UI" panose="020B0604030504040204" pitchFamily="50" charset="-128"/>
                        </a:rPr>
                        <a:t>カーネル法を用いた</a:t>
                      </a:r>
                      <a:br>
                        <a:rPr kumimoji="1" lang="en-US" altLang="ja-JP" sz="2400" baseline="0" dirty="0">
                          <a:latin typeface="Segoe UI" panose="020B0502040204020203" pitchFamily="34" charset="0"/>
                          <a:ea typeface="Meiryo UI" panose="020B0604030504040204" pitchFamily="50" charset="-128"/>
                        </a:rPr>
                      </a:br>
                      <a:r>
                        <a:rPr kumimoji="1" lang="ja-JP" altLang="en-US" sz="2400" baseline="0" dirty="0">
                          <a:latin typeface="Segoe UI" panose="020B0502040204020203" pitchFamily="34" charset="0"/>
                          <a:ea typeface="Meiryo UI" panose="020B0604030504040204" pitchFamily="50" charset="-128"/>
                        </a:rPr>
                        <a:t>サポートベクター回帰</a:t>
                      </a:r>
                      <a:endParaRPr kumimoji="1" lang="en-US" altLang="ja-JP" sz="2400" baseline="0" dirty="0">
                        <a:latin typeface="Segoe UI" panose="020B0502040204020203" pitchFamily="34" charset="0"/>
                        <a:ea typeface="Meiryo UI" panose="020B0604030504040204" pitchFamily="50" charset="-128"/>
                      </a:endParaRP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400" baseline="0" dirty="0">
                          <a:latin typeface="Segoe UI" panose="020B0502040204020203" pitchFamily="34" charset="0"/>
                          <a:ea typeface="Meiryo UI" panose="020B0604030504040204" pitchFamily="50" charset="-128"/>
                        </a:rPr>
                        <a:t>決定木をベースとした</a:t>
                      </a:r>
                      <a:br>
                        <a:rPr kumimoji="1" lang="en-US" altLang="ja-JP" sz="2400" baseline="0" dirty="0">
                          <a:latin typeface="Segoe UI" panose="020B0502040204020203" pitchFamily="34" charset="0"/>
                          <a:ea typeface="Meiryo UI" panose="020B0604030504040204" pitchFamily="50" charset="-128"/>
                        </a:rPr>
                      </a:br>
                      <a:r>
                        <a:rPr kumimoji="1" lang="ja-JP" altLang="en-US" sz="2400" baseline="0" dirty="0">
                          <a:latin typeface="Segoe UI" panose="020B0502040204020203" pitchFamily="34" charset="0"/>
                          <a:ea typeface="Meiryo UI" panose="020B0604030504040204" pitchFamily="50" charset="-128"/>
                        </a:rPr>
                        <a:t>勾配ブースティング回帰</a:t>
                      </a:r>
                      <a:endParaRPr kumimoji="1" lang="en-US" altLang="ja-JP" sz="2400" baseline="0" dirty="0">
                        <a:latin typeface="Segoe UI" panose="020B0502040204020203" pitchFamily="34" charset="0"/>
                        <a:ea typeface="Meiryo UI" panose="020B0604030504040204" pitchFamily="50" charset="-128"/>
                      </a:endParaRPr>
                    </a:p>
                  </a:txBody>
                  <a:tcPr anchor="ctr">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762283599"/>
                  </a:ext>
                </a:extLst>
              </a:tr>
            </a:tbl>
          </a:graphicData>
        </a:graphic>
      </p:graphicFrame>
      <p:sp>
        <p:nvSpPr>
          <p:cNvPr id="21" name="テキスト ボックス 20">
            <a:extLst>
              <a:ext uri="{FF2B5EF4-FFF2-40B4-BE49-F238E27FC236}">
                <a16:creationId xmlns:a16="http://schemas.microsoft.com/office/drawing/2014/main" id="{E3C1B2E7-D8DC-91A7-E17D-FE6CCD56B8EF}"/>
              </a:ext>
            </a:extLst>
          </p:cNvPr>
          <p:cNvSpPr txBox="1"/>
          <p:nvPr/>
        </p:nvSpPr>
        <p:spPr>
          <a:xfrm>
            <a:off x="5054689" y="1805350"/>
            <a:ext cx="2082621" cy="426079"/>
          </a:xfrm>
          <a:prstGeom prst="rect">
            <a:avLst/>
          </a:prstGeom>
          <a:noFill/>
        </p:spPr>
        <p:txBody>
          <a:bodyPr wrap="none" rtlCol="0">
            <a:spAutoFit/>
          </a:bodyPr>
          <a:lstStyle/>
          <a:p>
            <a:pPr algn="ctr">
              <a:lnSpc>
                <a:spcPct val="120000"/>
              </a:lnSpc>
              <a:spcAft>
                <a:spcPts val="1200"/>
              </a:spcAft>
              <a:defRPr/>
            </a:pPr>
            <a:r>
              <a:rPr lang="ja-JP" altLang="en-US" sz="2000" dirty="0">
                <a:latin typeface="Segoe UI" panose="020B0502040204020203" pitchFamily="34" charset="0"/>
                <a:ea typeface="Meiryo UI" panose="020B0604030504040204" pitchFamily="50" charset="-128"/>
              </a:rPr>
              <a:t>回帰モデルの概要</a:t>
            </a:r>
            <a:endParaRPr lang="en-US" altLang="ja-JP" sz="2000" dirty="0">
              <a:latin typeface="Segoe UI" panose="020B0502040204020203" pitchFamily="34" charset="0"/>
              <a:ea typeface="Meiryo UI" panose="020B0604030504040204" pitchFamily="50" charset="-128"/>
            </a:endParaRPr>
          </a:p>
        </p:txBody>
      </p:sp>
      <p:grpSp>
        <p:nvGrpSpPr>
          <p:cNvPr id="17" name="グループ化 16">
            <a:extLst>
              <a:ext uri="{FF2B5EF4-FFF2-40B4-BE49-F238E27FC236}">
                <a16:creationId xmlns:a16="http://schemas.microsoft.com/office/drawing/2014/main" id="{48BBE13F-5B58-A909-45FD-7038226E5A9B}"/>
              </a:ext>
            </a:extLst>
          </p:cNvPr>
          <p:cNvGrpSpPr/>
          <p:nvPr/>
        </p:nvGrpSpPr>
        <p:grpSpPr>
          <a:xfrm>
            <a:off x="215030" y="5084492"/>
            <a:ext cx="4604850" cy="1350632"/>
            <a:chOff x="215030" y="4643708"/>
            <a:chExt cx="4604850" cy="1350632"/>
          </a:xfrm>
        </p:grpSpPr>
        <p:sp>
          <p:nvSpPr>
            <p:cNvPr id="13" name="TextBox 7">
              <a:extLst>
                <a:ext uri="{FF2B5EF4-FFF2-40B4-BE49-F238E27FC236}">
                  <a16:creationId xmlns:a16="http://schemas.microsoft.com/office/drawing/2014/main" id="{A5AB653E-B3D0-2B27-220A-BDAD89DC9A87}"/>
                </a:ext>
              </a:extLst>
            </p:cNvPr>
            <p:cNvSpPr txBox="1"/>
            <p:nvPr/>
          </p:nvSpPr>
          <p:spPr>
            <a:xfrm>
              <a:off x="215030" y="4643708"/>
              <a:ext cx="2929007" cy="492827"/>
            </a:xfrm>
            <a:prstGeom prst="rect">
              <a:avLst/>
            </a:prstGeom>
            <a:noFill/>
          </p:spPr>
          <p:txBody>
            <a:bodyPr wrap="none" rtlCol="0">
              <a:spAutoFit/>
            </a:bodyPr>
            <a:lstStyle/>
            <a:p>
              <a:pPr>
                <a:lnSpc>
                  <a:spcPct val="120000"/>
                </a:lnSpc>
                <a:spcAft>
                  <a:spcPts val="1200"/>
                </a:spcAft>
              </a:pPr>
              <a:r>
                <a:rPr lang="ja-JP" altLang="en-US" sz="2400" b="1" dirty="0">
                  <a:solidFill>
                    <a:sysClr val="windowText" lastClr="000000"/>
                  </a:solidFill>
                  <a:latin typeface="Segoe UI" panose="020B0502040204020203" pitchFamily="34" charset="0"/>
                  <a:ea typeface="Meiryo UI" panose="020B0604030504040204" pitchFamily="50" charset="-128"/>
                </a:rPr>
                <a:t>推定精度の評価方法</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14" name="TextBox 7">
              <a:extLst>
                <a:ext uri="{FF2B5EF4-FFF2-40B4-BE49-F238E27FC236}">
                  <a16:creationId xmlns:a16="http://schemas.microsoft.com/office/drawing/2014/main" id="{E4336BD5-081B-58E7-B683-41A96876125E}"/>
                </a:ext>
              </a:extLst>
            </p:cNvPr>
            <p:cNvSpPr txBox="1"/>
            <p:nvPr/>
          </p:nvSpPr>
          <p:spPr>
            <a:xfrm>
              <a:off x="215030" y="5058315"/>
              <a:ext cx="4604850" cy="936025"/>
            </a:xfrm>
            <a:prstGeom prst="rect">
              <a:avLst/>
            </a:prstGeom>
            <a:noFill/>
          </p:spPr>
          <p:txBody>
            <a:bodyPr wrap="none" rtlCol="0">
              <a:spAutoFit/>
            </a:bodyPr>
            <a:lstStyle/>
            <a:p>
              <a:pPr>
                <a:lnSpc>
                  <a:spcPct val="120000"/>
                </a:lnSpc>
                <a:spcAft>
                  <a:spcPts val="1200"/>
                </a:spcAft>
              </a:pPr>
              <a:r>
                <a:rPr lang="en-US" altLang="ja-JP" sz="2400" dirty="0">
                  <a:latin typeface="Segoe UI" panose="020B0502040204020203" pitchFamily="34" charset="0"/>
                  <a:ea typeface="Meiryo UI" panose="020B0604030504040204" pitchFamily="50" charset="-128"/>
                </a:rPr>
                <a:t>10-fold LOPO</a:t>
              </a:r>
              <a:r>
                <a:rPr lang="ja-JP" altLang="en-US" sz="2400" dirty="0">
                  <a:latin typeface="Segoe UI" panose="020B0502040204020203" pitchFamily="34" charset="0"/>
                  <a:ea typeface="Meiryo UI" panose="020B0604030504040204" pitchFamily="50" charset="-128"/>
                </a:rPr>
                <a:t>交差検証を用いて，</a:t>
              </a:r>
              <a:br>
                <a:rPr lang="en-US" altLang="ja-JP" sz="2400" dirty="0">
                  <a:latin typeface="Segoe UI" panose="020B0502040204020203" pitchFamily="34" charset="0"/>
                  <a:ea typeface="Meiryo UI" panose="020B0604030504040204" pitchFamily="50" charset="-128"/>
                </a:rPr>
              </a:br>
              <a:r>
                <a:rPr lang="ja-JP" altLang="en-US" sz="2400" dirty="0">
                  <a:latin typeface="Segoe UI" panose="020B0502040204020203" pitchFamily="34" charset="0"/>
                  <a:ea typeface="Meiryo UI" panose="020B0604030504040204" pitchFamily="50" charset="-128"/>
                </a:rPr>
                <a:t>決定係数および</a:t>
              </a:r>
              <a:r>
                <a:rPr lang="en-US" altLang="ja-JP" sz="2400" dirty="0">
                  <a:latin typeface="Segoe UI" panose="020B0502040204020203" pitchFamily="34" charset="0"/>
                  <a:ea typeface="Meiryo UI" panose="020B0604030504040204" pitchFamily="50" charset="-128"/>
                </a:rPr>
                <a:t>RMSE*</a:t>
              </a:r>
              <a:r>
                <a:rPr lang="ja-JP" altLang="en-US" sz="2400" dirty="0">
                  <a:latin typeface="Segoe UI" panose="020B0502040204020203" pitchFamily="34" charset="0"/>
                  <a:ea typeface="Meiryo UI" panose="020B0604030504040204" pitchFamily="50" charset="-128"/>
                </a:rPr>
                <a:t>により評価</a:t>
              </a:r>
              <a:endParaRPr lang="en-JP" altLang="ja-JP" sz="2400" u="sng" dirty="0">
                <a:solidFill>
                  <a:sysClr val="windowText" lastClr="000000"/>
                </a:solidFill>
                <a:latin typeface="Segoe UI" panose="020B0502040204020203" pitchFamily="34" charset="0"/>
                <a:ea typeface="Meiryo UI" panose="020B0604030504040204" pitchFamily="50" charset="-128"/>
              </a:endParaRPr>
            </a:p>
          </p:txBody>
        </p:sp>
      </p:grpSp>
      <p:sp>
        <p:nvSpPr>
          <p:cNvPr id="23" name="テキスト ボックス 22">
            <a:extLst>
              <a:ext uri="{FF2B5EF4-FFF2-40B4-BE49-F238E27FC236}">
                <a16:creationId xmlns:a16="http://schemas.microsoft.com/office/drawing/2014/main" id="{7433B6D4-E243-0019-054D-3B9251E0769F}"/>
              </a:ext>
            </a:extLst>
          </p:cNvPr>
          <p:cNvSpPr txBox="1"/>
          <p:nvPr/>
        </p:nvSpPr>
        <p:spPr>
          <a:xfrm>
            <a:off x="7420902" y="5084492"/>
            <a:ext cx="1933543" cy="426079"/>
          </a:xfrm>
          <a:prstGeom prst="rect">
            <a:avLst/>
          </a:prstGeom>
          <a:noFill/>
        </p:spPr>
        <p:txBody>
          <a:bodyPr wrap="none" rtlCol="0">
            <a:spAutoFit/>
          </a:bodyPr>
          <a:lstStyle/>
          <a:p>
            <a:pPr algn="ctr">
              <a:lnSpc>
                <a:spcPct val="120000"/>
              </a:lnSpc>
              <a:spcAft>
                <a:spcPts val="1200"/>
              </a:spcAft>
              <a:defRPr/>
            </a:pPr>
            <a:r>
              <a:rPr lang="ja-JP" altLang="en-US" sz="2000" dirty="0">
                <a:latin typeface="Segoe UI" panose="020B0502040204020203" pitchFamily="34" charset="0"/>
                <a:ea typeface="Meiryo UI" panose="020B0604030504040204" pitchFamily="50" charset="-128"/>
              </a:rPr>
              <a:t>評価指標の概要</a:t>
            </a:r>
            <a:endParaRPr lang="en-US" altLang="ja-JP" sz="2000" dirty="0">
              <a:latin typeface="Segoe UI" panose="020B0502040204020203" pitchFamily="34" charset="0"/>
              <a:ea typeface="Meiryo UI" panose="020B0604030504040204" pitchFamily="50" charset="-128"/>
            </a:endParaRPr>
          </a:p>
        </p:txBody>
      </p:sp>
    </p:spTree>
    <p:extLst>
      <p:ext uri="{BB962C8B-B14F-4D97-AF65-F5344CB8AC3E}">
        <p14:creationId xmlns:p14="http://schemas.microsoft.com/office/powerpoint/2010/main" val="3155771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58C0-64FD-9030-0A91-8DD1E0CE9AA0}"/>
            </a:ext>
          </a:extLst>
        </p:cNvPr>
        <p:cNvGrpSpPr/>
        <p:nvPr/>
      </p:nvGrpSpPr>
      <p:grpSpPr>
        <a:xfrm>
          <a:off x="0" y="0"/>
          <a:ext cx="0" cy="0"/>
          <a:chOff x="0" y="0"/>
          <a:chExt cx="0" cy="0"/>
        </a:xfrm>
      </p:grpSpPr>
      <p:sp>
        <p:nvSpPr>
          <p:cNvPr id="27" name="スライド番号プレースホルダー 26">
            <a:extLst>
              <a:ext uri="{FF2B5EF4-FFF2-40B4-BE49-F238E27FC236}">
                <a16:creationId xmlns:a16="http://schemas.microsoft.com/office/drawing/2014/main" id="{BD89B7ED-EF24-7735-1473-49BC750A85FE}"/>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13</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ADF8014C-F6A2-676E-9508-20F9D1CAC0E2}"/>
              </a:ext>
            </a:extLst>
          </p:cNvPr>
          <p:cNvSpPr>
            <a:spLocks noGrp="1"/>
          </p:cNvSpPr>
          <p:nvPr>
            <p:ph type="title"/>
          </p:nvPr>
        </p:nvSpPr>
        <p:spPr/>
        <p:txBody>
          <a:bodyPr>
            <a:normAutofit/>
          </a:bodyPr>
          <a:lstStyle/>
          <a:p>
            <a:r>
              <a:rPr lang="ja-JP" altLang="en-US" dirty="0"/>
              <a:t>呼吸時間推定実験｜結果</a:t>
            </a:r>
            <a:endParaRPr kumimoji="1" lang="ja-JP" altLang="en-US" dirty="0"/>
          </a:p>
        </p:txBody>
      </p:sp>
      <p:graphicFrame>
        <p:nvGraphicFramePr>
          <p:cNvPr id="12" name="表 11">
            <a:extLst>
              <a:ext uri="{FF2B5EF4-FFF2-40B4-BE49-F238E27FC236}">
                <a16:creationId xmlns:a16="http://schemas.microsoft.com/office/drawing/2014/main" id="{23A88793-8E76-4DAC-E006-D4A4952AF207}"/>
              </a:ext>
            </a:extLst>
          </p:cNvPr>
          <p:cNvGraphicFramePr>
            <a:graphicFrameLocks noGrp="1"/>
          </p:cNvGraphicFramePr>
          <p:nvPr>
            <p:extLst>
              <p:ext uri="{D42A27DB-BD31-4B8C-83A1-F6EECF244321}">
                <p14:modId xmlns:p14="http://schemas.microsoft.com/office/powerpoint/2010/main" val="3412229774"/>
              </p:ext>
            </p:extLst>
          </p:nvPr>
        </p:nvGraphicFramePr>
        <p:xfrm>
          <a:off x="1440516" y="1327918"/>
          <a:ext cx="9310968" cy="3675055"/>
        </p:xfrm>
        <a:graphic>
          <a:graphicData uri="http://schemas.openxmlformats.org/drawingml/2006/table">
            <a:tbl>
              <a:tblPr firstRow="1" bandRow="1">
                <a:tableStyleId>{5C22544A-7EE6-4342-B048-85BDC9FD1C3A}</a:tableStyleId>
              </a:tblPr>
              <a:tblGrid>
                <a:gridCol w="952178">
                  <a:extLst>
                    <a:ext uri="{9D8B030D-6E8A-4147-A177-3AD203B41FA5}">
                      <a16:colId xmlns:a16="http://schemas.microsoft.com/office/drawing/2014/main" val="4056887523"/>
                    </a:ext>
                  </a:extLst>
                </a:gridCol>
                <a:gridCol w="1668279">
                  <a:extLst>
                    <a:ext uri="{9D8B030D-6E8A-4147-A177-3AD203B41FA5}">
                      <a16:colId xmlns:a16="http://schemas.microsoft.com/office/drawing/2014/main" val="2514526844"/>
                    </a:ext>
                  </a:extLst>
                </a:gridCol>
                <a:gridCol w="2379753">
                  <a:extLst>
                    <a:ext uri="{9D8B030D-6E8A-4147-A177-3AD203B41FA5}">
                      <a16:colId xmlns:a16="http://schemas.microsoft.com/office/drawing/2014/main" val="4174749568"/>
                    </a:ext>
                  </a:extLst>
                </a:gridCol>
                <a:gridCol w="2155379">
                  <a:extLst>
                    <a:ext uri="{9D8B030D-6E8A-4147-A177-3AD203B41FA5}">
                      <a16:colId xmlns:a16="http://schemas.microsoft.com/office/drawing/2014/main" val="3594455010"/>
                    </a:ext>
                  </a:extLst>
                </a:gridCol>
                <a:gridCol w="2155379">
                  <a:extLst>
                    <a:ext uri="{9D8B030D-6E8A-4147-A177-3AD203B41FA5}">
                      <a16:colId xmlns:a16="http://schemas.microsoft.com/office/drawing/2014/main" val="744753710"/>
                    </a:ext>
                  </a:extLst>
                </a:gridCol>
              </a:tblGrid>
              <a:tr h="588886">
                <a:tc gridSpan="2">
                  <a:txBody>
                    <a:bodyPr/>
                    <a:lstStyle/>
                    <a:p>
                      <a:pPr algn="ctr">
                        <a:lnSpc>
                          <a:spcPct val="120000"/>
                        </a:lnSpc>
                      </a:pPr>
                      <a:endParaRPr kumimoji="1" lang="ja-JP" altLang="en-US"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lnSpc>
                          <a:spcPct val="120000"/>
                        </a:lnSpc>
                      </a:pPr>
                      <a:endParaRPr kumimoji="1" lang="ja-JP" altLang="en-US" sz="22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Elastic Net </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回帰</a:t>
                      </a:r>
                      <a:endParaRPr kumimoji="1" lang="en-US" altLang="ja-JP"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SVR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0" baseline="0" dirty="0" err="1">
                          <a:solidFill>
                            <a:sysClr val="windowText" lastClr="000000"/>
                          </a:solidFill>
                          <a:latin typeface="Segoe UI" panose="020B0502040204020203" pitchFamily="34" charset="0"/>
                          <a:ea typeface="Meiryo UI" panose="020B0604030504040204" pitchFamily="50" charset="-128"/>
                        </a:rPr>
                        <a:t>XGBoost</a:t>
                      </a:r>
                      <a:endParaRPr kumimoji="1" lang="en-US" altLang="ja-JP"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8566873"/>
                  </a:ext>
                </a:extLst>
              </a:tr>
              <a:tr h="539799">
                <a:tc rowSpan="2">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吸気</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決定係数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altLang="ja-JP" sz="2400" b="0" i="0" u="none" strike="noStrike" baseline="0" dirty="0">
                          <a:solidFill>
                            <a:schemeClr val="tx1"/>
                          </a:solidFill>
                          <a:effectLst/>
                          <a:latin typeface="Segoe UI" panose="020B0502040204020203" pitchFamily="34" charset="0"/>
                          <a:ea typeface="Meiryo UI" panose="020B0604030504040204" pitchFamily="50" charset="-128"/>
                        </a:rPr>
                        <a:t>0.786±0.042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ja-JP" sz="2400" b="0" i="0" u="none" strike="noStrike" baseline="0" dirty="0">
                          <a:solidFill>
                            <a:srgbClr val="000000"/>
                          </a:solidFill>
                          <a:effectLst/>
                          <a:latin typeface="Segoe UI" panose="020B0502040204020203" pitchFamily="34" charset="0"/>
                          <a:ea typeface="Meiryo UI" panose="020B0604030504040204" pitchFamily="50" charset="-128"/>
                        </a:rPr>
                        <a:t>0.846±0.024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ja-JP" sz="2400" b="1" i="0" u="none" strike="noStrike" baseline="0" dirty="0">
                          <a:solidFill>
                            <a:srgbClr val="C00000"/>
                          </a:solidFill>
                          <a:effectLst/>
                          <a:latin typeface="Segoe UI" panose="020B0502040204020203" pitchFamily="34" charset="0"/>
                          <a:ea typeface="Meiryo UI" panose="020B0604030504040204" pitchFamily="50" charset="-128"/>
                        </a:rPr>
                        <a:t>0.857±0.023</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92908142"/>
                  </a:ext>
                </a:extLst>
              </a:tr>
              <a:tr h="539799">
                <a:tc vMerge="1">
                  <a:txBody>
                    <a:bodyPr/>
                    <a:lstStyle/>
                    <a:p>
                      <a:pPr algn="ctr">
                        <a:lnSpc>
                          <a:spcPct val="120000"/>
                        </a:lnSpc>
                      </a:pPr>
                      <a:endParaRPr kumimoji="1" lang="ja-JP" altLang="en-US" sz="22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RMSE [%]</a:t>
                      </a:r>
                      <a:endParaRPr kumimoji="1" lang="ja-JP" altLang="en-US"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2400" b="0" i="0" u="none" strike="noStrike" baseline="0" dirty="0">
                          <a:solidFill>
                            <a:schemeClr val="tx1"/>
                          </a:solidFill>
                          <a:effectLst/>
                          <a:latin typeface="Segoe UI" panose="020B0502040204020203" pitchFamily="34" charset="0"/>
                          <a:ea typeface="Meiryo UI" panose="020B0604030504040204" pitchFamily="50" charset="-128"/>
                        </a:rPr>
                        <a:t>12.6±1.3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2400" b="0" i="0" u="none" strike="noStrike" baseline="0" dirty="0">
                          <a:solidFill>
                            <a:srgbClr val="000000"/>
                          </a:solidFill>
                          <a:effectLst/>
                          <a:latin typeface="Segoe UI" panose="020B0502040204020203" pitchFamily="34" charset="0"/>
                          <a:ea typeface="Meiryo UI" panose="020B0604030504040204" pitchFamily="50" charset="-128"/>
                        </a:rPr>
                        <a:t>10.8±0.9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2400" b="1" i="0" u="none" strike="noStrike" baseline="0" dirty="0">
                          <a:solidFill>
                            <a:srgbClr val="C00000"/>
                          </a:solidFill>
                          <a:effectLst/>
                          <a:latin typeface="Segoe UI" panose="020B0502040204020203" pitchFamily="34" charset="0"/>
                          <a:ea typeface="Meiryo UI" panose="020B0604030504040204" pitchFamily="50" charset="-128"/>
                        </a:rPr>
                        <a:t>10.3±0.8</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8071606"/>
                  </a:ext>
                </a:extLst>
              </a:tr>
              <a:tr h="539799">
                <a:tc rowSpan="2">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呼気</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決定係数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buNone/>
                      </a:pPr>
                      <a:r>
                        <a:rPr lang="en-US" altLang="ja-JP" sz="2400" b="0" i="0" u="none" strike="noStrike" baseline="0" dirty="0">
                          <a:solidFill>
                            <a:schemeClr val="tx1"/>
                          </a:solidFill>
                          <a:effectLst/>
                          <a:latin typeface="Segoe UI" panose="020B0502040204020203" pitchFamily="34" charset="0"/>
                          <a:ea typeface="Meiryo UI" panose="020B0604030504040204" pitchFamily="50" charset="-128"/>
                        </a:rPr>
                        <a:t>0.764±0.032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ja-JP" sz="2400" b="0" i="0" u="none" strike="noStrike" baseline="0" dirty="0">
                          <a:solidFill>
                            <a:srgbClr val="000000"/>
                          </a:solidFill>
                          <a:effectLst/>
                          <a:latin typeface="Segoe UI" panose="020B0502040204020203" pitchFamily="34" charset="0"/>
                          <a:ea typeface="Meiryo UI" panose="020B0604030504040204" pitchFamily="50" charset="-128"/>
                        </a:rPr>
                        <a:t>0.836±0.031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ja-JP" sz="2400" b="1" i="0" u="none" strike="noStrike" baseline="0" dirty="0">
                          <a:solidFill>
                            <a:srgbClr val="C00000"/>
                          </a:solidFill>
                          <a:effectLst/>
                          <a:latin typeface="Segoe UI" panose="020B0502040204020203" pitchFamily="34" charset="0"/>
                          <a:ea typeface="Meiryo UI" panose="020B0604030504040204" pitchFamily="50" charset="-128"/>
                        </a:rPr>
                        <a:t>0.860±0.031</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20794259"/>
                  </a:ext>
                </a:extLst>
              </a:tr>
              <a:tr h="539799">
                <a:tc vMerge="1">
                  <a:txBody>
                    <a:bodyPr/>
                    <a:lstStyle/>
                    <a:p>
                      <a:pPr algn="ctr">
                        <a:lnSpc>
                          <a:spcPct val="120000"/>
                        </a:lnSpc>
                      </a:pPr>
                      <a:endParaRPr kumimoji="1" lang="ja-JP" altLang="en-US" sz="22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RMSE [%]</a:t>
                      </a:r>
                      <a:endParaRPr kumimoji="1" lang="ja-JP" altLang="en-US"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2400" b="0" i="0" u="none" strike="noStrike" baseline="0" dirty="0">
                          <a:solidFill>
                            <a:schemeClr val="tx1"/>
                          </a:solidFill>
                          <a:effectLst/>
                          <a:latin typeface="Segoe UI" panose="020B0502040204020203" pitchFamily="34" charset="0"/>
                          <a:ea typeface="Meiryo UI" panose="020B0604030504040204" pitchFamily="50" charset="-128"/>
                        </a:rPr>
                        <a:t>13.3±0.9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ja-JP" sz="2400" b="0" i="0" u="none" strike="noStrike" baseline="0" dirty="0">
                          <a:solidFill>
                            <a:srgbClr val="000000"/>
                          </a:solidFill>
                          <a:effectLst/>
                          <a:latin typeface="Segoe UI" panose="020B0502040204020203" pitchFamily="34" charset="0"/>
                          <a:ea typeface="Meiryo UI" panose="020B0604030504040204" pitchFamily="50" charset="-128"/>
                        </a:rPr>
                        <a:t>11.1±1.1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2400" b="1" i="0" u="none" strike="noStrike" baseline="0" dirty="0">
                          <a:solidFill>
                            <a:srgbClr val="C00000"/>
                          </a:solidFill>
                          <a:effectLst/>
                          <a:latin typeface="Segoe UI" panose="020B0502040204020203" pitchFamily="34" charset="0"/>
                          <a:ea typeface="Meiryo UI" panose="020B0604030504040204" pitchFamily="50" charset="-128"/>
                        </a:rPr>
                        <a:t>10.2±1.1</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8363083"/>
                  </a:ext>
                </a:extLst>
              </a:tr>
              <a:tr h="921887">
                <a:tc gridSpan="2">
                  <a:txBody>
                    <a:bodyPr/>
                    <a:lstStyle/>
                    <a:p>
                      <a:pPr algn="ctr">
                        <a:lnSpc>
                          <a:spcPct val="120000"/>
                        </a:lnSpc>
                      </a:pP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平均推論速度</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a:t>
                      </a:r>
                      <a:br>
                        <a:rPr kumimoji="1" lang="en-US" altLang="ja-JP" sz="2400" b="0" baseline="0" dirty="0">
                          <a:solidFill>
                            <a:sysClr val="windowText" lastClr="000000"/>
                          </a:solidFill>
                          <a:latin typeface="Segoe UI" panose="020B0502040204020203" pitchFamily="34" charset="0"/>
                          <a:ea typeface="Meiryo UI" panose="020B0604030504040204" pitchFamily="50" charset="-128"/>
                        </a:rPr>
                      </a:b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秒</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a:t>
                      </a:r>
                      <a:r>
                        <a:rPr kumimoji="1" lang="ja-JP" altLang="en-US" sz="2400" b="0" baseline="0" dirty="0">
                          <a:solidFill>
                            <a:sysClr val="windowText" lastClr="000000"/>
                          </a:solidFill>
                          <a:latin typeface="Segoe UI" panose="020B0502040204020203" pitchFamily="34" charset="0"/>
                          <a:ea typeface="Meiryo UI" panose="020B0604030504040204" pitchFamily="50" charset="-128"/>
                        </a:rPr>
                        <a:t>サンプル</a:t>
                      </a:r>
                      <a:r>
                        <a:rPr kumimoji="1" lang="en-US" altLang="ja-JP" sz="2400" b="0" baseline="0" dirty="0">
                          <a:solidFill>
                            <a:sysClr val="windowText" lastClr="000000"/>
                          </a:solidFill>
                          <a:latin typeface="Segoe UI" panose="020B0502040204020203" pitchFamily="34" charset="0"/>
                          <a:ea typeface="Meiryo UI" panose="020B0604030504040204" pitchFamily="50" charset="-128"/>
                        </a:rPr>
                        <a:t>]</a:t>
                      </a:r>
                      <a:endParaRPr kumimoji="1" lang="ja-JP" altLang="en-US" sz="24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algn="ctr">
                        <a:lnSpc>
                          <a:spcPct val="120000"/>
                        </a:lnSpc>
                      </a:pPr>
                      <a:endParaRPr kumimoji="1" lang="ja-JP" altLang="en-US" sz="2200" b="0" baseline="0" dirty="0">
                        <a:solidFill>
                          <a:sysClr val="windowText" lastClr="0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lnSpc>
                          <a:spcPct val="120000"/>
                        </a:lnSpc>
                      </a:pPr>
                      <a:r>
                        <a:rPr kumimoji="1" lang="en-US" altLang="ja-JP" sz="2400" b="1" baseline="0" dirty="0">
                          <a:solidFill>
                            <a:srgbClr val="C00000"/>
                          </a:solidFill>
                          <a:latin typeface="Segoe UI" panose="020B0502040204020203" pitchFamily="34" charset="0"/>
                          <a:ea typeface="Meiryo UI" panose="020B0604030504040204" pitchFamily="50" charset="-128"/>
                        </a:rPr>
                        <a:t>1.8×10</a:t>
                      </a:r>
                      <a:r>
                        <a:rPr kumimoji="1" lang="en-US" altLang="ja-JP" sz="2400" b="1" baseline="30000" dirty="0">
                          <a:solidFill>
                            <a:srgbClr val="C00000"/>
                          </a:solidFill>
                          <a:latin typeface="Segoe UI" panose="020B0502040204020203" pitchFamily="34" charset="0"/>
                          <a:ea typeface="Meiryo UI" panose="020B0604030504040204" pitchFamily="50" charset="-128"/>
                        </a:rPr>
                        <a:t>-6</a:t>
                      </a:r>
                      <a:endParaRPr kumimoji="1" lang="en-US" altLang="ja-JP" sz="2400" b="1" baseline="0" dirty="0">
                        <a:solidFill>
                          <a:srgbClr val="C00000"/>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1" lang="en-US" altLang="ja-JP" sz="2400" b="0" baseline="0" dirty="0">
                          <a:solidFill>
                            <a:schemeClr val="tx1"/>
                          </a:solidFill>
                          <a:latin typeface="Segoe UI" panose="020B0502040204020203" pitchFamily="34" charset="0"/>
                          <a:ea typeface="Meiryo UI" panose="020B0604030504040204" pitchFamily="50" charset="-128"/>
                        </a:rPr>
                        <a:t>6.8×10</a:t>
                      </a:r>
                      <a:r>
                        <a:rPr kumimoji="1" lang="en-US" altLang="ja-JP" sz="2400" b="0" baseline="30000" dirty="0">
                          <a:solidFill>
                            <a:schemeClr val="tx1"/>
                          </a:solidFill>
                          <a:latin typeface="Segoe UI" panose="020B0502040204020203" pitchFamily="34" charset="0"/>
                          <a:ea typeface="Meiryo UI" panose="020B0604030504040204" pitchFamily="50" charset="-128"/>
                        </a:rPr>
                        <a:t>-4</a:t>
                      </a:r>
                      <a:endParaRPr kumimoji="1" lang="en-US" altLang="ja-JP" sz="2400" b="0" baseline="0" dirty="0">
                        <a:solidFill>
                          <a:schemeClr val="tx1"/>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20000"/>
                        </a:lnSpc>
                      </a:pPr>
                      <a:r>
                        <a:rPr kumimoji="1" lang="en-US" altLang="ja-JP" sz="2400" b="0" baseline="0" dirty="0">
                          <a:solidFill>
                            <a:schemeClr val="tx1"/>
                          </a:solidFill>
                          <a:latin typeface="Segoe UI" panose="020B0502040204020203" pitchFamily="34" charset="0"/>
                          <a:ea typeface="Meiryo UI" panose="020B0604030504040204" pitchFamily="50" charset="-128"/>
                        </a:rPr>
                        <a:t>2.2×10</a:t>
                      </a:r>
                      <a:r>
                        <a:rPr kumimoji="1" lang="en-US" altLang="ja-JP" sz="2400" b="0" baseline="30000" dirty="0">
                          <a:solidFill>
                            <a:schemeClr val="tx1"/>
                          </a:solidFill>
                          <a:latin typeface="Segoe UI" panose="020B0502040204020203" pitchFamily="34" charset="0"/>
                          <a:ea typeface="Meiryo UI" panose="020B0604030504040204" pitchFamily="50" charset="-128"/>
                        </a:rPr>
                        <a:t>-4</a:t>
                      </a:r>
                      <a:endParaRPr kumimoji="1" lang="en-US" altLang="ja-JP" sz="2400" b="0" baseline="0" dirty="0">
                        <a:solidFill>
                          <a:schemeClr val="tx1"/>
                        </a:solidFill>
                        <a:latin typeface="Segoe UI" panose="020B0502040204020203" pitchFamily="34" charset="0"/>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80261958"/>
                  </a:ext>
                </a:extLst>
              </a:tr>
            </a:tbl>
          </a:graphicData>
        </a:graphic>
      </p:graphicFrame>
      <p:sp>
        <p:nvSpPr>
          <p:cNvPr id="22" name="テキスト ボックス 21">
            <a:extLst>
              <a:ext uri="{FF2B5EF4-FFF2-40B4-BE49-F238E27FC236}">
                <a16:creationId xmlns:a16="http://schemas.microsoft.com/office/drawing/2014/main" id="{E0C61C98-CBDF-1DE5-4658-BC6D1B7DF965}"/>
              </a:ext>
            </a:extLst>
          </p:cNvPr>
          <p:cNvSpPr txBox="1"/>
          <p:nvPr/>
        </p:nvSpPr>
        <p:spPr>
          <a:xfrm>
            <a:off x="1297190" y="6204920"/>
            <a:ext cx="9597627" cy="492827"/>
          </a:xfrm>
          <a:prstGeom prst="rect">
            <a:avLst/>
          </a:prstGeom>
          <a:noFill/>
        </p:spPr>
        <p:txBody>
          <a:bodyPr wrap="none">
            <a:spAutoFit/>
          </a:bodyPr>
          <a:lstStyle/>
          <a:p>
            <a:pPr lvl="0" algn="ctr">
              <a:lnSpc>
                <a:spcPct val="120000"/>
              </a:lnSpc>
              <a:spcAft>
                <a:spcPts val="1200"/>
              </a:spcAft>
              <a:defRPr/>
            </a:pPr>
            <a:r>
              <a:rPr lang="ja-JP" altLang="en-US" sz="2400" b="1" dirty="0">
                <a:latin typeface="Segoe UI" panose="020B0502040204020203" pitchFamily="34" charset="0"/>
                <a:ea typeface="Meiryo UI" panose="020B0604030504040204" pitchFamily="50" charset="-128"/>
              </a:rPr>
              <a:t>精度および推論速度から，</a:t>
            </a:r>
            <a:r>
              <a:rPr lang="en-US" altLang="ja-JP" sz="2400" b="1" dirty="0" err="1">
                <a:latin typeface="Segoe UI" panose="020B0502040204020203" pitchFamily="34" charset="0"/>
                <a:ea typeface="Meiryo UI" panose="020B0604030504040204" pitchFamily="50" charset="-128"/>
              </a:rPr>
              <a:t>XGBoost</a:t>
            </a:r>
            <a:r>
              <a:rPr lang="ja-JP" altLang="en-US" sz="2400" b="1" dirty="0">
                <a:latin typeface="Segoe UI" panose="020B0502040204020203" pitchFamily="34" charset="0"/>
                <a:ea typeface="Meiryo UI" panose="020B0604030504040204" pitchFamily="50" charset="-128"/>
              </a:rPr>
              <a:t>を用いた推定が最良であることを示唆</a:t>
            </a:r>
          </a:p>
        </p:txBody>
      </p:sp>
      <p:sp>
        <p:nvSpPr>
          <p:cNvPr id="6" name="テキスト ボックス 5">
            <a:extLst>
              <a:ext uri="{FF2B5EF4-FFF2-40B4-BE49-F238E27FC236}">
                <a16:creationId xmlns:a16="http://schemas.microsoft.com/office/drawing/2014/main" id="{1DC13E41-EAED-6ADC-E8AA-60FB44969840}"/>
              </a:ext>
            </a:extLst>
          </p:cNvPr>
          <p:cNvSpPr txBox="1"/>
          <p:nvPr/>
        </p:nvSpPr>
        <p:spPr>
          <a:xfrm>
            <a:off x="3199213" y="5241523"/>
            <a:ext cx="5793574" cy="936218"/>
          </a:xfrm>
          <a:prstGeom prst="rect">
            <a:avLst/>
          </a:prstGeom>
          <a:noFill/>
        </p:spPr>
        <p:txBody>
          <a:bodyPr wrap="none">
            <a:spAutoFit/>
          </a:bodyPr>
          <a:lstStyle/>
          <a:p>
            <a:pPr lvl="0">
              <a:lnSpc>
                <a:spcPct val="120000"/>
              </a:lnSpc>
              <a:spcAft>
                <a:spcPts val="1200"/>
              </a:spcAft>
              <a:defRPr/>
            </a:pPr>
            <a:r>
              <a:rPr lang="en-US" altLang="ja-JP" sz="2400" dirty="0" err="1">
                <a:latin typeface="Segoe UI" panose="020B0502040204020203" pitchFamily="34" charset="0"/>
                <a:ea typeface="Meiryo UI" panose="020B0604030504040204" pitchFamily="50" charset="-128"/>
              </a:rPr>
              <a:t>XGBoost</a:t>
            </a:r>
            <a:r>
              <a:rPr lang="ja-JP" altLang="en-US" sz="2400" dirty="0">
                <a:latin typeface="Segoe UI" panose="020B0502040204020203" pitchFamily="34" charset="0"/>
                <a:ea typeface="Meiryo UI" panose="020B0604030504040204" pitchFamily="50" charset="-128"/>
              </a:rPr>
              <a:t>を用いた推定で最良の精度を確認</a:t>
            </a:r>
            <a:br>
              <a:rPr lang="en-US" altLang="ja-JP" sz="2400" dirty="0">
                <a:latin typeface="Segoe UI" panose="020B0502040204020203" pitchFamily="34" charset="0"/>
                <a:ea typeface="Meiryo UI" panose="020B0604030504040204" pitchFamily="50" charset="-128"/>
              </a:rPr>
            </a:br>
            <a:r>
              <a:rPr lang="ja-JP" altLang="en-US" sz="2400" dirty="0">
                <a:latin typeface="Segoe UI" panose="020B0502040204020203" pitchFamily="34" charset="0"/>
                <a:ea typeface="Meiryo UI" panose="020B0604030504040204" pitchFamily="50" charset="-128"/>
              </a:rPr>
              <a:t>⇒ 区間分割により非連続な関係を捉えやすい</a:t>
            </a:r>
          </a:p>
        </p:txBody>
      </p:sp>
      <p:sp>
        <p:nvSpPr>
          <p:cNvPr id="39" name="テキスト ボックス 38">
            <a:extLst>
              <a:ext uri="{FF2B5EF4-FFF2-40B4-BE49-F238E27FC236}">
                <a16:creationId xmlns:a16="http://schemas.microsoft.com/office/drawing/2014/main" id="{1D951A21-0E97-44D1-823D-F29543778E74}"/>
              </a:ext>
            </a:extLst>
          </p:cNvPr>
          <p:cNvSpPr txBox="1"/>
          <p:nvPr/>
        </p:nvSpPr>
        <p:spPr>
          <a:xfrm>
            <a:off x="6885999" y="419227"/>
            <a:ext cx="4053225" cy="359329"/>
          </a:xfrm>
          <a:prstGeom prst="rect">
            <a:avLst/>
          </a:prstGeom>
          <a:noFill/>
        </p:spPr>
        <p:txBody>
          <a:bodyPr wrap="none" rtlCol="0">
            <a:spAutoFit/>
          </a:bodyPr>
          <a:lstStyle/>
          <a:p>
            <a:pPr lvl="0">
              <a:lnSpc>
                <a:spcPct val="120000"/>
              </a:lnSpc>
              <a:spcAft>
                <a:spcPts val="1200"/>
              </a:spcAft>
              <a:defRPr/>
            </a:pPr>
            <a:r>
              <a:rPr lang="en-US" altLang="ja-JP" sz="1600" dirty="0">
                <a:latin typeface="Segoe UI" panose="020B0502040204020203" pitchFamily="34" charset="0"/>
                <a:ea typeface="Meiryo UI" panose="020B0604030504040204" pitchFamily="50" charset="-128"/>
              </a:rPr>
              <a:t>* CPU</a:t>
            </a:r>
            <a:r>
              <a:rPr lang="ja-JP" altLang="en-US" sz="1600" dirty="0">
                <a:latin typeface="Segoe UI" panose="020B0502040204020203" pitchFamily="34" charset="0"/>
                <a:ea typeface="Meiryo UI" panose="020B0604030504040204" pitchFamily="50" charset="-128"/>
              </a:rPr>
              <a:t>：</a:t>
            </a:r>
            <a:r>
              <a:rPr lang="en-US" altLang="ja-JP" sz="1600" dirty="0">
                <a:latin typeface="Segoe UI" panose="020B0502040204020203" pitchFamily="34" charset="0"/>
                <a:ea typeface="Meiryo UI" panose="020B0604030504040204" pitchFamily="50" charset="-128"/>
              </a:rPr>
              <a:t>Ryzen </a:t>
            </a:r>
            <a:r>
              <a:rPr lang="en-US" altLang="ja-JP" sz="1600" dirty="0" err="1">
                <a:latin typeface="Segoe UI" panose="020B0502040204020203" pitchFamily="34" charset="0"/>
                <a:ea typeface="Meiryo UI" panose="020B0604030504040204" pitchFamily="50" charset="-128"/>
              </a:rPr>
              <a:t>Threadripper</a:t>
            </a:r>
            <a:r>
              <a:rPr lang="en-US" altLang="ja-JP" sz="1600" dirty="0">
                <a:latin typeface="Segoe UI" panose="020B0502040204020203" pitchFamily="34" charset="0"/>
                <a:ea typeface="Meiryo UI" panose="020B0604030504040204" pitchFamily="50" charset="-128"/>
              </a:rPr>
              <a:t> 3960X</a:t>
            </a:r>
            <a:r>
              <a:rPr lang="ja-JP" altLang="en-US" sz="1600" dirty="0">
                <a:latin typeface="Segoe UI" panose="020B0502040204020203" pitchFamily="34" charset="0"/>
                <a:ea typeface="Meiryo UI" panose="020B0604030504040204" pitchFamily="50" charset="-128"/>
              </a:rPr>
              <a:t>（</a:t>
            </a:r>
            <a:r>
              <a:rPr lang="en-US" altLang="ja-JP" sz="1600" dirty="0">
                <a:latin typeface="Segoe UI" panose="020B0502040204020203" pitchFamily="34" charset="0"/>
                <a:ea typeface="Meiryo UI" panose="020B0604030504040204" pitchFamily="50" charset="-128"/>
              </a:rPr>
              <a:t>24C</a:t>
            </a:r>
            <a:r>
              <a:rPr lang="ja-JP" altLang="en-US" sz="1600" dirty="0">
                <a:latin typeface="Segoe UI" panose="020B0502040204020203" pitchFamily="34" charset="0"/>
                <a:ea typeface="Meiryo UI" panose="020B0604030504040204" pitchFamily="50" charset="-128"/>
              </a:rPr>
              <a:t>）</a:t>
            </a:r>
          </a:p>
        </p:txBody>
      </p:sp>
      <p:sp>
        <p:nvSpPr>
          <p:cNvPr id="8" name="テキスト ボックス 7">
            <a:extLst>
              <a:ext uri="{FF2B5EF4-FFF2-40B4-BE49-F238E27FC236}">
                <a16:creationId xmlns:a16="http://schemas.microsoft.com/office/drawing/2014/main" id="{EBC26F35-67C4-9AC2-2FB4-E741F5581A5D}"/>
              </a:ext>
            </a:extLst>
          </p:cNvPr>
          <p:cNvSpPr txBox="1"/>
          <p:nvPr/>
        </p:nvSpPr>
        <p:spPr>
          <a:xfrm>
            <a:off x="3246085" y="928972"/>
            <a:ext cx="5699829" cy="400110"/>
          </a:xfrm>
          <a:prstGeom prst="rect">
            <a:avLst/>
          </a:prstGeom>
          <a:noFill/>
        </p:spPr>
        <p:txBody>
          <a:bodyPr wrap="none" rtlCol="0">
            <a:spAutoFit/>
          </a:bodyPr>
          <a:lstStyle/>
          <a:p>
            <a:pPr algn="ctr"/>
            <a:r>
              <a:rPr kumimoji="1" lang="en-US" altLang="ja-JP" sz="2000" dirty="0">
                <a:latin typeface="Segoe UI" panose="020B0502040204020203" pitchFamily="34" charset="0"/>
                <a:ea typeface="Meiryo UI" panose="020B0604030504040204" pitchFamily="50" charset="-128"/>
              </a:rPr>
              <a:t>LOPO</a:t>
            </a:r>
            <a:r>
              <a:rPr kumimoji="1" lang="ja-JP" altLang="en-US" sz="2000" dirty="0">
                <a:latin typeface="Segoe UI" panose="020B0502040204020203" pitchFamily="34" charset="0"/>
                <a:ea typeface="Meiryo UI" panose="020B0604030504040204" pitchFamily="50" charset="-128"/>
              </a:rPr>
              <a:t>交差検証における結果</a:t>
            </a:r>
            <a:r>
              <a:rPr lang="ja-JP" altLang="en-US" sz="2000" dirty="0">
                <a:latin typeface="Segoe UI" panose="020B0502040204020203" pitchFamily="34" charset="0"/>
                <a:ea typeface="Meiryo UI" panose="020B0604030504040204" pitchFamily="50" charset="-128"/>
              </a:rPr>
              <a:t>（平均値</a:t>
            </a:r>
            <a:r>
              <a:rPr lang="en-US" altLang="ja-JP" sz="2000" dirty="0">
                <a:latin typeface="Segoe UI" panose="020B0502040204020203" pitchFamily="34" charset="0"/>
                <a:ea typeface="Meiryo UI" panose="020B0604030504040204" pitchFamily="50" charset="-128"/>
              </a:rPr>
              <a:t>±</a:t>
            </a:r>
            <a:r>
              <a:rPr lang="ja-JP" altLang="en-US" sz="2000" dirty="0">
                <a:latin typeface="Segoe UI" panose="020B0502040204020203" pitchFamily="34" charset="0"/>
                <a:ea typeface="Meiryo UI" panose="020B0604030504040204" pitchFamily="50" charset="-128"/>
              </a:rPr>
              <a:t>標準偏差）</a:t>
            </a:r>
            <a:endParaRPr lang="en-US" altLang="ja-JP" sz="2000" dirty="0">
              <a:latin typeface="Segoe UI" panose="020B0502040204020203" pitchFamily="34" charset="0"/>
              <a:ea typeface="Meiryo UI" panose="020B0604030504040204" pitchFamily="50" charset="-128"/>
            </a:endParaRPr>
          </a:p>
        </p:txBody>
      </p:sp>
    </p:spTree>
    <p:extLst>
      <p:ext uri="{BB962C8B-B14F-4D97-AF65-F5344CB8AC3E}">
        <p14:creationId xmlns:p14="http://schemas.microsoft.com/office/powerpoint/2010/main" val="1776961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301C4745-4F1F-3D7D-8E3C-975238D0AB44}"/>
              </a:ext>
            </a:extLst>
          </p:cNvPr>
          <p:cNvGrpSpPr/>
          <p:nvPr/>
        </p:nvGrpSpPr>
        <p:grpSpPr>
          <a:xfrm>
            <a:off x="1150692" y="894277"/>
            <a:ext cx="9890616" cy="533425"/>
            <a:chOff x="1004935" y="6039541"/>
            <a:chExt cx="9890616" cy="533425"/>
          </a:xfrm>
        </p:grpSpPr>
        <p:sp>
          <p:nvSpPr>
            <p:cNvPr id="5" name="テキスト ボックス 4">
              <a:extLst>
                <a:ext uri="{FF2B5EF4-FFF2-40B4-BE49-F238E27FC236}">
                  <a16:creationId xmlns:a16="http://schemas.microsoft.com/office/drawing/2014/main" id="{C45B1953-F282-743E-147C-0A808B3BBE6A}"/>
                </a:ext>
              </a:extLst>
            </p:cNvPr>
            <p:cNvSpPr txBox="1"/>
            <p:nvPr/>
          </p:nvSpPr>
          <p:spPr>
            <a:xfrm>
              <a:off x="2862378" y="6059840"/>
              <a:ext cx="7713970" cy="492827"/>
            </a:xfrm>
            <a:prstGeom prst="rect">
              <a:avLst/>
            </a:prstGeom>
            <a:noFill/>
            <a:ln>
              <a:noFill/>
            </a:ln>
          </p:spPr>
          <p:txBody>
            <a:bodyPr wrap="none" rtlCol="0" anchor="ctr">
              <a:spAutoFit/>
            </a:bodyPr>
            <a:lstStyle/>
            <a:p>
              <a:pPr algn="ctr">
                <a:lnSpc>
                  <a:spcPct val="120000"/>
                </a:lnSpc>
                <a:spcBef>
                  <a:spcPts val="1200"/>
                </a:spcBef>
                <a:buSzPts val="1800"/>
              </a:pPr>
              <a:r>
                <a:rPr lang="ja-JP" altLang="en-US" sz="2400" b="1" dirty="0">
                  <a:solidFill>
                    <a:srgbClr val="000000"/>
                  </a:solidFill>
                  <a:latin typeface="Segoe UI" panose="020B0502040204020203" pitchFamily="34" charset="0"/>
                  <a:ea typeface="Meiryo UI" panose="020B0604030504040204" pitchFamily="50" charset="-128"/>
                  <a:cs typeface="Arial" panose="020B0604020202020204" pitchFamily="34" charset="0"/>
                </a:rPr>
                <a:t>模擬患者の自発呼吸に同期した呼吸音再生システムの構築</a:t>
              </a:r>
              <a:endParaRPr kumimoji="1" lang="ja-JP" altLang="en-US" sz="2400" b="1" i="0" strike="noStrike" spc="0" baseline="0" dirty="0">
                <a:ln>
                  <a:noFill/>
                </a:ln>
                <a:solidFill>
                  <a:srgbClr val="000000"/>
                </a:solidFill>
                <a:effectLst/>
                <a:latin typeface="Segoe UI" panose="020B0502040204020203" pitchFamily="34" charset="0"/>
                <a:ea typeface="Meiryo UI" panose="020B0604030504040204" pitchFamily="50" charset="-128"/>
                <a:cs typeface="Arial" panose="020B0604020202020204" pitchFamily="34" charset="0"/>
              </a:endParaRPr>
            </a:p>
          </p:txBody>
        </p:sp>
        <p:sp>
          <p:nvSpPr>
            <p:cNvPr id="7" name="正方形/長方形 6">
              <a:extLst>
                <a:ext uri="{FF2B5EF4-FFF2-40B4-BE49-F238E27FC236}">
                  <a16:creationId xmlns:a16="http://schemas.microsoft.com/office/drawing/2014/main" id="{E1CC09CA-5534-64C9-2242-2F7C4901E1F1}"/>
                </a:ext>
              </a:extLst>
            </p:cNvPr>
            <p:cNvSpPr/>
            <p:nvPr/>
          </p:nvSpPr>
          <p:spPr>
            <a:xfrm>
              <a:off x="1004935" y="6039541"/>
              <a:ext cx="1522365" cy="533425"/>
            </a:xfrm>
            <a:prstGeom prst="rect">
              <a:avLst/>
            </a:prstGeom>
            <a:solidFill>
              <a:srgbClr val="C00000"/>
            </a:solid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bg1"/>
                  </a:solidFill>
                  <a:latin typeface="Segoe UI" panose="020B0502040204020203" pitchFamily="34" charset="0"/>
                  <a:ea typeface="Meiryo UI" panose="020B0604030504040204" pitchFamily="50" charset="-128"/>
                </a:rPr>
                <a:t>研究目的</a:t>
              </a:r>
            </a:p>
          </p:txBody>
        </p:sp>
        <p:sp>
          <p:nvSpPr>
            <p:cNvPr id="8" name="正方形/長方形 7">
              <a:extLst>
                <a:ext uri="{FF2B5EF4-FFF2-40B4-BE49-F238E27FC236}">
                  <a16:creationId xmlns:a16="http://schemas.microsoft.com/office/drawing/2014/main" id="{D8991A28-AA9F-10FB-DE15-577F5E351AE3}"/>
                </a:ext>
              </a:extLst>
            </p:cNvPr>
            <p:cNvSpPr/>
            <p:nvPr/>
          </p:nvSpPr>
          <p:spPr>
            <a:xfrm>
              <a:off x="2543175" y="6039541"/>
              <a:ext cx="8352376" cy="53342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b="1">
                <a:noFill/>
                <a:latin typeface="Segoe UI" panose="020B0502040204020203" pitchFamily="34" charset="0"/>
                <a:ea typeface="Meiryo UI" panose="020B0604030504040204" pitchFamily="50" charset="-128"/>
              </a:endParaRPr>
            </a:p>
          </p:txBody>
        </p:sp>
      </p:grpSp>
      <p:sp>
        <p:nvSpPr>
          <p:cNvPr id="26" name="スライド番号プレースホルダー 25">
            <a:extLst>
              <a:ext uri="{FF2B5EF4-FFF2-40B4-BE49-F238E27FC236}">
                <a16:creationId xmlns:a16="http://schemas.microsoft.com/office/drawing/2014/main" id="{84AA8294-05EC-9A63-9001-8DB2CEEFED44}"/>
              </a:ext>
            </a:extLst>
          </p:cNvPr>
          <p:cNvSpPr>
            <a:spLocks noGrp="1"/>
          </p:cNvSpPr>
          <p:nvPr>
            <p:ph type="sldNum" sz="quarter" idx="12"/>
          </p:nvPr>
        </p:nvSpPr>
        <p:spPr/>
        <p:txBody>
          <a:bodyPr/>
          <a:lstStyle/>
          <a:p>
            <a:fld id="{A9F150B5-AA06-4E70-A665-05DE61C22C04}" type="slidenum">
              <a:rPr lang="ja-JP" altLang="en-US" smtClean="0">
                <a:latin typeface="Segoe UI" panose="020B0502040204020203" pitchFamily="34" charset="0"/>
                <a:ea typeface="Meiryo UI" panose="020B0604030504040204" pitchFamily="50" charset="-128"/>
              </a:rPr>
              <a:pPr/>
              <a:t>14</a:t>
            </a:fld>
            <a:endParaRPr lang="ja-JP" altLang="en-US" dirty="0">
              <a:latin typeface="Segoe UI" panose="020B0502040204020203" pitchFamily="34" charset="0"/>
              <a:ea typeface="Meiryo UI" panose="020B0604030504040204" pitchFamily="50" charset="-128"/>
            </a:endParaRPr>
          </a:p>
        </p:txBody>
      </p:sp>
      <p:sp>
        <p:nvSpPr>
          <p:cNvPr id="3" name="タイトル 2">
            <a:extLst>
              <a:ext uri="{FF2B5EF4-FFF2-40B4-BE49-F238E27FC236}">
                <a16:creationId xmlns:a16="http://schemas.microsoft.com/office/drawing/2014/main" id="{8811BAAC-038B-F542-803F-876F5DA6C266}"/>
              </a:ext>
            </a:extLst>
          </p:cNvPr>
          <p:cNvSpPr>
            <a:spLocks noGrp="1"/>
          </p:cNvSpPr>
          <p:nvPr>
            <p:ph type="title"/>
          </p:nvPr>
        </p:nvSpPr>
        <p:spPr/>
        <p:txBody>
          <a:bodyPr>
            <a:normAutofit/>
          </a:bodyPr>
          <a:lstStyle/>
          <a:p>
            <a:r>
              <a:rPr kumimoji="1" lang="ja-JP" altLang="en-US" dirty="0"/>
              <a:t>まとめと今後の展望</a:t>
            </a:r>
          </a:p>
        </p:txBody>
      </p:sp>
      <p:grpSp>
        <p:nvGrpSpPr>
          <p:cNvPr id="126" name="グループ化 125">
            <a:extLst>
              <a:ext uri="{FF2B5EF4-FFF2-40B4-BE49-F238E27FC236}">
                <a16:creationId xmlns:a16="http://schemas.microsoft.com/office/drawing/2014/main" id="{5F9E16B3-2E39-A211-6D82-7E75A7F5EB4E}"/>
              </a:ext>
            </a:extLst>
          </p:cNvPr>
          <p:cNvGrpSpPr/>
          <p:nvPr/>
        </p:nvGrpSpPr>
        <p:grpSpPr>
          <a:xfrm>
            <a:off x="1769678" y="5607833"/>
            <a:ext cx="8652645" cy="1089914"/>
            <a:chOff x="1815230" y="5823841"/>
            <a:chExt cx="8652645" cy="1089914"/>
          </a:xfrm>
        </p:grpSpPr>
        <p:sp>
          <p:nvSpPr>
            <p:cNvPr id="118" name="TextBox 7">
              <a:extLst>
                <a:ext uri="{FF2B5EF4-FFF2-40B4-BE49-F238E27FC236}">
                  <a16:creationId xmlns:a16="http://schemas.microsoft.com/office/drawing/2014/main" id="{7A2567E7-EAB0-3029-00D2-B4A5BAF018F3}"/>
                </a:ext>
              </a:extLst>
            </p:cNvPr>
            <p:cNvSpPr txBox="1"/>
            <p:nvPr/>
          </p:nvSpPr>
          <p:spPr>
            <a:xfrm>
              <a:off x="1815230" y="6102796"/>
              <a:ext cx="1697901" cy="461665"/>
            </a:xfrm>
            <a:prstGeom prst="rect">
              <a:avLst/>
            </a:prstGeom>
            <a:noFill/>
          </p:spPr>
          <p:txBody>
            <a:bodyPr wrap="none" rtlCol="0">
              <a:spAutoFit/>
            </a:bodyPr>
            <a:lstStyle/>
            <a:p>
              <a:r>
                <a:rPr lang="ja-JP" altLang="en-US" sz="2400" b="1" dirty="0">
                  <a:solidFill>
                    <a:sysClr val="windowText" lastClr="000000"/>
                  </a:solidFill>
                  <a:latin typeface="Segoe UI" panose="020B0502040204020203" pitchFamily="34" charset="0"/>
                  <a:ea typeface="Meiryo UI" panose="020B0604030504040204" pitchFamily="50" charset="-128"/>
                </a:rPr>
                <a:t>今後の展望</a:t>
              </a:r>
              <a:endParaRPr lang="en-JP"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119" name="テキスト ボックス 118">
              <a:extLst>
                <a:ext uri="{FF2B5EF4-FFF2-40B4-BE49-F238E27FC236}">
                  <a16:creationId xmlns:a16="http://schemas.microsoft.com/office/drawing/2014/main" id="{1C3227F8-BF62-2934-2FE9-ECABAA20A50D}"/>
                </a:ext>
              </a:extLst>
            </p:cNvPr>
            <p:cNvSpPr txBox="1"/>
            <p:nvPr/>
          </p:nvSpPr>
          <p:spPr>
            <a:xfrm>
              <a:off x="3759115" y="5823841"/>
              <a:ext cx="6708760" cy="1089914"/>
            </a:xfrm>
            <a:prstGeom prst="rect">
              <a:avLst/>
            </a:prstGeom>
            <a:noFill/>
          </p:spPr>
          <p:txBody>
            <a:bodyPr wrap="none">
              <a:spAutoFit/>
            </a:bodyPr>
            <a:lstStyle/>
            <a:p>
              <a:pPr marL="342900" indent="-342900">
                <a:lnSpc>
                  <a:spcPct val="120000"/>
                </a:lnSpc>
                <a:spcAft>
                  <a:spcPts val="1200"/>
                </a:spcAft>
                <a:buFont typeface="Arial" panose="020B0604020202020204" pitchFamily="34" charset="0"/>
                <a:buChar char="•"/>
                <a:defRPr/>
              </a:pPr>
              <a:r>
                <a:rPr lang="ja-JP" altLang="en-US" sz="2400" dirty="0">
                  <a:solidFill>
                    <a:prstClr val="black"/>
                  </a:solidFill>
                  <a:latin typeface="Segoe UI" panose="020B0502040204020203" pitchFamily="34" charset="0"/>
                  <a:ea typeface="Meiryo UI" panose="020B0604030504040204" pitchFamily="50" charset="-128"/>
                </a:rPr>
                <a:t>呼吸音伸縮手法の検討</a:t>
              </a:r>
              <a:endParaRPr lang="en-US" altLang="ja-JP" sz="2400" dirty="0">
                <a:solidFill>
                  <a:prstClr val="black"/>
                </a:solidFill>
                <a:latin typeface="Segoe UI" panose="020B0502040204020203" pitchFamily="34" charset="0"/>
                <a:ea typeface="Meiryo UI" panose="020B0604030504040204" pitchFamily="50" charset="-128"/>
              </a:endParaRPr>
            </a:p>
            <a:p>
              <a:pPr marL="342900" indent="-342900">
                <a:lnSpc>
                  <a:spcPct val="120000"/>
                </a:lnSpc>
                <a:spcAft>
                  <a:spcPts val="1200"/>
                </a:spcAft>
                <a:buFont typeface="Arial" panose="020B0604020202020204" pitchFamily="34" charset="0"/>
                <a:buChar char="•"/>
                <a:defRPr/>
              </a:pPr>
              <a:r>
                <a:rPr lang="en-US" altLang="ja-JP" sz="2400" dirty="0">
                  <a:solidFill>
                    <a:prstClr val="black"/>
                  </a:solidFill>
                  <a:latin typeface="Segoe UI" panose="020B0502040204020203" pitchFamily="34" charset="0"/>
                  <a:ea typeface="Meiryo UI" panose="020B0604030504040204" pitchFamily="50" charset="-128"/>
                </a:rPr>
                <a:t>EARS</a:t>
              </a:r>
              <a:r>
                <a:rPr lang="ja-JP" altLang="en-US" sz="2400" dirty="0">
                  <a:solidFill>
                    <a:prstClr val="black"/>
                  </a:solidFill>
                  <a:latin typeface="Segoe UI" panose="020B0502040204020203" pitchFamily="34" charset="0"/>
                  <a:ea typeface="Meiryo UI" panose="020B0604030504040204" pitchFamily="50" charset="-128"/>
                </a:rPr>
                <a:t>システムへの呼吸音同期再生システムの導入</a:t>
              </a:r>
              <a:endParaRPr lang="en-US" altLang="ja-JP" sz="2400" dirty="0">
                <a:solidFill>
                  <a:prstClr val="black"/>
                </a:solidFill>
                <a:latin typeface="Segoe UI" panose="020B0502040204020203" pitchFamily="34" charset="0"/>
                <a:ea typeface="Meiryo UI" panose="020B0604030504040204" pitchFamily="50" charset="-128"/>
              </a:endParaRPr>
            </a:p>
          </p:txBody>
        </p:sp>
      </p:grpSp>
      <p:grpSp>
        <p:nvGrpSpPr>
          <p:cNvPr id="12" name="グループ化 11">
            <a:extLst>
              <a:ext uri="{FF2B5EF4-FFF2-40B4-BE49-F238E27FC236}">
                <a16:creationId xmlns:a16="http://schemas.microsoft.com/office/drawing/2014/main" id="{7271723C-430D-3F67-8F67-1B7B7B28224E}"/>
              </a:ext>
            </a:extLst>
          </p:cNvPr>
          <p:cNvGrpSpPr/>
          <p:nvPr/>
        </p:nvGrpSpPr>
        <p:grpSpPr>
          <a:xfrm>
            <a:off x="278276" y="1541945"/>
            <a:ext cx="11635449" cy="2939140"/>
            <a:chOff x="278276" y="1599095"/>
            <a:chExt cx="11635449" cy="2939140"/>
          </a:xfrm>
        </p:grpSpPr>
        <p:grpSp>
          <p:nvGrpSpPr>
            <p:cNvPr id="11" name="グループ化 10">
              <a:extLst>
                <a:ext uri="{FF2B5EF4-FFF2-40B4-BE49-F238E27FC236}">
                  <a16:creationId xmlns:a16="http://schemas.microsoft.com/office/drawing/2014/main" id="{4B06A163-3292-46F3-3E82-63D0BF1ABA2F}"/>
                </a:ext>
              </a:extLst>
            </p:cNvPr>
            <p:cNvGrpSpPr/>
            <p:nvPr/>
          </p:nvGrpSpPr>
          <p:grpSpPr>
            <a:xfrm>
              <a:off x="278276" y="1599095"/>
              <a:ext cx="5691849" cy="2939140"/>
              <a:chOff x="278276" y="1599095"/>
              <a:chExt cx="5691849" cy="2939140"/>
            </a:xfrm>
          </p:grpSpPr>
          <p:sp>
            <p:nvSpPr>
              <p:cNvPr id="2" name="フローチャート: 処理 1">
                <a:extLst>
                  <a:ext uri="{FF2B5EF4-FFF2-40B4-BE49-F238E27FC236}">
                    <a16:creationId xmlns:a16="http://schemas.microsoft.com/office/drawing/2014/main" id="{1F1E31C6-5572-D373-109F-6DCE7353D0BA}"/>
                  </a:ext>
                </a:extLst>
              </p:cNvPr>
              <p:cNvSpPr/>
              <p:nvPr/>
            </p:nvSpPr>
            <p:spPr>
              <a:xfrm>
                <a:off x="278276" y="1599095"/>
                <a:ext cx="5691849" cy="2939140"/>
              </a:xfrm>
              <a:prstGeom prst="flowChartProcess">
                <a:avLst/>
              </a:prstGeom>
              <a:solidFill>
                <a:schemeClr val="accent4">
                  <a:lumMod val="20000"/>
                  <a:lumOff val="80000"/>
                </a:schemeClr>
              </a:solidFill>
              <a:ln w="38100">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dirty="0">
                  <a:solidFill>
                    <a:schemeClr val="tx1"/>
                  </a:solidFill>
                  <a:latin typeface="Segoe UI" panose="020B0502040204020203" pitchFamily="34" charset="0"/>
                  <a:ea typeface="Meiryo UI" panose="020B0604030504040204" pitchFamily="50" charset="-128"/>
                </a:endParaRPr>
              </a:p>
            </p:txBody>
          </p:sp>
          <p:sp>
            <p:nvSpPr>
              <p:cNvPr id="25" name="TextBox 7">
                <a:extLst>
                  <a:ext uri="{FF2B5EF4-FFF2-40B4-BE49-F238E27FC236}">
                    <a16:creationId xmlns:a16="http://schemas.microsoft.com/office/drawing/2014/main" id="{ABDF0357-3F25-6C6C-CA25-21759A7979EC}"/>
                  </a:ext>
                </a:extLst>
              </p:cNvPr>
              <p:cNvSpPr txBox="1"/>
              <p:nvPr/>
            </p:nvSpPr>
            <p:spPr>
              <a:xfrm>
                <a:off x="2108537" y="1618869"/>
                <a:ext cx="2031325" cy="461665"/>
              </a:xfrm>
              <a:prstGeom prst="rect">
                <a:avLst/>
              </a:prstGeom>
              <a:noFill/>
            </p:spPr>
            <p:txBody>
              <a:bodyPr wrap="none" rtlCol="0">
                <a:spAutoFit/>
              </a:bodyPr>
              <a:lstStyle/>
              <a:p>
                <a:pPr algn="ctr"/>
                <a:r>
                  <a:rPr lang="ja-JP" altLang="en-US" sz="2400" b="1" dirty="0">
                    <a:solidFill>
                      <a:sysClr val="windowText" lastClr="000000"/>
                    </a:solidFill>
                    <a:latin typeface="Segoe UI" panose="020B0502040204020203" pitchFamily="34" charset="0"/>
                    <a:ea typeface="Meiryo UI" panose="020B0604030504040204" pitchFamily="50" charset="-128"/>
                  </a:rPr>
                  <a:t>呼吸状態判別</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80" name="テキスト ボックス 79">
                <a:extLst>
                  <a:ext uri="{FF2B5EF4-FFF2-40B4-BE49-F238E27FC236}">
                    <a16:creationId xmlns:a16="http://schemas.microsoft.com/office/drawing/2014/main" id="{23E28B0C-D668-2BE2-D3FF-AD3088DCCAC7}"/>
                  </a:ext>
                </a:extLst>
              </p:cNvPr>
              <p:cNvSpPr txBox="1"/>
              <p:nvPr/>
            </p:nvSpPr>
            <p:spPr>
              <a:xfrm>
                <a:off x="659134" y="3574640"/>
                <a:ext cx="4930132" cy="936025"/>
              </a:xfrm>
              <a:prstGeom prst="rect">
                <a:avLst/>
              </a:prstGeom>
              <a:noFill/>
            </p:spPr>
            <p:txBody>
              <a:bodyPr wrap="none" rtlCol="0">
                <a:spAutoFit/>
              </a:bodyPr>
              <a:lstStyle/>
              <a:p>
                <a:pPr algn="ctr">
                  <a:lnSpc>
                    <a:spcPct val="120000"/>
                  </a:lnSpc>
                  <a:spcAft>
                    <a:spcPts val="1200"/>
                  </a:spcAft>
                </a:pPr>
                <a:r>
                  <a:rPr kumimoji="1" lang="en-US" altLang="ja-JP" sz="2400" dirty="0">
                    <a:latin typeface="Segoe UI" panose="020B0502040204020203" pitchFamily="34" charset="0"/>
                    <a:ea typeface="Meiryo UI" panose="020B0604030504040204" pitchFamily="50" charset="-128"/>
                  </a:rPr>
                  <a:t>TCN</a:t>
                </a:r>
                <a:r>
                  <a:rPr kumimoji="1" lang="ja-JP" altLang="en-US" sz="2400" dirty="0">
                    <a:latin typeface="Segoe UI" panose="020B0502040204020203" pitchFamily="34" charset="0"/>
                    <a:ea typeface="Meiryo UI" panose="020B0604030504040204" pitchFamily="50" charset="-128"/>
                  </a:rPr>
                  <a:t>を用いた呼吸状態判別において，</a:t>
                </a:r>
                <a:br>
                  <a:rPr kumimoji="1" lang="en-US" altLang="ja-JP" sz="2400" dirty="0">
                    <a:latin typeface="Segoe UI" panose="020B0502040204020203" pitchFamily="34" charset="0"/>
                    <a:ea typeface="Meiryo UI" panose="020B0604030504040204" pitchFamily="50" charset="-128"/>
                  </a:rPr>
                </a:br>
                <a:r>
                  <a:rPr kumimoji="1" lang="ja-JP" altLang="en-US" sz="2400" dirty="0">
                    <a:latin typeface="Segoe UI" panose="020B0502040204020203" pitchFamily="34" charset="0"/>
                    <a:ea typeface="Meiryo UI" panose="020B0604030504040204" pitchFamily="50" charset="-128"/>
                  </a:rPr>
                  <a:t>正解率</a:t>
                </a:r>
                <a:r>
                  <a:rPr kumimoji="1" lang="en-US" altLang="ja-JP" sz="2400" dirty="0">
                    <a:latin typeface="Segoe UI" panose="020B0502040204020203" pitchFamily="34" charset="0"/>
                    <a:ea typeface="Meiryo UI" panose="020B0604030504040204" pitchFamily="50" charset="-128"/>
                  </a:rPr>
                  <a:t>91%</a:t>
                </a:r>
                <a:r>
                  <a:rPr kumimoji="1" lang="ja-JP" altLang="en-US" sz="2400" dirty="0">
                    <a:latin typeface="Segoe UI" panose="020B0502040204020203" pitchFamily="34" charset="0"/>
                    <a:ea typeface="Meiryo UI" panose="020B0604030504040204" pitchFamily="50" charset="-128"/>
                  </a:rPr>
                  <a:t>を達成</a:t>
                </a:r>
                <a:endParaRPr kumimoji="1" lang="en-US" altLang="ja-JP" sz="2400" dirty="0">
                  <a:latin typeface="Segoe UI" panose="020B0502040204020203" pitchFamily="34" charset="0"/>
                  <a:ea typeface="Meiryo UI" panose="020B0604030504040204" pitchFamily="50" charset="-128"/>
                </a:endParaRPr>
              </a:p>
            </p:txBody>
          </p:sp>
          <p:sp>
            <p:nvSpPr>
              <p:cNvPr id="43" name="テキスト ボックス 42">
                <a:extLst>
                  <a:ext uri="{FF2B5EF4-FFF2-40B4-BE49-F238E27FC236}">
                    <a16:creationId xmlns:a16="http://schemas.microsoft.com/office/drawing/2014/main" id="{B6E1D23F-2C64-081D-E52C-DBD126B23EF9}"/>
                  </a:ext>
                </a:extLst>
              </p:cNvPr>
              <p:cNvSpPr txBox="1"/>
              <p:nvPr/>
            </p:nvSpPr>
            <p:spPr>
              <a:xfrm>
                <a:off x="909209" y="2900466"/>
                <a:ext cx="1210588" cy="707886"/>
              </a:xfrm>
              <a:prstGeom prst="rect">
                <a:avLst/>
              </a:prstGeom>
              <a:noFill/>
            </p:spPr>
            <p:txBody>
              <a:bodyPr wrap="none" rtlCol="0" anchor="ctr">
                <a:spAutoFit/>
              </a:bodyPr>
              <a:lstStyle/>
              <a:p>
                <a:pPr algn="ctr"/>
                <a:r>
                  <a:rPr kumimoji="1" lang="ja-JP" altLang="en-US" sz="2000" dirty="0">
                    <a:latin typeface="Segoe UI" panose="020B0502040204020203" pitchFamily="34" charset="0"/>
                    <a:ea typeface="Meiryo UI" panose="020B0604030504040204" pitchFamily="50" charset="-128"/>
                  </a:rPr>
                  <a:t>呼吸計測</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結果</a:t>
                </a:r>
              </a:p>
            </p:txBody>
          </p:sp>
          <p:grpSp>
            <p:nvGrpSpPr>
              <p:cNvPr id="9" name="グループ化 8">
                <a:extLst>
                  <a:ext uri="{FF2B5EF4-FFF2-40B4-BE49-F238E27FC236}">
                    <a16:creationId xmlns:a16="http://schemas.microsoft.com/office/drawing/2014/main" id="{3EB1F6A1-6BF9-2AE7-E080-3B00C8B0F706}"/>
                  </a:ext>
                </a:extLst>
              </p:cNvPr>
              <p:cNvGrpSpPr/>
              <p:nvPr/>
            </p:nvGrpSpPr>
            <p:grpSpPr>
              <a:xfrm>
                <a:off x="631040" y="2228448"/>
                <a:ext cx="1766926" cy="599402"/>
                <a:chOff x="516755" y="1486678"/>
                <a:chExt cx="1766926" cy="769990"/>
              </a:xfrm>
            </p:grpSpPr>
            <p:sp>
              <p:nvSpPr>
                <p:cNvPr id="45" name="正方形/長方形 44">
                  <a:extLst>
                    <a:ext uri="{FF2B5EF4-FFF2-40B4-BE49-F238E27FC236}">
                      <a16:creationId xmlns:a16="http://schemas.microsoft.com/office/drawing/2014/main" id="{CDBC48E4-9D23-C889-797E-6D0BF1F33E0C}"/>
                    </a:ext>
                  </a:extLst>
                </p:cNvPr>
                <p:cNvSpPr/>
                <p:nvPr/>
              </p:nvSpPr>
              <p:spPr>
                <a:xfrm>
                  <a:off x="937648" y="1486678"/>
                  <a:ext cx="1346033" cy="769990"/>
                </a:xfrm>
                <a:prstGeom prst="rect">
                  <a:avLst/>
                </a:prstGeom>
                <a:solidFill>
                  <a:schemeClr val="bg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46" name="フリーフォーム: 図形 45">
                  <a:extLst>
                    <a:ext uri="{FF2B5EF4-FFF2-40B4-BE49-F238E27FC236}">
                      <a16:creationId xmlns:a16="http://schemas.microsoft.com/office/drawing/2014/main" id="{BD86F619-F405-2C09-16AA-50A7BF30661D}"/>
                    </a:ext>
                  </a:extLst>
                </p:cNvPr>
                <p:cNvSpPr/>
                <p:nvPr/>
              </p:nvSpPr>
              <p:spPr>
                <a:xfrm flipV="1">
                  <a:off x="516755" y="1558710"/>
                  <a:ext cx="1751784" cy="584117"/>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grpSp>
          <p:sp>
            <p:nvSpPr>
              <p:cNvPr id="47" name="正方形/長方形 46">
                <a:extLst>
                  <a:ext uri="{FF2B5EF4-FFF2-40B4-BE49-F238E27FC236}">
                    <a16:creationId xmlns:a16="http://schemas.microsoft.com/office/drawing/2014/main" id="{528FFAAD-4B77-A485-5DAC-D7C4E88B731D}"/>
                  </a:ext>
                </a:extLst>
              </p:cNvPr>
              <p:cNvSpPr/>
              <p:nvPr/>
            </p:nvSpPr>
            <p:spPr>
              <a:xfrm>
                <a:off x="1051933" y="2228448"/>
                <a:ext cx="1346033" cy="599402"/>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49" name="テキスト ボックス 48">
                <a:extLst>
                  <a:ext uri="{FF2B5EF4-FFF2-40B4-BE49-F238E27FC236}">
                    <a16:creationId xmlns:a16="http://schemas.microsoft.com/office/drawing/2014/main" id="{DD1A2049-1611-8619-FA5E-B61051839DAD}"/>
                  </a:ext>
                </a:extLst>
              </p:cNvPr>
              <p:cNvSpPr txBox="1"/>
              <p:nvPr/>
            </p:nvSpPr>
            <p:spPr>
              <a:xfrm>
                <a:off x="3926424" y="2900467"/>
                <a:ext cx="1210588" cy="707886"/>
              </a:xfrm>
              <a:prstGeom prst="rect">
                <a:avLst/>
              </a:prstGeom>
              <a:noFill/>
            </p:spPr>
            <p:txBody>
              <a:bodyPr wrap="none" rtlCol="0" anchor="ctr">
                <a:spAutoFit/>
              </a:bodyPr>
              <a:lstStyle/>
              <a:p>
                <a:pPr algn="ctr"/>
                <a:r>
                  <a:rPr kumimoji="1" lang="ja-JP" altLang="en-US" sz="2000" dirty="0">
                    <a:latin typeface="Segoe UI" panose="020B0502040204020203" pitchFamily="34" charset="0"/>
                    <a:ea typeface="Meiryo UI" panose="020B0604030504040204" pitchFamily="50" charset="-128"/>
                  </a:rPr>
                  <a:t>呼吸状態</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判別結果</a:t>
                </a:r>
              </a:p>
            </p:txBody>
          </p:sp>
          <p:sp>
            <p:nvSpPr>
              <p:cNvPr id="51" name="フリーフォーム: 図形 50">
                <a:extLst>
                  <a:ext uri="{FF2B5EF4-FFF2-40B4-BE49-F238E27FC236}">
                    <a16:creationId xmlns:a16="http://schemas.microsoft.com/office/drawing/2014/main" id="{DC1449C5-9ECF-4F21-5315-EFDD31B7C765}"/>
                  </a:ext>
                </a:extLst>
              </p:cNvPr>
              <p:cNvSpPr/>
              <p:nvPr/>
            </p:nvSpPr>
            <p:spPr>
              <a:xfrm flipV="1">
                <a:off x="3446076" y="2284522"/>
                <a:ext cx="1751784" cy="454708"/>
              </a:xfrm>
              <a:custGeom>
                <a:avLst/>
                <a:gdLst>
                  <a:gd name="csX0" fmla="*/ 0 w 2663825"/>
                  <a:gd name="csY0" fmla="*/ 607027 h 626226"/>
                  <a:gd name="csX1" fmla="*/ 755650 w 2663825"/>
                  <a:gd name="csY1" fmla="*/ 76802 h 626226"/>
                  <a:gd name="csX2" fmla="*/ 1536700 w 2663825"/>
                  <a:gd name="csY2" fmla="*/ 626077 h 626226"/>
                  <a:gd name="csX3" fmla="*/ 2301875 w 2663825"/>
                  <a:gd name="csY3" fmla="*/ 13302 h 626226"/>
                  <a:gd name="csX4" fmla="*/ 2663825 w 2663825"/>
                  <a:gd name="csY4" fmla="*/ 264127 h 626226"/>
                </a:gdLst>
                <a:ahLst/>
                <a:cxnLst>
                  <a:cxn ang="0">
                    <a:pos x="csX0" y="csY0"/>
                  </a:cxn>
                  <a:cxn ang="0">
                    <a:pos x="csX1" y="csY1"/>
                  </a:cxn>
                  <a:cxn ang="0">
                    <a:pos x="csX2" y="csY2"/>
                  </a:cxn>
                  <a:cxn ang="0">
                    <a:pos x="csX3" y="csY3"/>
                  </a:cxn>
                  <a:cxn ang="0">
                    <a:pos x="csX4" y="csY4"/>
                  </a:cxn>
                </a:cxnLst>
                <a:rect l="l" t="t" r="r" b="b"/>
                <a:pathLst>
                  <a:path w="2663825" h="626226">
                    <a:moveTo>
                      <a:pt x="0" y="607027"/>
                    </a:moveTo>
                    <a:cubicBezTo>
                      <a:pt x="249766" y="340327"/>
                      <a:pt x="499533" y="73627"/>
                      <a:pt x="755650" y="76802"/>
                    </a:cubicBezTo>
                    <a:cubicBezTo>
                      <a:pt x="1011767" y="79977"/>
                      <a:pt x="1278996" y="636660"/>
                      <a:pt x="1536700" y="626077"/>
                    </a:cubicBezTo>
                    <a:cubicBezTo>
                      <a:pt x="1794404" y="615494"/>
                      <a:pt x="2114021" y="73627"/>
                      <a:pt x="2301875" y="13302"/>
                    </a:cubicBezTo>
                    <a:cubicBezTo>
                      <a:pt x="2489729" y="-47023"/>
                      <a:pt x="2576777" y="108552"/>
                      <a:pt x="2663825" y="264127"/>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sp>
            <p:nvSpPr>
              <p:cNvPr id="53" name="楕円 52">
                <a:extLst>
                  <a:ext uri="{FF2B5EF4-FFF2-40B4-BE49-F238E27FC236}">
                    <a16:creationId xmlns:a16="http://schemas.microsoft.com/office/drawing/2014/main" id="{A0CA97EE-AEC7-5508-6FE0-1652DB9AF939}"/>
                  </a:ext>
                </a:extLst>
              </p:cNvPr>
              <p:cNvSpPr/>
              <p:nvPr/>
            </p:nvSpPr>
            <p:spPr>
              <a:xfrm>
                <a:off x="5119871" y="2420849"/>
                <a:ext cx="216000" cy="216000"/>
              </a:xfrm>
              <a:prstGeom prst="ellipse">
                <a:avLst/>
              </a:prstGeom>
              <a:solidFill>
                <a:srgbClr val="F2BD6D"/>
              </a:solidFill>
              <a:ln w="38100">
                <a:noFill/>
              </a:ln>
              <a:effectLst>
                <a:glow rad="63500">
                  <a:schemeClr val="tx1"/>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55" name="テキスト ボックス 54">
                <a:extLst>
                  <a:ext uri="{FF2B5EF4-FFF2-40B4-BE49-F238E27FC236}">
                    <a16:creationId xmlns:a16="http://schemas.microsoft.com/office/drawing/2014/main" id="{D61CDC86-78E7-76E1-EFE3-89139D76B077}"/>
                  </a:ext>
                </a:extLst>
              </p:cNvPr>
              <p:cNvSpPr txBox="1"/>
              <p:nvPr/>
            </p:nvSpPr>
            <p:spPr>
              <a:xfrm>
                <a:off x="4817141" y="1923986"/>
                <a:ext cx="800219" cy="461665"/>
              </a:xfrm>
              <a:prstGeom prst="rect">
                <a:avLst/>
              </a:prstGeom>
              <a:noFill/>
              <a:effectLst/>
            </p:spPr>
            <p:txBody>
              <a:bodyPr wrap="none" rtlCol="0">
                <a:spAutoFit/>
              </a:bodyPr>
              <a:lstStyle/>
              <a:p>
                <a:pPr algn="ctr"/>
                <a:r>
                  <a:rPr kumimoji="1" lang="ja-JP" altLang="en-US" sz="2400" dirty="0">
                    <a:effectLst/>
                    <a:latin typeface="Segoe UI" panose="020B0502040204020203" pitchFamily="34" charset="0"/>
                    <a:ea typeface="Meiryo UI" panose="020B0604030504040204" pitchFamily="50" charset="-128"/>
                  </a:rPr>
                  <a:t>吸気</a:t>
                </a:r>
              </a:p>
            </p:txBody>
          </p:sp>
          <p:sp>
            <p:nvSpPr>
              <p:cNvPr id="76" name="二等辺三角形 75">
                <a:extLst>
                  <a:ext uri="{FF2B5EF4-FFF2-40B4-BE49-F238E27FC236}">
                    <a16:creationId xmlns:a16="http://schemas.microsoft.com/office/drawing/2014/main" id="{7F358A24-FF83-6A6A-000C-71ECAE44BF4D}"/>
                  </a:ext>
                </a:extLst>
              </p:cNvPr>
              <p:cNvSpPr/>
              <p:nvPr/>
            </p:nvSpPr>
            <p:spPr>
              <a:xfrm rot="5400000">
                <a:off x="2630619" y="2446607"/>
                <a:ext cx="582803" cy="130538"/>
              </a:xfrm>
              <a:prstGeom prst="triangle">
                <a:avLst/>
              </a:prstGeom>
              <a:solidFill>
                <a:schemeClr val="tx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grpSp>
        <p:grpSp>
          <p:nvGrpSpPr>
            <p:cNvPr id="10" name="グループ化 9">
              <a:extLst>
                <a:ext uri="{FF2B5EF4-FFF2-40B4-BE49-F238E27FC236}">
                  <a16:creationId xmlns:a16="http://schemas.microsoft.com/office/drawing/2014/main" id="{916BD6B6-F133-E2E5-78F7-6BAE30929EA0}"/>
                </a:ext>
              </a:extLst>
            </p:cNvPr>
            <p:cNvGrpSpPr/>
            <p:nvPr/>
          </p:nvGrpSpPr>
          <p:grpSpPr>
            <a:xfrm>
              <a:off x="6221876" y="1599095"/>
              <a:ext cx="5691849" cy="2939140"/>
              <a:chOff x="6221876" y="1599095"/>
              <a:chExt cx="5691849" cy="2939140"/>
            </a:xfrm>
          </p:grpSpPr>
          <p:sp>
            <p:nvSpPr>
              <p:cNvPr id="83" name="フローチャート: 処理 82">
                <a:extLst>
                  <a:ext uri="{FF2B5EF4-FFF2-40B4-BE49-F238E27FC236}">
                    <a16:creationId xmlns:a16="http://schemas.microsoft.com/office/drawing/2014/main" id="{80D5E9DD-2083-1580-EBDD-5CCACB7B49E1}"/>
                  </a:ext>
                </a:extLst>
              </p:cNvPr>
              <p:cNvSpPr/>
              <p:nvPr/>
            </p:nvSpPr>
            <p:spPr>
              <a:xfrm>
                <a:off x="6221876" y="1599095"/>
                <a:ext cx="5691849" cy="2939140"/>
              </a:xfrm>
              <a:prstGeom prst="flowChartProcess">
                <a:avLst/>
              </a:prstGeom>
              <a:solidFill>
                <a:schemeClr val="accent3">
                  <a:lumMod val="20000"/>
                  <a:lumOff val="80000"/>
                </a:schemeClr>
              </a:solidFill>
              <a:ln w="38100">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dirty="0">
                  <a:solidFill>
                    <a:schemeClr val="tx1"/>
                  </a:solidFill>
                  <a:latin typeface="Segoe UI" panose="020B0502040204020203" pitchFamily="34" charset="0"/>
                  <a:ea typeface="Meiryo UI" panose="020B0604030504040204" pitchFamily="50" charset="-128"/>
                </a:endParaRPr>
              </a:p>
            </p:txBody>
          </p:sp>
          <p:sp>
            <p:nvSpPr>
              <p:cNvPr id="84" name="TextBox 7">
                <a:extLst>
                  <a:ext uri="{FF2B5EF4-FFF2-40B4-BE49-F238E27FC236}">
                    <a16:creationId xmlns:a16="http://schemas.microsoft.com/office/drawing/2014/main" id="{0936DF25-3900-A816-3D37-D97931243146}"/>
                  </a:ext>
                </a:extLst>
              </p:cNvPr>
              <p:cNvSpPr txBox="1"/>
              <p:nvPr/>
            </p:nvSpPr>
            <p:spPr>
              <a:xfrm>
                <a:off x="8052137" y="1618869"/>
                <a:ext cx="2031325" cy="461665"/>
              </a:xfrm>
              <a:prstGeom prst="rect">
                <a:avLst/>
              </a:prstGeom>
              <a:noFill/>
            </p:spPr>
            <p:txBody>
              <a:bodyPr wrap="none" rtlCol="0">
                <a:spAutoFit/>
              </a:bodyPr>
              <a:lstStyle/>
              <a:p>
                <a:pPr algn="ctr"/>
                <a:r>
                  <a:rPr lang="ja-JP" altLang="en-US" sz="2400" b="1" dirty="0">
                    <a:solidFill>
                      <a:sysClr val="windowText" lastClr="000000"/>
                    </a:solidFill>
                    <a:latin typeface="Segoe UI" panose="020B0502040204020203" pitchFamily="34" charset="0"/>
                    <a:ea typeface="Meiryo UI" panose="020B0604030504040204" pitchFamily="50" charset="-128"/>
                  </a:rPr>
                  <a:t>呼吸時間推定</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sp>
            <p:nvSpPr>
              <p:cNvPr id="90" name="二等辺三角形 89">
                <a:extLst>
                  <a:ext uri="{FF2B5EF4-FFF2-40B4-BE49-F238E27FC236}">
                    <a16:creationId xmlns:a16="http://schemas.microsoft.com/office/drawing/2014/main" id="{0AAC0CEA-BCC6-F7F5-FF26-8EE2A2B281C1}"/>
                  </a:ext>
                </a:extLst>
              </p:cNvPr>
              <p:cNvSpPr/>
              <p:nvPr/>
            </p:nvSpPr>
            <p:spPr>
              <a:xfrm rot="5400000">
                <a:off x="8633626" y="2441902"/>
                <a:ext cx="624819" cy="139949"/>
              </a:xfrm>
              <a:prstGeom prst="triangle">
                <a:avLst/>
              </a:prstGeom>
              <a:solidFill>
                <a:schemeClr val="tx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65" name="テキスト ボックス 64">
                <a:extLst>
                  <a:ext uri="{FF2B5EF4-FFF2-40B4-BE49-F238E27FC236}">
                    <a16:creationId xmlns:a16="http://schemas.microsoft.com/office/drawing/2014/main" id="{A3244EA7-1F37-63F1-F897-F0975C860EF1}"/>
                  </a:ext>
                </a:extLst>
              </p:cNvPr>
              <p:cNvSpPr txBox="1"/>
              <p:nvPr/>
            </p:nvSpPr>
            <p:spPr>
              <a:xfrm>
                <a:off x="9596346" y="2897180"/>
                <a:ext cx="1723549" cy="707886"/>
              </a:xfrm>
              <a:prstGeom prst="rect">
                <a:avLst/>
              </a:prstGeom>
              <a:noFill/>
            </p:spPr>
            <p:txBody>
              <a:bodyPr wrap="none" rtlCol="0" anchor="ctr">
                <a:spAutoFit/>
              </a:bodyPr>
              <a:lstStyle/>
              <a:p>
                <a:pPr algn="ctr"/>
                <a:r>
                  <a:rPr kumimoji="1" lang="ja-JP" altLang="en-US" sz="2000" dirty="0">
                    <a:latin typeface="Segoe UI" panose="020B0502040204020203" pitchFamily="34" charset="0"/>
                    <a:ea typeface="Meiryo UI" panose="020B0604030504040204" pitchFamily="50" charset="-128"/>
                  </a:rPr>
                  <a:t>呼吸進行度合</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推定結果</a:t>
                </a:r>
              </a:p>
            </p:txBody>
          </p:sp>
          <p:sp>
            <p:nvSpPr>
              <p:cNvPr id="72" name="フリーフォーム: 図形 71">
                <a:extLst>
                  <a:ext uri="{FF2B5EF4-FFF2-40B4-BE49-F238E27FC236}">
                    <a16:creationId xmlns:a16="http://schemas.microsoft.com/office/drawing/2014/main" id="{CDB6EC0A-8969-C06C-E70E-D3EAD05EC828}"/>
                  </a:ext>
                </a:extLst>
              </p:cNvPr>
              <p:cNvSpPr/>
              <p:nvPr/>
            </p:nvSpPr>
            <p:spPr>
              <a:xfrm>
                <a:off x="9558948" y="2226573"/>
                <a:ext cx="1529473" cy="570606"/>
              </a:xfrm>
              <a:custGeom>
                <a:avLst/>
                <a:gdLst>
                  <a:gd name="csX0" fmla="*/ 0 w 1155700"/>
                  <a:gd name="csY0" fmla="*/ 207390 h 598534"/>
                  <a:gd name="csX1" fmla="*/ 279400 w 1155700"/>
                  <a:gd name="csY1" fmla="*/ 16890 h 598534"/>
                  <a:gd name="csX2" fmla="*/ 831850 w 1155700"/>
                  <a:gd name="csY2" fmla="*/ 588390 h 598534"/>
                  <a:gd name="csX3" fmla="*/ 1155700 w 1155700"/>
                  <a:gd name="csY3" fmla="*/ 328040 h 598534"/>
                  <a:gd name="csX0" fmla="*/ 0 w 1048560"/>
                  <a:gd name="csY0" fmla="*/ 207390 h 620546"/>
                  <a:gd name="csX1" fmla="*/ 279400 w 1048560"/>
                  <a:gd name="csY1" fmla="*/ 16890 h 620546"/>
                  <a:gd name="csX2" fmla="*/ 831850 w 1048560"/>
                  <a:gd name="csY2" fmla="*/ 588390 h 620546"/>
                  <a:gd name="csX3" fmla="*/ 1048560 w 1048560"/>
                  <a:gd name="csY3" fmla="*/ 487908 h 620546"/>
                  <a:gd name="csX0" fmla="*/ 0 w 1048560"/>
                  <a:gd name="csY0" fmla="*/ 207390 h 614404"/>
                  <a:gd name="csX1" fmla="*/ 279400 w 1048560"/>
                  <a:gd name="csY1" fmla="*/ 16890 h 614404"/>
                  <a:gd name="csX2" fmla="*/ 831850 w 1048560"/>
                  <a:gd name="csY2" fmla="*/ 588390 h 614404"/>
                  <a:gd name="csX3" fmla="*/ 1048560 w 1048560"/>
                  <a:gd name="csY3" fmla="*/ 487908 h 614404"/>
                  <a:gd name="csX0" fmla="*/ 0 w 1048560"/>
                  <a:gd name="csY0" fmla="*/ 207390 h 611807"/>
                  <a:gd name="csX1" fmla="*/ 279400 w 1048560"/>
                  <a:gd name="csY1" fmla="*/ 16890 h 611807"/>
                  <a:gd name="csX2" fmla="*/ 831850 w 1048560"/>
                  <a:gd name="csY2" fmla="*/ 588390 h 611807"/>
                  <a:gd name="csX3" fmla="*/ 1048560 w 1048560"/>
                  <a:gd name="csY3" fmla="*/ 487908 h 611807"/>
                  <a:gd name="csX0" fmla="*/ 0 w 1053087"/>
                  <a:gd name="csY0" fmla="*/ 207390 h 612521"/>
                  <a:gd name="csX1" fmla="*/ 279400 w 1053087"/>
                  <a:gd name="csY1" fmla="*/ 16890 h 612521"/>
                  <a:gd name="csX2" fmla="*/ 831850 w 1053087"/>
                  <a:gd name="csY2" fmla="*/ 588390 h 612521"/>
                  <a:gd name="csX3" fmla="*/ 1053087 w 1053087"/>
                  <a:gd name="csY3" fmla="*/ 491105 h 612521"/>
                  <a:gd name="csX0" fmla="*/ 0 w 1053087"/>
                  <a:gd name="csY0" fmla="*/ 207390 h 610705"/>
                  <a:gd name="csX1" fmla="*/ 279400 w 1053087"/>
                  <a:gd name="csY1" fmla="*/ 16890 h 610705"/>
                  <a:gd name="csX2" fmla="*/ 831850 w 1053087"/>
                  <a:gd name="csY2" fmla="*/ 588390 h 610705"/>
                  <a:gd name="csX3" fmla="*/ 1053087 w 1053087"/>
                  <a:gd name="csY3" fmla="*/ 491105 h 610705"/>
                  <a:gd name="csX0" fmla="*/ 0 w 1053112"/>
                  <a:gd name="csY0" fmla="*/ 207390 h 599310"/>
                  <a:gd name="csX1" fmla="*/ 279400 w 1053112"/>
                  <a:gd name="csY1" fmla="*/ 16890 h 599310"/>
                  <a:gd name="csX2" fmla="*/ 831850 w 1053112"/>
                  <a:gd name="csY2" fmla="*/ 588390 h 599310"/>
                  <a:gd name="csX3" fmla="*/ 1053087 w 1053112"/>
                  <a:gd name="csY3" fmla="*/ 491105 h 599310"/>
                </a:gdLst>
                <a:ahLst/>
                <a:cxnLst>
                  <a:cxn ang="0">
                    <a:pos x="csX0" y="csY0"/>
                  </a:cxn>
                  <a:cxn ang="0">
                    <a:pos x="csX1" y="csY1"/>
                  </a:cxn>
                  <a:cxn ang="0">
                    <a:pos x="csX2" y="csY2"/>
                  </a:cxn>
                  <a:cxn ang="0">
                    <a:pos x="csX3" y="csY3"/>
                  </a:cxn>
                </a:cxnLst>
                <a:rect l="l" t="t" r="r" b="b"/>
                <a:pathLst>
                  <a:path w="1053112" h="599310">
                    <a:moveTo>
                      <a:pt x="0" y="207390"/>
                    </a:moveTo>
                    <a:cubicBezTo>
                      <a:pt x="70379" y="80390"/>
                      <a:pt x="140758" y="-46610"/>
                      <a:pt x="279400" y="16890"/>
                    </a:cubicBezTo>
                    <a:cubicBezTo>
                      <a:pt x="418042" y="80390"/>
                      <a:pt x="685800" y="536532"/>
                      <a:pt x="831850" y="588390"/>
                    </a:cubicBezTo>
                    <a:cubicBezTo>
                      <a:pt x="977900" y="640248"/>
                      <a:pt x="1054728" y="490538"/>
                      <a:pt x="1053087" y="491105"/>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cxnSp>
            <p:nvCxnSpPr>
              <p:cNvPr id="73" name="直線コネクタ 72">
                <a:extLst>
                  <a:ext uri="{FF2B5EF4-FFF2-40B4-BE49-F238E27FC236}">
                    <a16:creationId xmlns:a16="http://schemas.microsoft.com/office/drawing/2014/main" id="{3A135082-A63C-56C1-26F7-384993A9FDF4}"/>
                  </a:ext>
                </a:extLst>
              </p:cNvPr>
              <p:cNvCxnSpPr>
                <a:cxnSpLocks/>
              </p:cNvCxnSpPr>
              <p:nvPr/>
            </p:nvCxnSpPr>
            <p:spPr>
              <a:xfrm flipV="1">
                <a:off x="10825961" y="2442472"/>
                <a:ext cx="0" cy="450819"/>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9" name="テキスト ボックス 68">
                <a:extLst>
                  <a:ext uri="{FF2B5EF4-FFF2-40B4-BE49-F238E27FC236}">
                    <a16:creationId xmlns:a16="http://schemas.microsoft.com/office/drawing/2014/main" id="{C7EE6A60-7C6F-0348-C604-AD13F4D60ABF}"/>
                  </a:ext>
                </a:extLst>
              </p:cNvPr>
              <p:cNvSpPr txBox="1"/>
              <p:nvPr/>
            </p:nvSpPr>
            <p:spPr>
              <a:xfrm>
                <a:off x="10587525" y="1752231"/>
                <a:ext cx="769763" cy="461665"/>
              </a:xfrm>
              <a:prstGeom prst="rect">
                <a:avLst/>
              </a:prstGeom>
              <a:noFill/>
            </p:spPr>
            <p:txBody>
              <a:bodyPr wrap="none" rtlCol="0">
                <a:spAutoFit/>
              </a:bodyPr>
              <a:lstStyle/>
              <a:p>
                <a:pPr algn="ctr"/>
                <a:r>
                  <a:rPr kumimoji="1" lang="en-US" altLang="ja-JP" sz="2400" dirty="0">
                    <a:latin typeface="Segoe UI" panose="020B0502040204020203" pitchFamily="34" charset="0"/>
                    <a:ea typeface="Meiryo UI" panose="020B0604030504040204" pitchFamily="50" charset="-128"/>
                  </a:rPr>
                  <a:t>20</a:t>
                </a:r>
                <a:r>
                  <a:rPr kumimoji="1" lang="en-US" altLang="ja-JP" sz="2400" dirty="0">
                    <a:effectLst/>
                    <a:latin typeface="Segoe UI" panose="020B0502040204020203" pitchFamily="34" charset="0"/>
                    <a:ea typeface="Meiryo UI" panose="020B0604030504040204" pitchFamily="50" charset="-128"/>
                  </a:rPr>
                  <a:t>%</a:t>
                </a:r>
                <a:endParaRPr kumimoji="1" lang="ja-JP" altLang="en-US" sz="2400" dirty="0">
                  <a:effectLst/>
                  <a:latin typeface="Segoe UI" panose="020B0502040204020203" pitchFamily="34" charset="0"/>
                  <a:ea typeface="Meiryo UI" panose="020B0604030504040204" pitchFamily="50" charset="-128"/>
                </a:endParaRPr>
              </a:p>
            </p:txBody>
          </p:sp>
          <p:sp>
            <p:nvSpPr>
              <p:cNvPr id="70" name="矢印: 左右 69">
                <a:extLst>
                  <a:ext uri="{FF2B5EF4-FFF2-40B4-BE49-F238E27FC236}">
                    <a16:creationId xmlns:a16="http://schemas.microsoft.com/office/drawing/2014/main" id="{B0F8C585-841E-808E-5DCE-6D4D3598415E}"/>
                  </a:ext>
                </a:extLst>
              </p:cNvPr>
              <p:cNvSpPr/>
              <p:nvPr/>
            </p:nvSpPr>
            <p:spPr>
              <a:xfrm>
                <a:off x="10833639" y="2202915"/>
                <a:ext cx="277527" cy="183167"/>
              </a:xfrm>
              <a:prstGeom prst="leftRightArrow">
                <a:avLst>
                  <a:gd name="adj1" fmla="val 72727"/>
                  <a:gd name="adj2" fmla="val 31847"/>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104" name="テキスト ボックス 103">
                <a:extLst>
                  <a:ext uri="{FF2B5EF4-FFF2-40B4-BE49-F238E27FC236}">
                    <a16:creationId xmlns:a16="http://schemas.microsoft.com/office/drawing/2014/main" id="{C3FE4BA3-7C03-238D-EC56-BB1A0C9F6DB4}"/>
                  </a:ext>
                </a:extLst>
              </p:cNvPr>
              <p:cNvSpPr txBox="1"/>
              <p:nvPr/>
            </p:nvSpPr>
            <p:spPr>
              <a:xfrm>
                <a:off x="6927786" y="2897179"/>
                <a:ext cx="1210588" cy="707886"/>
              </a:xfrm>
              <a:prstGeom prst="rect">
                <a:avLst/>
              </a:prstGeom>
              <a:noFill/>
            </p:spPr>
            <p:txBody>
              <a:bodyPr wrap="none" rtlCol="0" anchor="ctr">
                <a:spAutoFit/>
              </a:bodyPr>
              <a:lstStyle/>
              <a:p>
                <a:pPr algn="ctr"/>
                <a:r>
                  <a:rPr kumimoji="1" lang="ja-JP" altLang="en-US" sz="2000" dirty="0">
                    <a:latin typeface="Segoe UI" panose="020B0502040204020203" pitchFamily="34" charset="0"/>
                    <a:ea typeface="Meiryo UI" panose="020B0604030504040204" pitchFamily="50" charset="-128"/>
                  </a:rPr>
                  <a:t>呼吸計測</a:t>
                </a:r>
                <a:br>
                  <a:rPr kumimoji="1" lang="en-US" altLang="ja-JP" sz="2000" dirty="0">
                    <a:latin typeface="Segoe UI" panose="020B0502040204020203" pitchFamily="34" charset="0"/>
                    <a:ea typeface="Meiryo UI" panose="020B0604030504040204" pitchFamily="50" charset="-128"/>
                  </a:rPr>
                </a:br>
                <a:r>
                  <a:rPr kumimoji="1" lang="ja-JP" altLang="en-US" sz="2000" dirty="0">
                    <a:latin typeface="Segoe UI" panose="020B0502040204020203" pitchFamily="34" charset="0"/>
                    <a:ea typeface="Meiryo UI" panose="020B0604030504040204" pitchFamily="50" charset="-128"/>
                  </a:rPr>
                  <a:t>結果</a:t>
                </a:r>
              </a:p>
            </p:txBody>
          </p:sp>
          <p:grpSp>
            <p:nvGrpSpPr>
              <p:cNvPr id="14" name="グループ化 13">
                <a:extLst>
                  <a:ext uri="{FF2B5EF4-FFF2-40B4-BE49-F238E27FC236}">
                    <a16:creationId xmlns:a16="http://schemas.microsoft.com/office/drawing/2014/main" id="{9C26FAAD-1883-025E-9667-BFC88F17D710}"/>
                  </a:ext>
                </a:extLst>
              </p:cNvPr>
              <p:cNvGrpSpPr/>
              <p:nvPr/>
            </p:nvGrpSpPr>
            <p:grpSpPr>
              <a:xfrm>
                <a:off x="6733053" y="2226575"/>
                <a:ext cx="1600054" cy="651888"/>
                <a:chOff x="6795863" y="1484268"/>
                <a:chExt cx="1600054" cy="837413"/>
              </a:xfrm>
            </p:grpSpPr>
            <p:sp>
              <p:nvSpPr>
                <p:cNvPr id="59" name="正方形/長方形 58">
                  <a:extLst>
                    <a:ext uri="{FF2B5EF4-FFF2-40B4-BE49-F238E27FC236}">
                      <a16:creationId xmlns:a16="http://schemas.microsoft.com/office/drawing/2014/main" id="{1195E344-FF9F-AC5D-49B7-BE7C142D8F6A}"/>
                    </a:ext>
                  </a:extLst>
                </p:cNvPr>
                <p:cNvSpPr/>
                <p:nvPr/>
              </p:nvSpPr>
              <p:spPr>
                <a:xfrm>
                  <a:off x="8097601" y="1686546"/>
                  <a:ext cx="296063" cy="635135"/>
                </a:xfrm>
                <a:prstGeom prst="rect">
                  <a:avLst/>
                </a:prstGeom>
                <a:solidFill>
                  <a:schemeClr val="bg1"/>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63" name="正方形/長方形 62">
                  <a:extLst>
                    <a:ext uri="{FF2B5EF4-FFF2-40B4-BE49-F238E27FC236}">
                      <a16:creationId xmlns:a16="http://schemas.microsoft.com/office/drawing/2014/main" id="{C80A8A05-DF49-ECC0-C4EF-B639BF26732D}"/>
                    </a:ext>
                  </a:extLst>
                </p:cNvPr>
                <p:cNvSpPr/>
                <p:nvPr/>
              </p:nvSpPr>
              <p:spPr>
                <a:xfrm>
                  <a:off x="8097601" y="1686546"/>
                  <a:ext cx="298316" cy="635135"/>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Aft>
                      <a:spcPts val="1200"/>
                    </a:spcAft>
                  </a:pPr>
                  <a:endParaRPr kumimoji="1" lang="ja-JP" altLang="en-US" sz="2400" dirty="0">
                    <a:solidFill>
                      <a:sysClr val="windowText" lastClr="000000"/>
                    </a:solidFill>
                    <a:latin typeface="Segoe UI" panose="020B0502040204020203" pitchFamily="34" charset="0"/>
                    <a:ea typeface="Meiryo UI" panose="020B0604030504040204" pitchFamily="50" charset="-128"/>
                  </a:endParaRPr>
                </a:p>
              </p:txBody>
            </p:sp>
            <p:sp>
              <p:nvSpPr>
                <p:cNvPr id="110" name="フリーフォーム: 図形 109">
                  <a:extLst>
                    <a:ext uri="{FF2B5EF4-FFF2-40B4-BE49-F238E27FC236}">
                      <a16:creationId xmlns:a16="http://schemas.microsoft.com/office/drawing/2014/main" id="{9F1A227C-0DC9-0D84-55F2-97264DD9EC2E}"/>
                    </a:ext>
                  </a:extLst>
                </p:cNvPr>
                <p:cNvSpPr/>
                <p:nvPr/>
              </p:nvSpPr>
              <p:spPr>
                <a:xfrm>
                  <a:off x="6795863" y="1484268"/>
                  <a:ext cx="1571810" cy="732996"/>
                </a:xfrm>
                <a:custGeom>
                  <a:avLst/>
                  <a:gdLst>
                    <a:gd name="csX0" fmla="*/ 0 w 1155700"/>
                    <a:gd name="csY0" fmla="*/ 207390 h 598534"/>
                    <a:gd name="csX1" fmla="*/ 279400 w 1155700"/>
                    <a:gd name="csY1" fmla="*/ 16890 h 598534"/>
                    <a:gd name="csX2" fmla="*/ 831850 w 1155700"/>
                    <a:gd name="csY2" fmla="*/ 588390 h 598534"/>
                    <a:gd name="csX3" fmla="*/ 1155700 w 1155700"/>
                    <a:gd name="csY3" fmla="*/ 328040 h 598534"/>
                    <a:gd name="csX0" fmla="*/ 0 w 1048560"/>
                    <a:gd name="csY0" fmla="*/ 207390 h 620546"/>
                    <a:gd name="csX1" fmla="*/ 279400 w 1048560"/>
                    <a:gd name="csY1" fmla="*/ 16890 h 620546"/>
                    <a:gd name="csX2" fmla="*/ 831850 w 1048560"/>
                    <a:gd name="csY2" fmla="*/ 588390 h 620546"/>
                    <a:gd name="csX3" fmla="*/ 1048560 w 1048560"/>
                    <a:gd name="csY3" fmla="*/ 487908 h 620546"/>
                    <a:gd name="csX0" fmla="*/ 0 w 1048560"/>
                    <a:gd name="csY0" fmla="*/ 207390 h 614404"/>
                    <a:gd name="csX1" fmla="*/ 279400 w 1048560"/>
                    <a:gd name="csY1" fmla="*/ 16890 h 614404"/>
                    <a:gd name="csX2" fmla="*/ 831850 w 1048560"/>
                    <a:gd name="csY2" fmla="*/ 588390 h 614404"/>
                    <a:gd name="csX3" fmla="*/ 1048560 w 1048560"/>
                    <a:gd name="csY3" fmla="*/ 487908 h 614404"/>
                    <a:gd name="csX0" fmla="*/ 0 w 1048560"/>
                    <a:gd name="csY0" fmla="*/ 207390 h 611807"/>
                    <a:gd name="csX1" fmla="*/ 279400 w 1048560"/>
                    <a:gd name="csY1" fmla="*/ 16890 h 611807"/>
                    <a:gd name="csX2" fmla="*/ 831850 w 1048560"/>
                    <a:gd name="csY2" fmla="*/ 588390 h 611807"/>
                    <a:gd name="csX3" fmla="*/ 1048560 w 1048560"/>
                    <a:gd name="csY3" fmla="*/ 487908 h 611807"/>
                    <a:gd name="csX0" fmla="*/ 0 w 1053087"/>
                    <a:gd name="csY0" fmla="*/ 207390 h 612521"/>
                    <a:gd name="csX1" fmla="*/ 279400 w 1053087"/>
                    <a:gd name="csY1" fmla="*/ 16890 h 612521"/>
                    <a:gd name="csX2" fmla="*/ 831850 w 1053087"/>
                    <a:gd name="csY2" fmla="*/ 588390 h 612521"/>
                    <a:gd name="csX3" fmla="*/ 1053087 w 1053087"/>
                    <a:gd name="csY3" fmla="*/ 491105 h 612521"/>
                    <a:gd name="csX0" fmla="*/ 0 w 1053087"/>
                    <a:gd name="csY0" fmla="*/ 207390 h 610705"/>
                    <a:gd name="csX1" fmla="*/ 279400 w 1053087"/>
                    <a:gd name="csY1" fmla="*/ 16890 h 610705"/>
                    <a:gd name="csX2" fmla="*/ 831850 w 1053087"/>
                    <a:gd name="csY2" fmla="*/ 588390 h 610705"/>
                    <a:gd name="csX3" fmla="*/ 1053087 w 1053087"/>
                    <a:gd name="csY3" fmla="*/ 491105 h 610705"/>
                    <a:gd name="csX0" fmla="*/ 0 w 1053112"/>
                    <a:gd name="csY0" fmla="*/ 207390 h 599310"/>
                    <a:gd name="csX1" fmla="*/ 279400 w 1053112"/>
                    <a:gd name="csY1" fmla="*/ 16890 h 599310"/>
                    <a:gd name="csX2" fmla="*/ 831850 w 1053112"/>
                    <a:gd name="csY2" fmla="*/ 588390 h 599310"/>
                    <a:gd name="csX3" fmla="*/ 1053087 w 1053112"/>
                    <a:gd name="csY3" fmla="*/ 491105 h 599310"/>
                  </a:gdLst>
                  <a:ahLst/>
                  <a:cxnLst>
                    <a:cxn ang="0">
                      <a:pos x="csX0" y="csY0"/>
                    </a:cxn>
                    <a:cxn ang="0">
                      <a:pos x="csX1" y="csY1"/>
                    </a:cxn>
                    <a:cxn ang="0">
                      <a:pos x="csX2" y="csY2"/>
                    </a:cxn>
                    <a:cxn ang="0">
                      <a:pos x="csX3" y="csY3"/>
                    </a:cxn>
                  </a:cxnLst>
                  <a:rect l="l" t="t" r="r" b="b"/>
                  <a:pathLst>
                    <a:path w="1053112" h="599310">
                      <a:moveTo>
                        <a:pt x="0" y="207390"/>
                      </a:moveTo>
                      <a:cubicBezTo>
                        <a:pt x="70379" y="80390"/>
                        <a:pt x="140758" y="-46610"/>
                        <a:pt x="279400" y="16890"/>
                      </a:cubicBezTo>
                      <a:cubicBezTo>
                        <a:pt x="418042" y="80390"/>
                        <a:pt x="685800" y="536532"/>
                        <a:pt x="831850" y="588390"/>
                      </a:cubicBezTo>
                      <a:cubicBezTo>
                        <a:pt x="977900" y="640248"/>
                        <a:pt x="1054728" y="490538"/>
                        <a:pt x="1053087" y="491105"/>
                      </a:cubicBezTo>
                    </a:path>
                  </a:pathLst>
                </a:custGeom>
                <a:noFill/>
                <a:ln w="76200" cap="rnd">
                  <a:solidFill>
                    <a:schemeClr val="tx1"/>
                  </a:soli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latin typeface="Segoe UI" panose="020B0502040204020203" pitchFamily="34" charset="0"/>
                    <a:ea typeface="Meiryo UI" panose="020B0604030504040204" pitchFamily="50" charset="-128"/>
                  </a:endParaRPr>
                </a:p>
              </p:txBody>
            </p:sp>
          </p:grpSp>
          <p:sp>
            <p:nvSpPr>
              <p:cNvPr id="86" name="テキスト ボックス 85">
                <a:extLst>
                  <a:ext uri="{FF2B5EF4-FFF2-40B4-BE49-F238E27FC236}">
                    <a16:creationId xmlns:a16="http://schemas.microsoft.com/office/drawing/2014/main" id="{6BC4F5A8-B04D-E1DF-3DE3-2ED6451FBDB2}"/>
                  </a:ext>
                </a:extLst>
              </p:cNvPr>
              <p:cNvSpPr txBox="1"/>
              <p:nvPr/>
            </p:nvSpPr>
            <p:spPr>
              <a:xfrm>
                <a:off x="6306596" y="3574640"/>
                <a:ext cx="5522409" cy="936025"/>
              </a:xfrm>
              <a:prstGeom prst="rect">
                <a:avLst/>
              </a:prstGeom>
              <a:noFill/>
            </p:spPr>
            <p:txBody>
              <a:bodyPr wrap="none" rtlCol="0">
                <a:spAutoFit/>
              </a:bodyPr>
              <a:lstStyle/>
              <a:p>
                <a:pPr algn="ctr">
                  <a:lnSpc>
                    <a:spcPct val="120000"/>
                  </a:lnSpc>
                  <a:spcAft>
                    <a:spcPts val="1200"/>
                  </a:spcAft>
                </a:pPr>
                <a:r>
                  <a:rPr lang="en-US" altLang="ja-JP" sz="2400" dirty="0" err="1">
                    <a:latin typeface="Segoe UI" panose="020B0502040204020203" pitchFamily="34" charset="0"/>
                    <a:ea typeface="Meiryo UI" panose="020B0604030504040204" pitchFamily="50" charset="-128"/>
                  </a:rPr>
                  <a:t>XGBoost</a:t>
                </a:r>
                <a:r>
                  <a:rPr kumimoji="1" lang="ja-JP" altLang="en-US" sz="2400" dirty="0">
                    <a:latin typeface="Segoe UI" panose="020B0502040204020203" pitchFamily="34" charset="0"/>
                    <a:ea typeface="Meiryo UI" panose="020B0604030504040204" pitchFamily="50" charset="-128"/>
                  </a:rPr>
                  <a:t>を用いた呼吸時間推定において，</a:t>
                </a:r>
                <a:br>
                  <a:rPr kumimoji="1" lang="en-US" altLang="ja-JP" sz="2400" dirty="0">
                    <a:latin typeface="Segoe UI" panose="020B0502040204020203" pitchFamily="34" charset="0"/>
                    <a:ea typeface="Meiryo UI" panose="020B0604030504040204" pitchFamily="50" charset="-128"/>
                  </a:rPr>
                </a:br>
                <a:r>
                  <a:rPr kumimoji="1" lang="ja-JP" altLang="en-US" sz="2400" dirty="0">
                    <a:latin typeface="Segoe UI" panose="020B0502040204020203" pitchFamily="34" charset="0"/>
                    <a:ea typeface="Meiryo UI" panose="020B0604030504040204" pitchFamily="50" charset="-128"/>
                  </a:rPr>
                  <a:t>決定係数</a:t>
                </a:r>
                <a:r>
                  <a:rPr kumimoji="1" lang="en-US" altLang="ja-JP" sz="2400" dirty="0">
                    <a:latin typeface="Segoe UI" panose="020B0502040204020203" pitchFamily="34" charset="0"/>
                    <a:ea typeface="Meiryo UI" panose="020B0604030504040204" pitchFamily="50" charset="-128"/>
                  </a:rPr>
                  <a:t>0.86</a:t>
                </a:r>
                <a:r>
                  <a:rPr kumimoji="1" lang="ja-JP" altLang="en-US" sz="2400" dirty="0">
                    <a:latin typeface="Segoe UI" panose="020B0502040204020203" pitchFamily="34" charset="0"/>
                    <a:ea typeface="Meiryo UI" panose="020B0604030504040204" pitchFamily="50" charset="-128"/>
                  </a:rPr>
                  <a:t>を達成</a:t>
                </a:r>
                <a:endParaRPr kumimoji="1" lang="en-US" altLang="ja-JP" sz="2400" dirty="0">
                  <a:latin typeface="Segoe UI" panose="020B0502040204020203" pitchFamily="34" charset="0"/>
                  <a:ea typeface="Meiryo UI" panose="020B0604030504040204" pitchFamily="50" charset="-128"/>
                </a:endParaRPr>
              </a:p>
            </p:txBody>
          </p:sp>
        </p:grpSp>
      </p:grpSp>
      <p:sp>
        <p:nvSpPr>
          <p:cNvPr id="6" name="TextBox 7">
            <a:extLst>
              <a:ext uri="{FF2B5EF4-FFF2-40B4-BE49-F238E27FC236}">
                <a16:creationId xmlns:a16="http://schemas.microsoft.com/office/drawing/2014/main" id="{5AB59727-1C0D-EDCE-EDB3-DD71AC446BE8}"/>
              </a:ext>
            </a:extLst>
          </p:cNvPr>
          <p:cNvSpPr txBox="1"/>
          <p:nvPr/>
        </p:nvSpPr>
        <p:spPr>
          <a:xfrm>
            <a:off x="2054670" y="4506826"/>
            <a:ext cx="8082662" cy="936025"/>
          </a:xfrm>
          <a:prstGeom prst="rect">
            <a:avLst/>
          </a:prstGeom>
          <a:noFill/>
        </p:spPr>
        <p:txBody>
          <a:bodyPr wrap="none" rtlCol="0">
            <a:spAutoFit/>
          </a:bodyPr>
          <a:lstStyle/>
          <a:p>
            <a:pPr algn="ctr">
              <a:lnSpc>
                <a:spcPct val="120000"/>
              </a:lnSpc>
              <a:spcAft>
                <a:spcPts val="1200"/>
              </a:spcAft>
            </a:pPr>
            <a:r>
              <a:rPr lang="ja-JP" altLang="en-US" sz="2400" b="1" dirty="0">
                <a:solidFill>
                  <a:sysClr val="windowText" lastClr="000000"/>
                </a:solidFill>
                <a:latin typeface="Segoe UI" panose="020B0502040204020203" pitchFamily="34" charset="0"/>
                <a:ea typeface="Meiryo UI" panose="020B0604030504040204" pitchFamily="50" charset="-128"/>
              </a:rPr>
              <a:t>最良モデルにおける合計推論時間は</a:t>
            </a:r>
            <a:r>
              <a:rPr lang="en-US" altLang="ja-JP" sz="2400" b="1" dirty="0">
                <a:solidFill>
                  <a:sysClr val="windowText" lastClr="000000"/>
                </a:solidFill>
                <a:latin typeface="Segoe UI" panose="020B0502040204020203" pitchFamily="34" charset="0"/>
                <a:ea typeface="Meiryo UI" panose="020B0604030504040204" pitchFamily="50" charset="-128"/>
              </a:rPr>
              <a:t>1.3</a:t>
            </a:r>
            <a:r>
              <a:rPr lang="ja-JP" altLang="en-US" sz="2400" b="1" dirty="0">
                <a:solidFill>
                  <a:sysClr val="windowText" lastClr="000000"/>
                </a:solidFill>
                <a:latin typeface="Segoe UI" panose="020B0502040204020203" pitchFamily="34" charset="0"/>
                <a:ea typeface="Meiryo UI" panose="020B0604030504040204" pitchFamily="50" charset="-128"/>
              </a:rPr>
              <a:t>ミリ秒</a:t>
            </a:r>
            <a:r>
              <a:rPr lang="en-US" altLang="ja-JP" sz="2400" b="1" dirty="0">
                <a:solidFill>
                  <a:sysClr val="windowText" lastClr="000000"/>
                </a:solidFill>
                <a:latin typeface="Segoe UI" panose="020B0502040204020203" pitchFamily="34" charset="0"/>
                <a:ea typeface="Meiryo UI" panose="020B0604030504040204" pitchFamily="50" charset="-128"/>
              </a:rPr>
              <a:t>/</a:t>
            </a:r>
            <a:r>
              <a:rPr lang="ja-JP" altLang="en-US" sz="2400" b="1" dirty="0">
                <a:solidFill>
                  <a:sysClr val="windowText" lastClr="000000"/>
                </a:solidFill>
                <a:latin typeface="Segoe UI" panose="020B0502040204020203" pitchFamily="34" charset="0"/>
                <a:ea typeface="Meiryo UI" panose="020B0604030504040204" pitchFamily="50" charset="-128"/>
              </a:rPr>
              <a:t>サンプルであり，</a:t>
            </a:r>
            <a:br>
              <a:rPr lang="en-US" altLang="ja-JP" sz="2400" b="1" dirty="0">
                <a:solidFill>
                  <a:sysClr val="windowText" lastClr="000000"/>
                </a:solidFill>
                <a:latin typeface="Segoe UI" panose="020B0502040204020203" pitchFamily="34" charset="0"/>
                <a:ea typeface="Meiryo UI" panose="020B0604030504040204" pitchFamily="50" charset="-128"/>
              </a:rPr>
            </a:br>
            <a:r>
              <a:rPr lang="ja-JP" altLang="en-US" sz="2400" b="1" dirty="0">
                <a:solidFill>
                  <a:sysClr val="windowText" lastClr="000000"/>
                </a:solidFill>
                <a:latin typeface="Segoe UI" panose="020B0502040204020203" pitchFamily="34" charset="0"/>
                <a:ea typeface="Meiryo UI" panose="020B0604030504040204" pitchFamily="50" charset="-128"/>
              </a:rPr>
              <a:t>平均呼吸時間に対して十分短い</a:t>
            </a:r>
            <a:endParaRPr lang="en-US" altLang="ja-JP" sz="2400" b="1" dirty="0">
              <a:solidFill>
                <a:sysClr val="windowText" lastClr="000000"/>
              </a:solidFill>
              <a:latin typeface="Segoe UI" panose="020B0502040204020203" pitchFamily="34" charset="0"/>
              <a:ea typeface="Meiryo UI" panose="020B0604030504040204" pitchFamily="50" charset="-128"/>
            </a:endParaRPr>
          </a:p>
        </p:txBody>
      </p:sp>
    </p:spTree>
    <p:extLst>
      <p:ext uri="{BB962C8B-B14F-4D97-AF65-F5344CB8AC3E}">
        <p14:creationId xmlns:p14="http://schemas.microsoft.com/office/powerpoint/2010/main" val="4239866014"/>
      </p:ext>
    </p:extLst>
  </p:cSld>
  <p:clrMapOvr>
    <a:masterClrMapping/>
  </p:clrMapOvr>
</p:sld>
</file>

<file path=ppt/theme/theme1.xml><?xml version="1.0" encoding="utf-8"?>
<a:theme xmlns:a="http://schemas.openxmlformats.org/drawingml/2006/main" name="Office テーマ">
  <a:themeElements>
    <a:clrScheme name="ユーザー定義 4">
      <a:dk1>
        <a:sysClr val="windowText" lastClr="000000"/>
      </a:dk1>
      <a:lt1>
        <a:sysClr val="window" lastClr="FFFFFF"/>
      </a:lt1>
      <a:dk2>
        <a:srgbClr val="EDA32B"/>
      </a:dk2>
      <a:lt2>
        <a:srgbClr val="B45100"/>
      </a:lt2>
      <a:accent1>
        <a:srgbClr val="FFA43F"/>
      </a:accent1>
      <a:accent2>
        <a:srgbClr val="FBF878"/>
      </a:accent2>
      <a:accent3>
        <a:srgbClr val="4BAF73"/>
      </a:accent3>
      <a:accent4>
        <a:srgbClr val="5AA6C0"/>
      </a:accent4>
      <a:accent5>
        <a:srgbClr val="D17DF9"/>
      </a:accent5>
      <a:accent6>
        <a:srgbClr val="FA7E5C"/>
      </a:accent6>
      <a:hlink>
        <a:srgbClr val="FFAE3E"/>
      </a:hlink>
      <a:folHlink>
        <a:srgbClr val="FCC77E"/>
      </a:folHlink>
    </a:clrScheme>
    <a:fontScheme name="ユーザー定義 1">
      <a:majorFont>
        <a:latin typeface="Meiryo UI"/>
        <a:ea typeface="Meiryo UI"/>
        <a:cs typeface=""/>
      </a:majorFont>
      <a:minorFont>
        <a:latin typeface="Segoe UI"/>
        <a:ea typeface="Segoe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none">
        <a:spAutoFit/>
      </a:bodyPr>
      <a:lstStyle>
        <a:defPPr algn="l">
          <a:lnSpc>
            <a:spcPct val="120000"/>
          </a:lnSpc>
          <a:spcAft>
            <a:spcPts val="1200"/>
          </a:spcAft>
          <a:defRPr sz="2200" dirty="0" smtClean="0">
            <a:latin typeface="Segoe UI" panose="020B0502040204020203" pitchFamily="34" charset="0"/>
            <a:ea typeface="Meiryo UI" panose="020B0604030504040204" pitchFamily="50" charset="-128"/>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7024</TotalTime>
  <Words>2958</Words>
  <Application>Microsoft Office PowerPoint</Application>
  <PresentationFormat>ワイド画面</PresentationFormat>
  <Paragraphs>417</Paragraphs>
  <Slides>15</Slides>
  <Notes>15</Notes>
  <HiddenSlides>0</HiddenSlides>
  <MMClips>4</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Meiryo UI</vt:lpstr>
      <vt:lpstr>Yu Gothic UI</vt:lpstr>
      <vt:lpstr>游ゴシック</vt:lpstr>
      <vt:lpstr>Arial</vt:lpstr>
      <vt:lpstr>Segoe UI</vt:lpstr>
      <vt:lpstr>Office テーマ</vt:lpstr>
      <vt:lpstr>PowerPoint プレゼンテーション</vt:lpstr>
      <vt:lpstr>研究背景</vt:lpstr>
      <vt:lpstr>研究目的</vt:lpstr>
      <vt:lpstr>呼吸音同期再生システムの提案</vt:lpstr>
      <vt:lpstr>呼吸音同期再生システムの流れ</vt:lpstr>
      <vt:lpstr>呼吸計測および閾値を用いた呼吸状態判別手法</vt:lpstr>
      <vt:lpstr>深層学習を用いた呼吸状態判別手法</vt:lpstr>
      <vt:lpstr>呼吸状態判別実験｜概要</vt:lpstr>
      <vt:lpstr>呼吸状態判別実験｜結果</vt:lpstr>
      <vt:lpstr>呼吸状態判別実験｜グラフ結果</vt:lpstr>
      <vt:lpstr>呼吸音同期再生システムの流れ</vt:lpstr>
      <vt:lpstr>呼吸時間推定手法</vt:lpstr>
      <vt:lpstr>呼吸時間推定実験｜概要</vt:lpstr>
      <vt:lpstr>呼吸時間推定実験｜結果</vt:lpstr>
      <vt:lpstr>まとめと今後の展望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cdca3889</dc:creator>
  <cp:lastModifiedBy>cdca3889</cp:lastModifiedBy>
  <cp:revision>344</cp:revision>
  <dcterms:created xsi:type="dcterms:W3CDTF">2026-01-28T07:57:23Z</dcterms:created>
  <dcterms:modified xsi:type="dcterms:W3CDTF">2026-02-15T02:02:13Z</dcterms:modified>
</cp:coreProperties>
</file>